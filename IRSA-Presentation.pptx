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8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47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48" r:id="rId4"/>
    <p:sldMasterId id="214748365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55" roundtripDataSignature="AMtx7mgArSzjRRxJoiIF/PwvwemyXCccD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5AEA6CC-E7D5-4600-B254-B4CE0C2B7D87}">
  <a:tblStyle styleId="{95AEA6CC-E7D5-4600-B254-B4CE0C2B7D87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customschemas.google.com/relationships/presentationmetadata" Target="metadata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de-DE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" name="Google Shape;40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de-DE"/>
              <a:t>Harry - Slides 4-8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de-DE"/>
              <a:t>Rebecca - 9-14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de-DE"/>
              <a:t>Siqe - 15-21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de-DE"/>
              <a:t>Mori - 22 - end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" name="Google Shape;41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39337298d6a_0_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" name="Google Shape;55;g39337298d6a_0_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6" name="Google Shape;56;g39337298d6a_0_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933251713c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933251713c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Other Fossil = Oil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Electricity mix is attributed to large production of gas &amp; oil in Iran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World’s 3rd largest producer, accounting for 7% of global gas supply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Additionally accounted for 4.4% of global oil supply in 2023</a:t>
            </a:r>
            <a:endParaRPr/>
          </a:p>
        </p:txBody>
      </p:sp>
      <p:sp>
        <p:nvSpPr>
          <p:cNvPr id="64" name="Google Shape;64;g3933251713c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-"/>
            </a:pPr>
            <a:r>
              <a:rPr lang="de-DE" sz="1000">
                <a:latin typeface="Arial"/>
                <a:ea typeface="Arial"/>
                <a:cs typeface="Arial"/>
                <a:sym typeface="Arial"/>
              </a:rPr>
              <a:t>Shapes of regions based on provided geojson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-DE" sz="1000">
                <a:latin typeface="Arial"/>
                <a:ea typeface="Arial"/>
                <a:cs typeface="Arial"/>
                <a:sym typeface="Arial"/>
              </a:rPr>
              <a:t>Mention No. of states and EEZs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-DE" sz="1000">
                <a:latin typeface="Arial"/>
                <a:ea typeface="Arial"/>
                <a:cs typeface="Arial"/>
                <a:sym typeface="Arial"/>
              </a:rPr>
              <a:t>4.6 times the area of Germany 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-DE" sz="1000">
                <a:latin typeface="Arial"/>
                <a:ea typeface="Arial"/>
                <a:cs typeface="Arial"/>
                <a:sym typeface="Arial"/>
              </a:rPr>
              <a:t>Roughly the same population as DE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-DE" sz="1000">
                <a:latin typeface="Arial"/>
                <a:ea typeface="Arial"/>
                <a:cs typeface="Arial"/>
                <a:sym typeface="Arial"/>
              </a:rPr>
              <a:t>Population used to aggregate available national load data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-DE" sz="1000">
                <a:latin typeface="Arial"/>
                <a:ea typeface="Arial"/>
                <a:cs typeface="Arial"/>
                <a:sym typeface="Arial"/>
              </a:rPr>
              <a:t>2023 population data used as region-specific data was the most accurate</a:t>
            </a:r>
            <a:endParaRPr sz="1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c2b2f75b73_0_7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" name="Google Shape;84;g3c2b2f75b73_0_7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5" name="Google Shape;85;g3c2b2f75b73_0_7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c25cd92e60_0_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21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rial"/>
              <a:buChar char="-"/>
            </a:pPr>
            <a:r>
              <a:rPr lang="de-DE" sz="1000">
                <a:latin typeface="Arial"/>
                <a:ea typeface="Arial"/>
                <a:cs typeface="Arial"/>
                <a:sym typeface="Arial"/>
              </a:rPr>
              <a:t>Based on the provided powerplant data from the dataset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rial"/>
              <a:buChar char="-"/>
            </a:pPr>
            <a:r>
              <a:rPr lang="de-DE" sz="1000">
                <a:latin typeface="Arial"/>
                <a:ea typeface="Arial"/>
                <a:cs typeface="Arial"/>
                <a:sym typeface="Arial"/>
              </a:rPr>
              <a:t>powerplant mix is dominated by gas; large concentration of generators around Tehran, ports &amp; bordering nations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rial"/>
              <a:buChar char="-"/>
            </a:pPr>
            <a:r>
              <a:t/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rial"/>
              <a:buChar char="-"/>
            </a:pPr>
            <a:r>
              <a:rPr lang="de-DE" sz="1000">
                <a:latin typeface="Arial"/>
                <a:ea typeface="Arial"/>
                <a:cs typeface="Arial"/>
                <a:sym typeface="Arial"/>
              </a:rPr>
              <a:t>Minimal existing Solar or Wind; makes exclusion for RES modelling quite accurate to actual situation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rial"/>
              <a:buChar char="-"/>
            </a:pPr>
            <a:r>
              <a:rPr lang="de-DE" sz="1000">
                <a:latin typeface="Arial"/>
                <a:ea typeface="Arial"/>
                <a:cs typeface="Arial"/>
                <a:sym typeface="Arial"/>
              </a:rPr>
              <a:t>Hydro is also concentrated along the Zagros mountain range which runs from northwest to southeast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rial"/>
              <a:buChar char="-"/>
            </a:pPr>
            <a:r>
              <a:rPr lang="de-DE" sz="1000">
                <a:latin typeface="Arial"/>
                <a:ea typeface="Arial"/>
                <a:cs typeface="Arial"/>
                <a:sym typeface="Arial"/>
              </a:rPr>
              <a:t>Powerplants were aggregated by technology and region with geometry reset to the regional representative point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rial"/>
              <a:buChar char="-"/>
            </a:pPr>
            <a:r>
              <a:rPr lang="de-DE" sz="1000">
                <a:latin typeface="Arial"/>
                <a:ea typeface="Arial"/>
                <a:cs typeface="Arial"/>
                <a:sym typeface="Arial"/>
              </a:rPr>
              <a:t>Examining the regional electricity mix in the aggregated model; 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-2921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rial"/>
              <a:buChar char="-"/>
            </a:pPr>
            <a:r>
              <a:rPr lang="de-DE" sz="1000">
                <a:latin typeface="Arial"/>
                <a:ea typeface="Arial"/>
                <a:cs typeface="Arial"/>
                <a:sym typeface="Arial"/>
              </a:rPr>
              <a:t>colour indicated the regional share, size indicates the comparable regional generation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-2921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rial"/>
              <a:buChar char="-"/>
            </a:pPr>
            <a:r>
              <a:rPr lang="de-DE" sz="1000">
                <a:latin typeface="Arial"/>
                <a:ea typeface="Arial"/>
                <a:cs typeface="Arial"/>
                <a:sym typeface="Arial"/>
              </a:rPr>
              <a:t>most of the east is almost purely powered by gas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-2921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rial"/>
              <a:buChar char="-"/>
            </a:pPr>
            <a:r>
              <a:rPr lang="de-DE" sz="1000">
                <a:latin typeface="Arial"/>
                <a:ea typeface="Arial"/>
                <a:cs typeface="Arial"/>
                <a:sym typeface="Arial"/>
              </a:rPr>
              <a:t>oil takes a comparable share to gas in the central north &amp; south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-2921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rial"/>
              <a:buChar char="-"/>
            </a:pPr>
            <a:r>
              <a:rPr lang="de-DE" sz="1000">
                <a:latin typeface="Arial"/>
                <a:ea typeface="Arial"/>
                <a:cs typeface="Arial"/>
                <a:sym typeface="Arial"/>
              </a:rPr>
              <a:t>Hydro dominates Khuzistan; the highest generating region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-2921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rial"/>
              <a:buChar char="-"/>
            </a:pPr>
            <a:r>
              <a:rPr lang="de-DE" sz="1000">
                <a:latin typeface="Arial"/>
                <a:ea typeface="Arial"/>
                <a:cs typeface="Arial"/>
                <a:sym typeface="Arial"/>
              </a:rPr>
              <a:t>Some Smaller regions neighbouring the Zagros mountains run completely on hydro</a:t>
            </a:r>
            <a:endParaRPr sz="1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g3c25cd92e60_0_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be147c73f1_0_3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000">
                <a:latin typeface="Arial"/>
                <a:ea typeface="Arial"/>
                <a:cs typeface="Arial"/>
                <a:sym typeface="Arial"/>
              </a:rPr>
              <a:t>Solar &amp; wind have quite similar land area eligibility; solar being slightly higher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000">
                <a:latin typeface="Arial"/>
                <a:ea typeface="Arial"/>
                <a:cs typeface="Arial"/>
                <a:sym typeface="Arial"/>
              </a:rPr>
              <a:t>3 excluded regions in east/right hand-side are world protected areas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000">
                <a:latin typeface="Arial"/>
                <a:ea typeface="Arial"/>
                <a:cs typeface="Arial"/>
                <a:sym typeface="Arial"/>
              </a:rPr>
              <a:t>Main Differentiation is the zagros mountain region in the central west/left-hand side; where large areas exceed the 2000m elevation constraint; additionally the northern coast is quite mountainous</a:t>
            </a:r>
            <a:endParaRPr sz="1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g3be147c73f1_0_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c25cd92e60_0_2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000">
                <a:latin typeface="Arial"/>
                <a:ea typeface="Arial"/>
                <a:cs typeface="Arial"/>
                <a:sym typeface="Arial"/>
              </a:rPr>
              <a:t>CF of up to 0.9 for all the regions 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000">
                <a:latin typeface="Arial"/>
                <a:ea typeface="Arial"/>
                <a:cs typeface="Arial"/>
                <a:sym typeface="Arial"/>
              </a:rPr>
              <a:t>Stable for month (summer)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000">
                <a:latin typeface="Arial"/>
                <a:ea typeface="Arial"/>
                <a:cs typeface="Arial"/>
                <a:sym typeface="Arial"/>
              </a:rPr>
              <a:t>chosen arbitrarily</a:t>
            </a:r>
            <a:endParaRPr sz="1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g3c25cd92e60_0_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c2b2f75b73_0_1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000">
                <a:latin typeface="Arial"/>
                <a:ea typeface="Arial"/>
                <a:cs typeface="Arial"/>
                <a:sym typeface="Arial"/>
              </a:rPr>
              <a:t>High volatility</a:t>
            </a:r>
            <a:endParaRPr sz="1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g3c2b2f75b73_0_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c2ccbd064a_0_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000">
                <a:latin typeface="Arial"/>
                <a:ea typeface="Arial"/>
                <a:cs typeface="Arial"/>
                <a:sym typeface="Arial"/>
              </a:rPr>
              <a:t>High </a:t>
            </a:r>
            <a:endParaRPr sz="1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g3c2ccbd064a_0_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c2b2f75b73_0_2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g3c2b2f75b73_0_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c25cd92e60_0_1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000">
                <a:latin typeface="Arial"/>
                <a:ea typeface="Arial"/>
                <a:cs typeface="Arial"/>
                <a:sym typeface="Arial"/>
              </a:rPr>
              <a:t>Is this for given hour? or max potential at any time?</a:t>
            </a:r>
            <a:endParaRPr sz="1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g3c25cd92e60_0_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c2b2f75b73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g3c2b2f75b73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c25cd92e60_0_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de-DE" sz="1100">
                <a:latin typeface="Arial"/>
                <a:ea typeface="Arial"/>
                <a:cs typeface="Arial"/>
                <a:sym typeface="Arial"/>
              </a:rPr>
              <a:t>Definition:</a:t>
            </a:r>
            <a:r>
              <a:rPr lang="de-DE" sz="1100">
                <a:latin typeface="Arial"/>
                <a:ea typeface="Arial"/>
                <a:cs typeface="Arial"/>
                <a:sym typeface="Arial"/>
              </a:rPr>
              <a:t> National electricity demand profile (daily, 2025 weather-year snapshots), used as temporal load shape for the optimisation.  </a:t>
            </a:r>
            <a:r>
              <a:rPr b="1" lang="de-DE" sz="1100">
                <a:latin typeface="Arial"/>
                <a:ea typeface="Arial"/>
                <a:cs typeface="Arial"/>
                <a:sym typeface="Arial"/>
              </a:rPr>
              <a:t>Interpretation:</a:t>
            </a:r>
            <a:r>
              <a:rPr lang="de-DE" sz="1100">
                <a:latin typeface="Arial"/>
                <a:ea typeface="Arial"/>
                <a:cs typeface="Arial"/>
                <a:sym typeface="Arial"/>
              </a:rPr>
              <a:t> “Seasonality + short-term fluctuations drive storage and dispatch needs.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g3c25cd92e60_0_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c2b2f75b73_0_15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g3c2b2f75b73_0_15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c2b2f75b73_0_5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7" name="Google Shape;197;g3c2b2f75b73_0_5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8" name="Google Shape;198;g3c2b2f75b73_0_5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933251713c_1_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g3933251713c_1_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9337298d6a_0_2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g39337298d6a_0_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c2abf05fc0_0_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000">
                <a:latin typeface="Arial"/>
                <a:ea typeface="Arial"/>
                <a:cs typeface="Arial"/>
                <a:sym typeface="Arial"/>
              </a:rPr>
              <a:t>Highest Generation in south vs load in north</a:t>
            </a:r>
            <a:endParaRPr sz="1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g3c2abf05fc0_0_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c2ccbd064a_0_13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000">
                <a:latin typeface="Arial"/>
                <a:ea typeface="Arial"/>
                <a:cs typeface="Arial"/>
                <a:sym typeface="Arial"/>
              </a:rPr>
              <a:t>Slight increase in Power Generation (more than load)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000">
                <a:latin typeface="Arial"/>
                <a:ea typeface="Arial"/>
                <a:cs typeface="Arial"/>
                <a:sym typeface="Arial"/>
              </a:rPr>
              <a:t>Due to storage Losses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g3c2ccbd064a_0_1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c2ccbd064a_0_12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000">
                <a:latin typeface="Arial"/>
                <a:ea typeface="Arial"/>
                <a:cs typeface="Arial"/>
                <a:sym typeface="Arial"/>
              </a:rPr>
              <a:t>Slight increase in Power Generation (more than load)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000">
                <a:latin typeface="Arial"/>
                <a:ea typeface="Arial"/>
                <a:cs typeface="Arial"/>
                <a:sym typeface="Arial"/>
              </a:rPr>
              <a:t>Due to storage Losses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g3c2ccbd064a_0_1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c2ccbd064a_0_1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000">
                <a:latin typeface="Arial"/>
                <a:ea typeface="Arial"/>
                <a:cs typeface="Arial"/>
                <a:sym typeface="Arial"/>
              </a:rPr>
              <a:t>In no CO2 scenario, we require higher capacity lines to send generation from south to load in the north. High transmission loading in Persian gulf to transport inside the country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000">
                <a:latin typeface="Arial"/>
                <a:ea typeface="Arial"/>
                <a:cs typeface="Arial"/>
                <a:sym typeface="Arial"/>
              </a:rPr>
              <a:t>Limitation of one bus per region model shows higher link loading compared to real-life</a:t>
            </a:r>
            <a:endParaRPr sz="1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g3c2ccbd064a_0_1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c2b2f75b73_0_18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g3c2b2f75b73_0_18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9337298d6a_0_2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g39337298d6a_0_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3c2ccbd064a_0_9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000">
                <a:latin typeface="Arial"/>
                <a:ea typeface="Arial"/>
                <a:cs typeface="Arial"/>
                <a:sym typeface="Arial"/>
              </a:rPr>
              <a:t>CO2 case, gas and battery to fill load, charge during solar peak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000">
                <a:latin typeface="Arial"/>
                <a:ea typeface="Arial"/>
                <a:cs typeface="Arial"/>
                <a:sym typeface="Arial"/>
              </a:rPr>
              <a:t>no CO2 case, use H2 generated in peak generation season for high load season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000">
                <a:latin typeface="Arial"/>
                <a:ea typeface="Arial"/>
                <a:cs typeface="Arial"/>
                <a:sym typeface="Arial"/>
              </a:rPr>
              <a:t>December is most challenging week to provide from RES sources</a:t>
            </a:r>
            <a:endParaRPr sz="1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g3c2ccbd064a_0_9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3c2b2f75b73_0_16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g3c2b2f75b73_0_16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3c32c431a11_0_2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g3c32c431a11_0_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3c32c431a11_0_5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g3c32c431a11_0_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3c2b2f75b73_0_18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g3c2b2f75b73_0_18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3c2b2f75b73_0_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6" name="Google Shape;376;g3c2b2f75b73_0_5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7" name="Google Shape;377;g3c2b2f75b73_0_5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3c2ccbd064a_0_5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g3c2ccbd064a_0_5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3c2b2f75b73_0_6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6" name="Google Shape;416;g3c2b2f75b73_0_6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7" name="Google Shape;417;g3c2b2f75b73_0_6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39337298d6a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000">
                <a:latin typeface="Arial"/>
                <a:ea typeface="Arial"/>
                <a:cs typeface="Arial"/>
                <a:sym typeface="Arial"/>
              </a:rPr>
              <a:t>nuclear only used for some hours then shut-down; ramping constraints ignored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000">
                <a:latin typeface="Arial"/>
                <a:ea typeface="Arial"/>
                <a:cs typeface="Arial"/>
                <a:sym typeface="Arial"/>
              </a:rPr>
              <a:t>global fuel prices for Iran; prices would be cheaper as Iran is a prime gas and oil producer</a:t>
            </a:r>
            <a:endParaRPr sz="1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g39337298d6a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3c2ccbd064a_1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000">
                <a:latin typeface="Arial"/>
                <a:ea typeface="Arial"/>
                <a:cs typeface="Arial"/>
                <a:sym typeface="Arial"/>
              </a:rPr>
              <a:t>nuclear only used for some hours then shut-down; ramping constraints ignored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000">
                <a:latin typeface="Arial"/>
                <a:ea typeface="Arial"/>
                <a:cs typeface="Arial"/>
                <a:sym typeface="Arial"/>
              </a:rPr>
              <a:t>global fuel prices for Iran; prices would be cheaper as Iran is a prime gas and oil producer</a:t>
            </a:r>
            <a:endParaRPr sz="1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" name="Google Shape;431;g3c2ccbd064a_1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3c2b2f75b73_0_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8" name="Google Shape;438;g3c2b2f75b73_0_4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9" name="Google Shape;439;g3c2b2f75b73_0_4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g3c2ccbd064a_1_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6" name="Google Shape;446;g3c2ccbd064a_1_1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g3c2ccbd064a_1_1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g3c2ccbd064a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4" name="Google Shape;454;g3c2ccbd064a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55" name="Google Shape;455;g3c2ccbd064a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g3c2b2f75b73_0_23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3" name="Google Shape;463;g3c2b2f75b73_0_2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g3c2b2f75b73_0_23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0" name="Google Shape;470;g3c2b2f75b73_0_2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g3c2b2f75b73_0_21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0" name="Google Shape;480;g3c2b2f75b73_0_2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g3c2b2f75b73_0_22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7" name="Google Shape;487;g3c2b2f75b73_0_2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g3c306ade58d_0_2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4" name="Google Shape;494;g3c306ade58d_0_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g3c32c431a11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2" name="Google Shape;502;g3c32c431a11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g3c2b2f75b73_0_19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1" name="Google Shape;511;g3c2b2f75b73_0_19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g3c32c431a11_0_1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2" name="Google Shape;522;g3c32c431a11_0_1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g3c32c431a11_0_13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8" name="Google Shape;538;g3c32c431a11_0_1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g3c32c431a11_0_9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0" name="Google Shape;550;g3c32c431a11_0_9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itel - Text ">
  <p:cSld name="2_Titel - Text 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4"/>
          <p:cNvSpPr txBox="1"/>
          <p:nvPr/>
        </p:nvSpPr>
        <p:spPr>
          <a:xfrm>
            <a:off x="9903" y="-313433"/>
            <a:ext cx="1703672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de-DE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V2: Titelfolie ohne Bild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el - Text und Bild">
  <p:cSld name="1_Titel - Text und Bild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7"/>
          <p:cNvSpPr/>
          <p:nvPr>
            <p:ph idx="2" type="pic"/>
          </p:nvPr>
        </p:nvSpPr>
        <p:spPr>
          <a:xfrm>
            <a:off x="-6479" y="1260572"/>
            <a:ext cx="8885359" cy="3273604"/>
          </a:xfrm>
          <a:prstGeom prst="rect">
            <a:avLst/>
          </a:prstGeom>
          <a:solidFill>
            <a:srgbClr val="434343"/>
          </a:solidFill>
          <a:ln>
            <a:noFill/>
          </a:ln>
        </p:spPr>
      </p:sp>
      <p:sp>
        <p:nvSpPr>
          <p:cNvPr id="17" name="Google Shape;17;p17"/>
          <p:cNvSpPr txBox="1"/>
          <p:nvPr/>
        </p:nvSpPr>
        <p:spPr>
          <a:xfrm>
            <a:off x="-2031023" y="2620375"/>
            <a:ext cx="2021305" cy="17851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de-DE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Platzhalterbild ersetzen:</a:t>
            </a:r>
            <a:br>
              <a:rPr b="1" i="0" lang="de-DE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de-DE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Bild löschen und durch neues Bild ersetzen &gt; über Bildformat &gt; Zuschneiden im Rahmen ggf. nachpositionieren</a:t>
            </a:r>
            <a:br>
              <a:rPr b="0" i="0" lang="de-DE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de-DE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de-DE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Copyrightangabe: </a:t>
            </a:r>
            <a:br>
              <a:rPr b="0" i="0" lang="de-DE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de-DE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Korrektes Copyright angeben (in der Regel Name des*der Fotograf*in), Textfarbe je nach Hintergrund weiß oder schwarz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17"/>
          <p:cNvSpPr txBox="1"/>
          <p:nvPr/>
        </p:nvSpPr>
        <p:spPr>
          <a:xfrm>
            <a:off x="9903" y="-313433"/>
            <a:ext cx="1703672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de-DE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V1: Titelfolie mit Bild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Inhalt - Text und Stichpunkte">
  <p:cSld name="3_Inhalt - Text und Stichpunkte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6"/>
          <p:cNvSpPr txBox="1"/>
          <p:nvPr>
            <p:ph idx="1" type="body"/>
          </p:nvPr>
        </p:nvSpPr>
        <p:spPr>
          <a:xfrm>
            <a:off x="550800" y="3175200"/>
            <a:ext cx="97218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noAutofit/>
          </a:bodyPr>
          <a:lstStyle>
            <a:lvl1pPr indent="-342900" lvl="0" marL="457200" marR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Noto Sans Symbols"/>
              <a:buChar char="−"/>
              <a:defRPr b="0" i="0" sz="18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algn="l">
              <a:lnSpc>
                <a:spcPct val="133333"/>
              </a:lnSpc>
              <a:spcBef>
                <a:spcPts val="50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Noto Sans Symbols"/>
              <a:buChar char="−"/>
              <a:defRPr b="0" i="0" sz="18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marR="0" algn="l">
              <a:lnSpc>
                <a:spcPct val="133333"/>
              </a:lnSpc>
              <a:spcBef>
                <a:spcPts val="50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Noto Sans Symbols"/>
              <a:buChar char="−"/>
              <a:defRPr b="0" i="0" sz="18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algn="l">
              <a:lnSpc>
                <a:spcPct val="133333"/>
              </a:lnSpc>
              <a:spcBef>
                <a:spcPts val="50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Noto Sans Symbols"/>
              <a:buChar char="−"/>
              <a:defRPr b="0" i="0" sz="18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algn="l">
              <a:lnSpc>
                <a:spcPct val="133333"/>
              </a:lnSpc>
              <a:spcBef>
                <a:spcPts val="50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Noto Sans Symbols"/>
              <a:buChar char="−"/>
              <a:defRPr b="0" i="0" sz="18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8" name="Google Shape;28;p16"/>
          <p:cNvSpPr txBox="1"/>
          <p:nvPr>
            <p:ph idx="2" type="body"/>
          </p:nvPr>
        </p:nvSpPr>
        <p:spPr>
          <a:xfrm>
            <a:off x="550800" y="1371600"/>
            <a:ext cx="9721800" cy="1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" name="Google Shape;29;p16"/>
          <p:cNvSpPr txBox="1"/>
          <p:nvPr>
            <p:ph idx="3" type="body"/>
          </p:nvPr>
        </p:nvSpPr>
        <p:spPr>
          <a:xfrm>
            <a:off x="555867" y="396545"/>
            <a:ext cx="8311800" cy="717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marR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C40D1E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C40D1E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Inhalt - Bild und Text">
  <p:cSld name="4_Inhalt - Bild und 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8"/>
          <p:cNvSpPr txBox="1"/>
          <p:nvPr>
            <p:ph idx="1" type="body"/>
          </p:nvPr>
        </p:nvSpPr>
        <p:spPr>
          <a:xfrm>
            <a:off x="6519600" y="1382400"/>
            <a:ext cx="3982800" cy="409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" name="Google Shape;32;p18"/>
          <p:cNvSpPr/>
          <p:nvPr>
            <p:ph idx="2" type="pic"/>
          </p:nvPr>
        </p:nvSpPr>
        <p:spPr>
          <a:xfrm>
            <a:off x="550861" y="1381405"/>
            <a:ext cx="5545200" cy="4093500"/>
          </a:xfrm>
          <a:prstGeom prst="rect">
            <a:avLst/>
          </a:prstGeom>
          <a:solidFill>
            <a:srgbClr val="434343"/>
          </a:solidFill>
          <a:ln>
            <a:noFill/>
          </a:ln>
        </p:spPr>
      </p:sp>
      <p:sp>
        <p:nvSpPr>
          <p:cNvPr id="33" name="Google Shape;33;p18"/>
          <p:cNvSpPr txBox="1"/>
          <p:nvPr>
            <p:ph idx="3" type="body"/>
          </p:nvPr>
        </p:nvSpPr>
        <p:spPr>
          <a:xfrm>
            <a:off x="555867" y="396545"/>
            <a:ext cx="8311800" cy="717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marR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C40D1E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C40D1E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Inhalt - Bild und Stichpunkte">
  <p:cSld name="5_Inhalt - Bild und Stichpunkte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9"/>
          <p:cNvSpPr txBox="1"/>
          <p:nvPr>
            <p:ph idx="1" type="body"/>
          </p:nvPr>
        </p:nvSpPr>
        <p:spPr>
          <a:xfrm>
            <a:off x="6519600" y="1364399"/>
            <a:ext cx="3981600" cy="41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marR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Noto Sans Symbols"/>
              <a:buChar char="−"/>
              <a:defRPr b="0" i="0" sz="18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algn="l">
              <a:lnSpc>
                <a:spcPct val="133333"/>
              </a:lnSpc>
              <a:spcBef>
                <a:spcPts val="50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Noto Sans Symbols"/>
              <a:buChar char="−"/>
              <a:defRPr b="0" i="0" sz="18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marR="0" algn="l">
              <a:lnSpc>
                <a:spcPct val="133333"/>
              </a:lnSpc>
              <a:spcBef>
                <a:spcPts val="50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Noto Sans Symbols"/>
              <a:buChar char="−"/>
              <a:defRPr b="0" i="0" sz="18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algn="l">
              <a:lnSpc>
                <a:spcPct val="133333"/>
              </a:lnSpc>
              <a:spcBef>
                <a:spcPts val="50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Noto Sans Symbols"/>
              <a:buChar char="−"/>
              <a:defRPr b="0" i="0" sz="18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algn="l">
              <a:lnSpc>
                <a:spcPct val="133333"/>
              </a:lnSpc>
              <a:spcBef>
                <a:spcPts val="50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Noto Sans Symbols"/>
              <a:buChar char="−"/>
              <a:defRPr b="0" i="0" sz="18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6" name="Google Shape;36;p19"/>
          <p:cNvSpPr/>
          <p:nvPr>
            <p:ph idx="2" type="pic"/>
          </p:nvPr>
        </p:nvSpPr>
        <p:spPr>
          <a:xfrm>
            <a:off x="550861" y="1381405"/>
            <a:ext cx="5545200" cy="4093500"/>
          </a:xfrm>
          <a:prstGeom prst="rect">
            <a:avLst/>
          </a:prstGeom>
          <a:solidFill>
            <a:srgbClr val="434343"/>
          </a:solidFill>
          <a:ln>
            <a:noFill/>
          </a:ln>
        </p:spPr>
      </p:sp>
      <p:sp>
        <p:nvSpPr>
          <p:cNvPr id="37" name="Google Shape;37;p19"/>
          <p:cNvSpPr txBox="1"/>
          <p:nvPr>
            <p:ph idx="3" type="body"/>
          </p:nvPr>
        </p:nvSpPr>
        <p:spPr>
          <a:xfrm>
            <a:off x="555867" y="396545"/>
            <a:ext cx="8311800" cy="717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marR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C40D1E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C40D1E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5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/>
          <p:nvPr/>
        </p:nvSpPr>
        <p:spPr>
          <a:xfrm>
            <a:off x="0" y="1668462"/>
            <a:ext cx="12192000" cy="5189537"/>
          </a:xfrm>
          <a:custGeom>
            <a:rect b="b" l="l" r="r" t="t"/>
            <a:pathLst>
              <a:path extrusionOk="0" h="5189537" w="12192000">
                <a:moveTo>
                  <a:pt x="0" y="428625"/>
                </a:moveTo>
                <a:lnTo>
                  <a:pt x="12192000" y="0"/>
                </a:lnTo>
                <a:lnTo>
                  <a:pt x="12192000" y="5189537"/>
                </a:lnTo>
                <a:lnTo>
                  <a:pt x="0" y="5189537"/>
                </a:lnTo>
                <a:lnTo>
                  <a:pt x="0" y="428625"/>
                </a:lnTo>
                <a:close/>
              </a:path>
            </a:pathLst>
          </a:custGeom>
          <a:solidFill>
            <a:srgbClr val="C40D1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" name="Google Shape;11;p13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9388168" y="378741"/>
            <a:ext cx="2250000" cy="77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13"/>
          <p:cNvSpPr txBox="1"/>
          <p:nvPr/>
        </p:nvSpPr>
        <p:spPr>
          <a:xfrm>
            <a:off x="12292755" y="5534561"/>
            <a:ext cx="3102416" cy="13234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de-DE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Titelseiten – Platzhalter für Sublogo ändern: </a:t>
            </a:r>
            <a:r>
              <a:rPr b="0" i="0" lang="de-DE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Direkt auf dieser Folie &gt; Bild anklicken &gt; Rechtsklick &gt; Bild einfügen</a:t>
            </a:r>
            <a:br>
              <a:rPr b="0" i="0" lang="de-DE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de-DE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de-DE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Bild an Rahmen anpassen</a:t>
            </a:r>
            <a:r>
              <a:rPr b="0" i="0" lang="de-DE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br>
              <a:rPr b="0" i="0" lang="de-DE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de-DE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Bild anklicken &gt; Bildformat &gt; Zuschneiden &gt; </a:t>
            </a:r>
            <a:br>
              <a:rPr b="0" i="0" lang="de-DE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de-DE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 Dropdown „Einpassen“ wählen &gt; </a:t>
            </a:r>
            <a:br>
              <a:rPr b="0" i="0" lang="de-DE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de-DE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ggf. Bild nochmals neu positionieren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347">
          <p15:clr>
            <a:srgbClr val="F26B43"/>
          </p15:clr>
        </p15:guide>
        <p15:guide id="2" pos="7333">
          <p15:clr>
            <a:srgbClr val="F26B43"/>
          </p15:clr>
        </p15:guide>
        <p15:guide id="3" orient="horz" pos="346">
          <p15:clr>
            <a:srgbClr val="F26B43"/>
          </p15:clr>
        </p15:guide>
        <p15:guide id="4" pos="1232">
          <p15:clr>
            <a:srgbClr val="F26B43"/>
          </p15:clr>
        </p15:guide>
        <p15:guide id="5" orient="horz" pos="3974">
          <p15:clr>
            <a:srgbClr val="F26B43"/>
          </p15:clr>
        </p15:guide>
        <p15:guide id="6" orient="horz" pos="663">
          <p15:clr>
            <a:srgbClr val="F26B43"/>
          </p15:clr>
        </p15:guide>
        <p15:guide id="7" orient="horz" pos="1003">
          <p15:clr>
            <a:srgbClr val="F26B43"/>
          </p15:clr>
        </p15:guide>
        <p15:guide id="8" orient="horz" pos="1321">
          <p15:clr>
            <a:srgbClr val="F26B43"/>
          </p15:clr>
        </p15:guide>
        <p15:guide id="9" orient="horz" pos="1661">
          <p15:clr>
            <a:srgbClr val="F26B43"/>
          </p15:clr>
        </p15:guide>
        <p15:guide id="10" orient="horz" pos="2001">
          <p15:clr>
            <a:srgbClr val="F26B43"/>
          </p15:clr>
        </p15:guide>
        <p15:guide id="11" orient="horz" pos="3339">
          <p15:clr>
            <a:srgbClr val="F26B43"/>
          </p15:clr>
        </p15:guide>
        <p15:guide id="12" orient="horz" pos="2319">
          <p15:clr>
            <a:srgbClr val="F26B43"/>
          </p15:clr>
        </p15:guide>
        <p15:guide id="13" orient="horz" pos="2999">
          <p15:clr>
            <a:srgbClr val="F26B43"/>
          </p15:clr>
        </p15:guide>
        <p15:guide id="14" orient="horz" pos="3657">
          <p15:clr>
            <a:srgbClr val="F26B43"/>
          </p15:clr>
        </p15:guide>
        <p15:guide id="15" orient="horz" pos="2659">
          <p15:clr>
            <a:srgbClr val="F26B43"/>
          </p15:clr>
        </p15:guide>
        <p15:guide id="16" pos="2094">
          <p15:clr>
            <a:srgbClr val="F26B43"/>
          </p15:clr>
        </p15:guide>
        <p15:guide id="17" pos="2978">
          <p15:clr>
            <a:srgbClr val="F26B43"/>
          </p15:clr>
        </p15:guide>
        <p15:guide id="18" pos="3840">
          <p15:clr>
            <a:srgbClr val="F26B43"/>
          </p15:clr>
        </p15:guide>
        <p15:guide id="19" pos="4725">
          <p15:clr>
            <a:srgbClr val="F26B43"/>
          </p15:clr>
        </p15:guide>
        <p15:guide id="20" pos="5586">
          <p15:clr>
            <a:srgbClr val="F26B43"/>
          </p15:clr>
        </p15:guide>
        <p15:guide id="21" pos="647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5"/>
          <p:cNvSpPr/>
          <p:nvPr/>
        </p:nvSpPr>
        <p:spPr>
          <a:xfrm>
            <a:off x="0" y="5748124"/>
            <a:ext cx="12195175" cy="1109875"/>
          </a:xfrm>
          <a:custGeom>
            <a:rect b="b" l="l" r="r" t="t"/>
            <a:pathLst>
              <a:path extrusionOk="0" h="1109875" w="12195175">
                <a:moveTo>
                  <a:pt x="0" y="422275"/>
                </a:moveTo>
                <a:lnTo>
                  <a:pt x="12195175" y="0"/>
                </a:lnTo>
                <a:cubicBezTo>
                  <a:pt x="12194117" y="369958"/>
                  <a:pt x="12193058" y="739917"/>
                  <a:pt x="12192000" y="1109875"/>
                </a:cubicBezTo>
                <a:lnTo>
                  <a:pt x="0" y="1109875"/>
                </a:lnTo>
                <a:lnTo>
                  <a:pt x="0" y="422275"/>
                </a:lnTo>
                <a:close/>
              </a:path>
            </a:pathLst>
          </a:custGeom>
          <a:solidFill>
            <a:srgbClr val="C40D1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" name="Google Shape;21;p15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10614598" y="378000"/>
            <a:ext cx="1004400" cy="766068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15"/>
          <p:cNvSpPr txBox="1"/>
          <p:nvPr/>
        </p:nvSpPr>
        <p:spPr>
          <a:xfrm>
            <a:off x="12292755" y="5612990"/>
            <a:ext cx="3102300" cy="13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de-DE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Folgeseiten – Platzhalter für Sublogo ändern: </a:t>
            </a:r>
            <a:r>
              <a:rPr b="0" i="0" lang="de-DE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Folienmaster &gt; Nr. 2 bearbeiten &gt; Bild anklicken &gt; Rechtsklick &gt; Bild einfügen</a:t>
            </a:r>
            <a:br>
              <a:rPr b="0" i="0" lang="de-DE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de-DE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de-DE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Bild an Rahmen anpassen</a:t>
            </a:r>
            <a:r>
              <a:rPr b="0" i="0" lang="de-DE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br>
              <a:rPr b="0" i="0" lang="de-DE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de-DE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Bild anklicken &gt; Bildformat &gt; Zuschneiden &gt; </a:t>
            </a:r>
            <a:br>
              <a:rPr b="0" i="0" lang="de-DE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de-DE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 Dropdown „Einpassen“ wählen &gt; </a:t>
            </a:r>
            <a:br>
              <a:rPr b="0" i="0" lang="de-DE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de-DE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ggf. Bild nochmals neu positionieren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15"/>
          <p:cNvSpPr txBox="1"/>
          <p:nvPr/>
        </p:nvSpPr>
        <p:spPr>
          <a:xfrm>
            <a:off x="-2243920" y="6474756"/>
            <a:ext cx="2223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de-DE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Informationen in Fußzeile ändern:</a:t>
            </a:r>
            <a:br>
              <a:rPr b="0" i="0" lang="de-DE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de-DE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Folienmaster &gt; Nr. 2 bearbeiten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15"/>
          <p:cNvSpPr txBox="1"/>
          <p:nvPr/>
        </p:nvSpPr>
        <p:spPr>
          <a:xfrm>
            <a:off x="550800" y="6399924"/>
            <a:ext cx="10746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rPr b="0" i="0" lang="de-DE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Page </a:t>
            </a:r>
            <a:fld id="{00000000-1234-1234-1234-123412341234}" type="slidenum">
              <a:rPr b="0" i="0" lang="de-DE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15"/>
          <p:cNvSpPr txBox="1"/>
          <p:nvPr/>
        </p:nvSpPr>
        <p:spPr>
          <a:xfrm>
            <a:off x="1625599" y="6399924"/>
            <a:ext cx="10082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rPr b="0" i="0" lang="de-DE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Group H | Off-grid Energy Storage | SEST | Feb. 4</a:t>
            </a:r>
            <a:r>
              <a:rPr b="0" baseline="30000" i="0" lang="de-DE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</a:t>
            </a:r>
            <a:r>
              <a:rPr b="0" i="0" lang="de-DE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2026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2" r:id="rId2"/>
    <p:sldLayoutId id="2147483653" r:id="rId3"/>
    <p:sldLayoutId id="2147483654" r:id="rId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Relationship Id="rId4" Type="http://schemas.openxmlformats.org/officeDocument/2006/relationships/image" Target="../media/image1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png"/><Relationship Id="rId4" Type="http://schemas.openxmlformats.org/officeDocument/2006/relationships/image" Target="../media/image1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5.png"/><Relationship Id="rId4" Type="http://schemas.openxmlformats.org/officeDocument/2006/relationships/image" Target="../media/image3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3.png"/><Relationship Id="rId4" Type="http://schemas.openxmlformats.org/officeDocument/2006/relationships/image" Target="../media/image19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3.png"/><Relationship Id="rId4" Type="http://schemas.openxmlformats.org/officeDocument/2006/relationships/image" Target="../media/image34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8.png"/><Relationship Id="rId4" Type="http://schemas.openxmlformats.org/officeDocument/2006/relationships/image" Target="../media/image2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5.png"/><Relationship Id="rId4" Type="http://schemas.openxmlformats.org/officeDocument/2006/relationships/image" Target="../media/image48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3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7.png"/><Relationship Id="rId4" Type="http://schemas.openxmlformats.org/officeDocument/2006/relationships/image" Target="../media/image29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6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0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7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42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hyperlink" Target="https://github.com/morteezzaa/iran-renewable-system-analysis" TargetMode="Externa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hyperlink" Target="https://github.com/morteezzaa/iran-renewable-system-analysis" TargetMode="Externa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6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24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39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27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28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31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40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52.png"/><Relationship Id="rId4" Type="http://schemas.openxmlformats.org/officeDocument/2006/relationships/image" Target="../media/image51.png"/><Relationship Id="rId5" Type="http://schemas.openxmlformats.org/officeDocument/2006/relationships/image" Target="../media/image50.png"/><Relationship Id="rId6" Type="http://schemas.openxmlformats.org/officeDocument/2006/relationships/image" Target="../media/image53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44.png"/><Relationship Id="rId4" Type="http://schemas.openxmlformats.org/officeDocument/2006/relationships/image" Target="../media/image49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"/>
          <p:cNvSpPr txBox="1"/>
          <p:nvPr/>
        </p:nvSpPr>
        <p:spPr>
          <a:xfrm>
            <a:off x="550801" y="4621518"/>
            <a:ext cx="8328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lang="de-DE" sz="3600">
                <a:solidFill>
                  <a:schemeClr val="lt1"/>
                </a:solidFill>
              </a:rPr>
              <a:t>Iran Renewable System Analysis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1"/>
          <p:cNvSpPr txBox="1"/>
          <p:nvPr/>
        </p:nvSpPr>
        <p:spPr>
          <a:xfrm>
            <a:off x="550801" y="5723828"/>
            <a:ext cx="11012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de-DE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Group </a:t>
            </a:r>
            <a:r>
              <a:rPr lang="de-DE" sz="1800">
                <a:solidFill>
                  <a:schemeClr val="lt1"/>
                </a:solidFill>
              </a:rPr>
              <a:t>A</a:t>
            </a:r>
            <a:r>
              <a:rPr b="0" i="0" lang="de-DE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| February </a:t>
            </a:r>
            <a:r>
              <a:rPr lang="de-DE" sz="1800">
                <a:solidFill>
                  <a:schemeClr val="lt1"/>
                </a:solidFill>
              </a:rPr>
              <a:t>5</a:t>
            </a:r>
            <a:r>
              <a:rPr b="0" baseline="30000" i="0" lang="de-DE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</a:t>
            </a:r>
            <a:r>
              <a:rPr b="0" i="0" lang="de-DE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, 2026 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1"/>
          <p:cNvSpPr txBox="1"/>
          <p:nvPr/>
        </p:nvSpPr>
        <p:spPr>
          <a:xfrm>
            <a:off x="550801" y="6159639"/>
            <a:ext cx="11012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de-DE" sz="1800">
                <a:solidFill>
                  <a:schemeClr val="lt1"/>
                </a:solidFill>
              </a:rPr>
              <a:t>Data Science for Energy System Modelling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"/>
          <p:cNvSpPr txBox="1"/>
          <p:nvPr>
            <p:ph idx="3" type="body"/>
          </p:nvPr>
        </p:nvSpPr>
        <p:spPr>
          <a:xfrm>
            <a:off x="555867" y="396545"/>
            <a:ext cx="8311800" cy="717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C40D1E"/>
              </a:buClr>
              <a:buSzPts val="2400"/>
              <a:buNone/>
            </a:pPr>
            <a:r>
              <a:rPr b="1" lang="de-DE"/>
              <a:t>Outline</a:t>
            </a:r>
            <a:endParaRPr/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C40D1E"/>
              </a:buClr>
              <a:buSzPts val="2400"/>
              <a:buNone/>
            </a:pPr>
            <a:r>
              <a:t/>
            </a:r>
            <a:endParaRPr b="1"/>
          </a:p>
        </p:txBody>
      </p:sp>
      <p:graphicFrame>
        <p:nvGraphicFramePr>
          <p:cNvPr id="51" name="Google Shape;51;p2"/>
          <p:cNvGraphicFramePr/>
          <p:nvPr/>
        </p:nvGraphicFramePr>
        <p:xfrm>
          <a:off x="550800" y="157903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{95AEA6CC-E7D5-4600-B254-B4CE0C2B7D87}</a:tableStyleId>
              </a:tblPr>
              <a:tblGrid>
                <a:gridCol w="553800"/>
                <a:gridCol w="3043650"/>
                <a:gridCol w="6386400"/>
              </a:tblGrid>
              <a:tr h="707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de-DE" sz="1800" u="none" cap="none" strike="noStrike">
                          <a:solidFill>
                            <a:schemeClr val="accen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de-DE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Introduction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1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</a:tr>
              <a:tr h="707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de-DE" sz="1800" u="none" cap="none" strike="noStrike">
                          <a:solidFill>
                            <a:schemeClr val="accen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b="1" sz="1800" u="none" cap="none" strike="noStrike">
                        <a:solidFill>
                          <a:schemeClr val="accen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de-DE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Model Inputs</a:t>
                      </a:r>
                      <a:endParaRPr b="1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1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</a:tr>
              <a:tr h="663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de-DE" sz="1800" u="none" cap="none" strike="noStrike">
                          <a:solidFill>
                            <a:schemeClr val="accen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1" lang="de-DE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Results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707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de-DE" sz="1800" u="none" cap="none" strike="noStrike">
                          <a:solidFill>
                            <a:schemeClr val="accen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1" lang="de-DE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Sensitivity Analysis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707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de-DE" sz="1800" u="none" cap="none" strike="noStrike">
                          <a:solidFill>
                            <a:schemeClr val="accen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1" lang="de-DE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Limitations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1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52" name="Google Shape;52;p2"/>
          <p:cNvSpPr txBox="1"/>
          <p:nvPr/>
        </p:nvSpPr>
        <p:spPr>
          <a:xfrm>
            <a:off x="1577575" y="6340075"/>
            <a:ext cx="5328000" cy="327300"/>
          </a:xfrm>
          <a:prstGeom prst="rect">
            <a:avLst/>
          </a:prstGeom>
          <a:solidFill>
            <a:srgbClr val="C40D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>
                <a:solidFill>
                  <a:schemeClr val="lt1"/>
                </a:solidFill>
              </a:rPr>
              <a:t>Group A | Iran RES Grid Modelling | DSESM | 5th Feb 2026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9337298d6a_0_7"/>
          <p:cNvSpPr txBox="1"/>
          <p:nvPr/>
        </p:nvSpPr>
        <p:spPr>
          <a:xfrm>
            <a:off x="550800" y="3019615"/>
            <a:ext cx="99579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lang="de-DE" sz="4300">
                <a:solidFill>
                  <a:schemeClr val="lt1"/>
                </a:solidFill>
              </a:rPr>
              <a:t>Introduction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g39337298d6a_0_7"/>
          <p:cNvSpPr txBox="1"/>
          <p:nvPr/>
        </p:nvSpPr>
        <p:spPr>
          <a:xfrm>
            <a:off x="550801" y="5723828"/>
            <a:ext cx="11012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de-DE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Group </a:t>
            </a:r>
            <a:r>
              <a:rPr lang="de-DE" sz="1800">
                <a:solidFill>
                  <a:schemeClr val="lt1"/>
                </a:solidFill>
              </a:rPr>
              <a:t>A</a:t>
            </a:r>
            <a:r>
              <a:rPr b="0" i="0" lang="de-DE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| February </a:t>
            </a:r>
            <a:r>
              <a:rPr lang="de-DE" sz="1800">
                <a:solidFill>
                  <a:schemeClr val="lt1"/>
                </a:solidFill>
              </a:rPr>
              <a:t>5</a:t>
            </a:r>
            <a:r>
              <a:rPr b="0" baseline="30000" i="0" lang="de-DE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</a:t>
            </a:r>
            <a:r>
              <a:rPr b="0" i="0" lang="de-DE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, 2026 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g39337298d6a_0_7"/>
          <p:cNvSpPr txBox="1"/>
          <p:nvPr/>
        </p:nvSpPr>
        <p:spPr>
          <a:xfrm>
            <a:off x="550801" y="6159639"/>
            <a:ext cx="11012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de-DE" sz="1800">
                <a:solidFill>
                  <a:schemeClr val="lt1"/>
                </a:solidFill>
              </a:rPr>
              <a:t>Data Science for Energy System Modelling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g3933251713c_0_0" title="ember-char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5875" y="1113850"/>
            <a:ext cx="10106774" cy="4295525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g3933251713c_0_0"/>
          <p:cNvSpPr txBox="1"/>
          <p:nvPr>
            <p:ph idx="3" type="body"/>
          </p:nvPr>
        </p:nvSpPr>
        <p:spPr>
          <a:xfrm>
            <a:off x="555867" y="396545"/>
            <a:ext cx="8311800" cy="717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C40D1E"/>
              </a:buClr>
              <a:buSzPts val="2400"/>
              <a:buNone/>
            </a:pPr>
            <a:r>
              <a:rPr b="1" lang="de-DE"/>
              <a:t>Context - Current State of Electricity System in Iran</a:t>
            </a:r>
            <a:endParaRPr b="1"/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C40D1E"/>
              </a:buClr>
              <a:buSzPts val="2400"/>
              <a:buNone/>
            </a:pPr>
            <a:r>
              <a:t/>
            </a:r>
            <a:endParaRPr b="1"/>
          </a:p>
        </p:txBody>
      </p:sp>
      <p:sp>
        <p:nvSpPr>
          <p:cNvPr id="68" name="Google Shape;68;g3933251713c_0_0"/>
          <p:cNvSpPr txBox="1"/>
          <p:nvPr/>
        </p:nvSpPr>
        <p:spPr>
          <a:xfrm>
            <a:off x="9576861" y="3872783"/>
            <a:ext cx="807300" cy="31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000"/>
              <a:t>(Oil)</a:t>
            </a:r>
            <a:endParaRPr sz="1000"/>
          </a:p>
        </p:txBody>
      </p:sp>
      <p:sp>
        <p:nvSpPr>
          <p:cNvPr id="69" name="Google Shape;69;g3933251713c_0_0"/>
          <p:cNvSpPr/>
          <p:nvPr/>
        </p:nvSpPr>
        <p:spPr>
          <a:xfrm>
            <a:off x="10672600" y="1193500"/>
            <a:ext cx="1377000" cy="4215900"/>
          </a:xfrm>
          <a:prstGeom prst="rect">
            <a:avLst/>
          </a:prstGeom>
          <a:solidFill>
            <a:srgbClr val="F5F7FA"/>
          </a:solidFill>
          <a:ln cap="flat" cmpd="sng" w="9525">
            <a:solidFill>
              <a:srgbClr val="F5F7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g3933251713c_0_0"/>
          <p:cNvSpPr txBox="1"/>
          <p:nvPr/>
        </p:nvSpPr>
        <p:spPr>
          <a:xfrm>
            <a:off x="10057276" y="2562825"/>
            <a:ext cx="2238000" cy="8697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de-DE">
                <a:solidFill>
                  <a:srgbClr val="69CF76"/>
                </a:solidFill>
              </a:rPr>
              <a:t>0.2% (2023)</a:t>
            </a:r>
            <a:endParaRPr b="1">
              <a:solidFill>
                <a:srgbClr val="69CF76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de-DE">
                <a:solidFill>
                  <a:srgbClr val="316739"/>
                </a:solidFill>
              </a:rPr>
              <a:t>0.3% (2023)</a:t>
            </a:r>
            <a:endParaRPr b="1">
              <a:solidFill>
                <a:srgbClr val="316739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de-DE">
                <a:solidFill>
                  <a:srgbClr val="40E0D0"/>
                </a:solidFill>
              </a:rPr>
              <a:t>2.1% (2022)</a:t>
            </a:r>
            <a:endParaRPr b="1">
              <a:solidFill>
                <a:srgbClr val="40E0D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de-DE">
                <a:solidFill>
                  <a:srgbClr val="1E609D"/>
                </a:solidFill>
              </a:rPr>
              <a:t>&lt;0.1% (2023)</a:t>
            </a:r>
            <a:endParaRPr b="1">
              <a:solidFill>
                <a:srgbClr val="1E609D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de-DE">
                <a:solidFill>
                  <a:srgbClr val="203772"/>
                </a:solidFill>
              </a:rPr>
              <a:t>1.9% (2020)</a:t>
            </a:r>
            <a:endParaRPr b="1">
              <a:solidFill>
                <a:srgbClr val="203772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/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/>
          </a:p>
        </p:txBody>
      </p:sp>
      <p:sp>
        <p:nvSpPr>
          <p:cNvPr id="71" name="Google Shape;71;g3933251713c_0_0"/>
          <p:cNvSpPr txBox="1"/>
          <p:nvPr/>
        </p:nvSpPr>
        <p:spPr>
          <a:xfrm>
            <a:off x="9676275" y="3159900"/>
            <a:ext cx="30000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de-DE">
                <a:solidFill>
                  <a:srgbClr val="867572"/>
                </a:solidFill>
              </a:rPr>
              <a:t>86.6% (2023)</a:t>
            </a:r>
            <a:endParaRPr b="1">
              <a:solidFill>
                <a:srgbClr val="867572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de-DE">
                <a:solidFill>
                  <a:srgbClr val="563F3A"/>
                </a:solidFill>
              </a:rPr>
              <a:t>0.2% (2023)</a:t>
            </a:r>
            <a:endParaRPr b="1">
              <a:solidFill>
                <a:srgbClr val="563F3A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de-DE">
                <a:solidFill>
                  <a:srgbClr val="A52A2A"/>
                </a:solidFill>
              </a:rPr>
              <a:t>7% (2023)</a:t>
            </a:r>
            <a:endParaRPr b="1" sz="1600">
              <a:solidFill>
                <a:srgbClr val="A52A2A"/>
              </a:solidFill>
            </a:endParaRPr>
          </a:p>
        </p:txBody>
      </p:sp>
      <p:sp>
        <p:nvSpPr>
          <p:cNvPr id="72" name="Google Shape;72;g3933251713c_0_0"/>
          <p:cNvSpPr txBox="1"/>
          <p:nvPr/>
        </p:nvSpPr>
        <p:spPr>
          <a:xfrm>
            <a:off x="555875" y="5527900"/>
            <a:ext cx="4796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Fact </a:t>
            </a:r>
            <a:r>
              <a:rPr lang="de-DE"/>
              <a:t>Sources:</a:t>
            </a:r>
            <a:r>
              <a:rPr b="1" lang="de-DE">
                <a:solidFill>
                  <a:schemeClr val="dk1"/>
                </a:solidFill>
              </a:rPr>
              <a:t> </a:t>
            </a:r>
            <a:r>
              <a:rPr b="1" lang="de-DE" sz="1050"/>
              <a:t>(IR Gas Production, 2024), (IR Oil Production, 2023)</a:t>
            </a:r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4"/>
          <p:cNvSpPr txBox="1"/>
          <p:nvPr>
            <p:ph idx="3" type="body"/>
          </p:nvPr>
        </p:nvSpPr>
        <p:spPr>
          <a:xfrm>
            <a:off x="555867" y="396545"/>
            <a:ext cx="8311800" cy="717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C40D1E"/>
              </a:buClr>
              <a:buSzPts val="2400"/>
              <a:buNone/>
            </a:pPr>
            <a:r>
              <a:rPr b="1" lang="de-DE"/>
              <a:t>Context - Model Considerations</a:t>
            </a:r>
            <a:endParaRPr b="1"/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C40D1E"/>
              </a:buClr>
              <a:buSzPts val="2400"/>
              <a:buNone/>
            </a:pPr>
            <a:r>
              <a:t/>
            </a:r>
            <a:endParaRPr b="1"/>
          </a:p>
        </p:txBody>
      </p:sp>
      <p:sp>
        <p:nvSpPr>
          <p:cNvPr id="78" name="Google Shape;78;p4"/>
          <p:cNvSpPr txBox="1"/>
          <p:nvPr/>
        </p:nvSpPr>
        <p:spPr>
          <a:xfrm>
            <a:off x="1577575" y="6340075"/>
            <a:ext cx="5328000" cy="327300"/>
          </a:xfrm>
          <a:prstGeom prst="rect">
            <a:avLst/>
          </a:prstGeom>
          <a:solidFill>
            <a:srgbClr val="C40D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>
                <a:solidFill>
                  <a:schemeClr val="lt1"/>
                </a:solidFill>
              </a:rPr>
              <a:t>Group A | Iran RES Grid Modelling | DSESM | 5th Feb 2026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79" name="Google Shape;79;p4"/>
          <p:cNvSpPr txBox="1"/>
          <p:nvPr/>
        </p:nvSpPr>
        <p:spPr>
          <a:xfrm>
            <a:off x="671325" y="1224175"/>
            <a:ext cx="9582900" cy="43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de-DE" sz="1700"/>
              <a:t>Area: </a:t>
            </a:r>
            <a:r>
              <a:rPr lang="de-DE" sz="1700"/>
              <a:t>1.648 million km²</a:t>
            </a:r>
            <a:r>
              <a:rPr lang="de-DE" sz="1700"/>
              <a:t>    </a:t>
            </a:r>
            <a:endParaRPr sz="1700"/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700"/>
              <a:t>(vs. Germany: </a:t>
            </a:r>
            <a:r>
              <a:rPr lang="de-DE" sz="1700"/>
              <a:t>0.357</a:t>
            </a:r>
            <a:r>
              <a:rPr lang="de-DE" sz="1700"/>
              <a:t> million</a:t>
            </a:r>
            <a:r>
              <a:rPr b="1" lang="de-DE"/>
              <a:t> </a:t>
            </a:r>
            <a:r>
              <a:rPr lang="de-DE" sz="1700"/>
              <a:t>km²)</a:t>
            </a:r>
            <a:endParaRPr sz="1700"/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de-DE" sz="1700">
                <a:highlight>
                  <a:schemeClr val="lt1"/>
                </a:highlight>
              </a:rPr>
              <a:t>Population (2024): ~85,961,000</a:t>
            </a:r>
            <a:endParaRPr sz="1700">
              <a:highlight>
                <a:schemeClr val="lt1"/>
              </a:highlight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700">
                <a:highlight>
                  <a:schemeClr val="lt1"/>
                </a:highlight>
              </a:rPr>
              <a:t>(vs. Germany ~83,600,000)</a:t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de-DE" sz="1700"/>
              <a:t>System costs sourced from various currency years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de-DE" sz="1700"/>
              <a:t>Cost projection year: 2025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de-DE" sz="1700"/>
              <a:t>Discount Rate: 7%</a:t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highlight>
                <a:srgbClr val="FFFFFF"/>
              </a:highlight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highlight>
                <a:srgbClr val="FFFFFF"/>
              </a:highlight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de-DE" sz="1700"/>
              <a:t>31 States + 2 exclusive economic zones (EEZ)</a:t>
            </a:r>
            <a:endParaRPr sz="1700">
              <a:highlight>
                <a:srgbClr val="FFFFFF"/>
              </a:highlight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de-DE" sz="1700">
                <a:highlight>
                  <a:srgbClr val="FFFFFF"/>
                </a:highlight>
              </a:rPr>
              <a:t>1 Bus per state/EEZ</a:t>
            </a:r>
            <a:endParaRPr sz="1700">
              <a:highlight>
                <a:srgbClr val="FFFFFF"/>
              </a:highlight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de-DE" sz="1700">
                <a:highlight>
                  <a:srgbClr val="FFFFFF"/>
                </a:highlight>
              </a:rPr>
              <a:t>Buses set at regional representative point</a:t>
            </a:r>
            <a:endParaRPr sz="1700"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>
                <a:highlight>
                  <a:srgbClr val="FFFFFF"/>
                </a:highlight>
              </a:rPr>
              <a:t>Sources: </a:t>
            </a:r>
            <a:r>
              <a:rPr b="1" lang="de-DE" sz="1050"/>
              <a:t>(Bundesamt, 2024)</a:t>
            </a:r>
            <a:r>
              <a:rPr lang="de-DE" sz="1050"/>
              <a:t>, </a:t>
            </a:r>
            <a:r>
              <a:rPr b="1" lang="de-DE" sz="1050"/>
              <a:t>(Statistical Center of Iran, 2024)</a:t>
            </a:r>
            <a:endParaRPr>
              <a:highlight>
                <a:srgbClr val="FFFFFF"/>
              </a:highlight>
            </a:endParaRPr>
          </a:p>
        </p:txBody>
      </p:sp>
      <p:pic>
        <p:nvPicPr>
          <p:cNvPr id="80" name="Google Shape;80;p4" title="representative points of region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69700" y="946300"/>
            <a:ext cx="4557949" cy="4608675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4"/>
          <p:cNvSpPr txBox="1"/>
          <p:nvPr/>
        </p:nvSpPr>
        <p:spPr>
          <a:xfrm>
            <a:off x="7825825" y="2136925"/>
            <a:ext cx="1602900" cy="3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>
                <a:highlight>
                  <a:srgbClr val="E6B8AF"/>
                </a:highlight>
              </a:rPr>
              <a:t>Tehran</a:t>
            </a:r>
            <a:endParaRPr>
              <a:highlight>
                <a:srgbClr val="E6B8AF"/>
              </a:highlight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c2b2f75b73_0_78"/>
          <p:cNvSpPr txBox="1"/>
          <p:nvPr/>
        </p:nvSpPr>
        <p:spPr>
          <a:xfrm>
            <a:off x="550800" y="3019615"/>
            <a:ext cx="99579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lang="de-DE" sz="4300">
                <a:solidFill>
                  <a:schemeClr val="lt1"/>
                </a:solidFill>
              </a:rPr>
              <a:t>Model Inputs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g3c2b2f75b73_0_78"/>
          <p:cNvSpPr txBox="1"/>
          <p:nvPr/>
        </p:nvSpPr>
        <p:spPr>
          <a:xfrm>
            <a:off x="550801" y="5723828"/>
            <a:ext cx="11012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de-DE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Group </a:t>
            </a:r>
            <a:r>
              <a:rPr lang="de-DE" sz="1800">
                <a:solidFill>
                  <a:schemeClr val="lt1"/>
                </a:solidFill>
              </a:rPr>
              <a:t>A</a:t>
            </a:r>
            <a:r>
              <a:rPr b="0" i="0" lang="de-DE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| February </a:t>
            </a:r>
            <a:r>
              <a:rPr lang="de-DE" sz="1800">
                <a:solidFill>
                  <a:schemeClr val="lt1"/>
                </a:solidFill>
              </a:rPr>
              <a:t>5</a:t>
            </a:r>
            <a:r>
              <a:rPr b="0" baseline="30000" i="0" lang="de-DE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</a:t>
            </a:r>
            <a:r>
              <a:rPr b="0" i="0" lang="de-DE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, 2026 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g3c2b2f75b73_0_78"/>
          <p:cNvSpPr txBox="1"/>
          <p:nvPr/>
        </p:nvSpPr>
        <p:spPr>
          <a:xfrm>
            <a:off x="550801" y="6159639"/>
            <a:ext cx="11012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de-DE" sz="1800">
                <a:solidFill>
                  <a:schemeClr val="lt1"/>
                </a:solidFill>
              </a:rPr>
              <a:t>Data Science for Energy System Modelling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c25cd92e60_0_7"/>
          <p:cNvSpPr txBox="1"/>
          <p:nvPr>
            <p:ph idx="3" type="body"/>
          </p:nvPr>
        </p:nvSpPr>
        <p:spPr>
          <a:xfrm>
            <a:off x="555867" y="396545"/>
            <a:ext cx="8311800" cy="717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C40D1E"/>
              </a:buClr>
              <a:buSzPts val="2400"/>
              <a:buNone/>
            </a:pPr>
            <a:r>
              <a:rPr b="1" lang="de-DE"/>
              <a:t>Inputs - Power Plant Capacities</a:t>
            </a:r>
            <a:endParaRPr b="1"/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C40D1E"/>
              </a:buClr>
              <a:buSzPts val="2400"/>
              <a:buNone/>
            </a:pPr>
            <a:r>
              <a:t/>
            </a:r>
            <a:endParaRPr b="1"/>
          </a:p>
        </p:txBody>
      </p:sp>
      <p:sp>
        <p:nvSpPr>
          <p:cNvPr id="95" name="Google Shape;95;g3c25cd92e60_0_7"/>
          <p:cNvSpPr txBox="1"/>
          <p:nvPr/>
        </p:nvSpPr>
        <p:spPr>
          <a:xfrm>
            <a:off x="1577575" y="6340075"/>
            <a:ext cx="5328000" cy="327300"/>
          </a:xfrm>
          <a:prstGeom prst="rect">
            <a:avLst/>
          </a:prstGeom>
          <a:solidFill>
            <a:srgbClr val="C40D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>
                <a:solidFill>
                  <a:schemeClr val="lt1"/>
                </a:solidFill>
              </a:rPr>
              <a:t>Group A | Iran RES Grid Modelling | DSESM | 5th Feb 2026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96" name="Google Shape;96;g3c25cd92e60_0_7" title="Location of existing Power Plant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5875" y="973200"/>
            <a:ext cx="4506522" cy="4781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g3c25cd92e60_0_7" title="Location of existing Power Plants per Region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04050" y="1103138"/>
            <a:ext cx="5284625" cy="4651725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g3c25cd92e60_0_7"/>
          <p:cNvSpPr/>
          <p:nvPr/>
        </p:nvSpPr>
        <p:spPr>
          <a:xfrm>
            <a:off x="5062400" y="3212150"/>
            <a:ext cx="2468400" cy="2100900"/>
          </a:xfrm>
          <a:prstGeom prst="rightArrow">
            <a:avLst>
              <a:gd fmla="val 50000" name="adj1"/>
              <a:gd fmla="val 49346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g3c25cd92e60_0_7"/>
          <p:cNvSpPr txBox="1"/>
          <p:nvPr/>
        </p:nvSpPr>
        <p:spPr>
          <a:xfrm>
            <a:off x="5096900" y="3684050"/>
            <a:ext cx="2686800" cy="14505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84150" lvl="0" marL="179999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de-DE"/>
              <a:t>Regional Aggregation</a:t>
            </a:r>
            <a:endParaRPr/>
          </a:p>
          <a:p>
            <a:pPr indent="-184150" lvl="0" marL="179999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de-DE"/>
              <a:t>RES Exclusion</a:t>
            </a:r>
            <a:endParaRPr/>
          </a:p>
          <a:p>
            <a:pPr indent="-184150" lvl="0" marL="179999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de-DE"/>
              <a:t>Links between neighbor regions</a:t>
            </a:r>
            <a:endParaRPr/>
          </a:p>
        </p:txBody>
      </p:sp>
      <p:sp>
        <p:nvSpPr>
          <p:cNvPr id="100" name="Google Shape;100;g3c25cd92e60_0_7"/>
          <p:cNvSpPr/>
          <p:nvPr/>
        </p:nvSpPr>
        <p:spPr>
          <a:xfrm>
            <a:off x="1824375" y="3561025"/>
            <a:ext cx="699900" cy="149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300"/>
              <a:t>Zagros</a:t>
            </a:r>
            <a:endParaRPr sz="1300"/>
          </a:p>
        </p:txBody>
      </p:sp>
      <p:sp>
        <p:nvSpPr>
          <p:cNvPr id="101" name="Google Shape;101;g3c25cd92e60_0_7"/>
          <p:cNvSpPr txBox="1"/>
          <p:nvPr/>
        </p:nvSpPr>
        <p:spPr>
          <a:xfrm>
            <a:off x="6712151" y="3393275"/>
            <a:ext cx="919500" cy="4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200">
                <a:solidFill>
                  <a:schemeClr val="lt1"/>
                </a:solidFill>
                <a:highlight>
                  <a:srgbClr val="4C1130"/>
                </a:highlight>
              </a:rPr>
              <a:t>Khuzistan</a:t>
            </a:r>
            <a:endParaRPr sz="1200">
              <a:solidFill>
                <a:schemeClr val="lt1"/>
              </a:solidFill>
              <a:highlight>
                <a:srgbClr val="4C1130"/>
              </a:highlight>
            </a:endParaRPr>
          </a:p>
        </p:txBody>
      </p:sp>
      <p:sp>
        <p:nvSpPr>
          <p:cNvPr id="102" name="Google Shape;102;g3c25cd92e60_0_7"/>
          <p:cNvSpPr txBox="1"/>
          <p:nvPr/>
        </p:nvSpPr>
        <p:spPr>
          <a:xfrm>
            <a:off x="2132892" y="2465275"/>
            <a:ext cx="842700" cy="3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300">
                <a:solidFill>
                  <a:schemeClr val="lt1"/>
                </a:solidFill>
                <a:highlight>
                  <a:srgbClr val="4C1130"/>
                </a:highlight>
              </a:rPr>
              <a:t>Tehran</a:t>
            </a:r>
            <a:endParaRPr sz="1300">
              <a:solidFill>
                <a:schemeClr val="lt1"/>
              </a:solidFill>
              <a:highlight>
                <a:srgbClr val="4C1130"/>
              </a:highlight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be147c73f1_0_33"/>
          <p:cNvSpPr txBox="1"/>
          <p:nvPr>
            <p:ph idx="3" type="body"/>
          </p:nvPr>
        </p:nvSpPr>
        <p:spPr>
          <a:xfrm>
            <a:off x="555867" y="396545"/>
            <a:ext cx="8311800" cy="717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C40D1E"/>
              </a:buClr>
              <a:buSzPts val="2400"/>
              <a:buNone/>
            </a:pPr>
            <a:r>
              <a:rPr b="1" lang="de-DE"/>
              <a:t>Inputs - Land Eligibility Analysis</a:t>
            </a:r>
            <a:endParaRPr b="1"/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C40D1E"/>
              </a:buClr>
              <a:buSzPts val="2400"/>
              <a:buNone/>
            </a:pPr>
            <a:r>
              <a:t/>
            </a:r>
            <a:endParaRPr b="1"/>
          </a:p>
        </p:txBody>
      </p:sp>
      <p:sp>
        <p:nvSpPr>
          <p:cNvPr id="108" name="Google Shape;108;g3be147c73f1_0_33"/>
          <p:cNvSpPr txBox="1"/>
          <p:nvPr/>
        </p:nvSpPr>
        <p:spPr>
          <a:xfrm>
            <a:off x="1577575" y="6340075"/>
            <a:ext cx="5328000" cy="327300"/>
          </a:xfrm>
          <a:prstGeom prst="rect">
            <a:avLst/>
          </a:prstGeom>
          <a:solidFill>
            <a:srgbClr val="C40D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>
                <a:solidFill>
                  <a:schemeClr val="lt1"/>
                </a:solidFill>
              </a:rPr>
              <a:t>Group A | Iran RES Grid Modelling | DSESM | 5th Feb 2026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109" name="Google Shape;109;g3be147c73f1_0_33" title="pv eligable land large gri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73050" y="1356483"/>
            <a:ext cx="3645900" cy="29479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g3be147c73f1_0_33" title="wind-off-shore eligable land large grid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53733" y="1356496"/>
            <a:ext cx="3645904" cy="2947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g3be147c73f1_0_33" title="wind-on-shore eligable land large grid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2363" y="1268414"/>
            <a:ext cx="3645900" cy="3035983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g3be147c73f1_0_33"/>
          <p:cNvSpPr txBox="1"/>
          <p:nvPr/>
        </p:nvSpPr>
        <p:spPr>
          <a:xfrm>
            <a:off x="1666413" y="1164559"/>
            <a:ext cx="1297800" cy="287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500"/>
              <a:t>onwind</a:t>
            </a:r>
            <a:endParaRPr sz="1500"/>
          </a:p>
        </p:txBody>
      </p:sp>
      <p:sp>
        <p:nvSpPr>
          <p:cNvPr id="113" name="Google Shape;113;g3be147c73f1_0_33"/>
          <p:cNvSpPr txBox="1"/>
          <p:nvPr/>
        </p:nvSpPr>
        <p:spPr>
          <a:xfrm>
            <a:off x="5447075" y="1164559"/>
            <a:ext cx="1297800" cy="287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500"/>
              <a:t>solar</a:t>
            </a:r>
            <a:endParaRPr sz="1500"/>
          </a:p>
        </p:txBody>
      </p:sp>
      <p:sp>
        <p:nvSpPr>
          <p:cNvPr id="114" name="Google Shape;114;g3be147c73f1_0_33"/>
          <p:cNvSpPr txBox="1"/>
          <p:nvPr/>
        </p:nvSpPr>
        <p:spPr>
          <a:xfrm>
            <a:off x="9227763" y="1164559"/>
            <a:ext cx="1297800" cy="287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500"/>
              <a:t>offwind</a:t>
            </a:r>
            <a:endParaRPr sz="1500"/>
          </a:p>
        </p:txBody>
      </p:sp>
      <p:sp>
        <p:nvSpPr>
          <p:cNvPr id="115" name="Google Shape;115;g3be147c73f1_0_33"/>
          <p:cNvSpPr txBox="1"/>
          <p:nvPr/>
        </p:nvSpPr>
        <p:spPr>
          <a:xfrm>
            <a:off x="555875" y="4304400"/>
            <a:ext cx="11143800" cy="158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de-DE" sz="1700"/>
              <a:t>Considered criteria: </a:t>
            </a:r>
            <a:endParaRPr sz="1700">
              <a:highlight>
                <a:srgbClr val="FFFF00"/>
              </a:highlight>
            </a:endParaRPr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de-DE" sz="1700"/>
              <a:t>Elevation data</a:t>
            </a:r>
            <a:endParaRPr sz="1700"/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de-DE" sz="1700"/>
              <a:t>Distance from airports, major roads, built up areas</a:t>
            </a:r>
            <a:endParaRPr sz="1700"/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de-DE" sz="1700"/>
              <a:t>Exclusion of world protected areas</a:t>
            </a:r>
            <a:endParaRPr sz="1700"/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de-DE" sz="1700"/>
              <a:t>Exclusive Economic Zones (for wind offshore)</a:t>
            </a:r>
            <a:endParaRPr sz="1700"/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de-DE" sz="1700"/>
              <a:t>Land classification</a:t>
            </a:r>
            <a:endParaRPr sz="1700"/>
          </a:p>
        </p:txBody>
      </p:sp>
      <p:sp>
        <p:nvSpPr>
          <p:cNvPr id="116" name="Google Shape;116;g3be147c73f1_0_33"/>
          <p:cNvSpPr txBox="1"/>
          <p:nvPr/>
        </p:nvSpPr>
        <p:spPr>
          <a:xfrm>
            <a:off x="825525" y="919825"/>
            <a:ext cx="29796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600"/>
              <a:t>E.A. = </a:t>
            </a:r>
            <a:r>
              <a:rPr lang="de-DE" sz="1600"/>
              <a:t>73.33%</a:t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E3E3E3"/>
              </a:solidFill>
              <a:highlight>
                <a:srgbClr val="282A2C"/>
              </a:highlight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g3be147c73f1_0_33"/>
          <p:cNvSpPr txBox="1"/>
          <p:nvPr/>
        </p:nvSpPr>
        <p:spPr>
          <a:xfrm>
            <a:off x="4627775" y="921025"/>
            <a:ext cx="30000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E3E3E3"/>
              </a:solidFill>
              <a:highlight>
                <a:srgbClr val="282A2C"/>
              </a:highlight>
            </a:endParaRPr>
          </a:p>
        </p:txBody>
      </p:sp>
      <p:sp>
        <p:nvSpPr>
          <p:cNvPr id="118" name="Google Shape;118;g3be147c73f1_0_33"/>
          <p:cNvSpPr txBox="1"/>
          <p:nvPr/>
        </p:nvSpPr>
        <p:spPr>
          <a:xfrm>
            <a:off x="4637975" y="919825"/>
            <a:ext cx="29796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600"/>
              <a:t>E.A. = </a:t>
            </a:r>
            <a:r>
              <a:rPr lang="de-DE" sz="1600"/>
              <a:t>77.41%</a:t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E3E3E3"/>
              </a:solidFill>
              <a:highlight>
                <a:srgbClr val="282A2C"/>
              </a:highlight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g3be147c73f1_0_33"/>
          <p:cNvSpPr txBox="1"/>
          <p:nvPr/>
        </p:nvSpPr>
        <p:spPr>
          <a:xfrm>
            <a:off x="8450425" y="919825"/>
            <a:ext cx="29796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600"/>
              <a:t>E.A. = </a:t>
            </a:r>
            <a:r>
              <a:rPr lang="de-DE" sz="1600"/>
              <a:t>14.96%</a:t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E3E3E3"/>
              </a:solidFill>
              <a:highlight>
                <a:srgbClr val="282A2C"/>
              </a:highlight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c25cd92e60_0_22"/>
          <p:cNvSpPr txBox="1"/>
          <p:nvPr>
            <p:ph idx="3" type="body"/>
          </p:nvPr>
        </p:nvSpPr>
        <p:spPr>
          <a:xfrm>
            <a:off x="555867" y="396545"/>
            <a:ext cx="8311800" cy="717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C40D1E"/>
              </a:buClr>
              <a:buSzPts val="2400"/>
              <a:buNone/>
            </a:pPr>
            <a:r>
              <a:rPr b="1" lang="de-DE"/>
              <a:t>Inputs - RES Time Series (PV - May - 2025)</a:t>
            </a:r>
            <a:endParaRPr b="1"/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C40D1E"/>
              </a:buClr>
              <a:buSzPts val="2400"/>
              <a:buNone/>
            </a:pPr>
            <a:r>
              <a:t/>
            </a:r>
            <a:endParaRPr b="1"/>
          </a:p>
        </p:txBody>
      </p:sp>
      <p:sp>
        <p:nvSpPr>
          <p:cNvPr id="125" name="Google Shape;125;g3c25cd92e60_0_22"/>
          <p:cNvSpPr txBox="1"/>
          <p:nvPr/>
        </p:nvSpPr>
        <p:spPr>
          <a:xfrm>
            <a:off x="1577575" y="6340075"/>
            <a:ext cx="5328000" cy="327300"/>
          </a:xfrm>
          <a:prstGeom prst="rect">
            <a:avLst/>
          </a:prstGeom>
          <a:solidFill>
            <a:srgbClr val="C40D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>
                <a:solidFill>
                  <a:schemeClr val="lt1"/>
                </a:solidFill>
              </a:rPr>
              <a:t>Group A | Iran RES Grid Modelling | DSESM | 5th Feb 2026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126" name="Google Shape;126;g3c25cd92e60_0_22" title="pv_cf_may_202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5875" y="1285875"/>
            <a:ext cx="10877550" cy="428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g3c2b2f75b73_0_17" title="onwind_cf_august_2025_daily_avg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5875" y="1152350"/>
            <a:ext cx="11087775" cy="436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g3c2b2f75b73_0_17"/>
          <p:cNvSpPr txBox="1"/>
          <p:nvPr>
            <p:ph idx="3" type="body"/>
          </p:nvPr>
        </p:nvSpPr>
        <p:spPr>
          <a:xfrm>
            <a:off x="555876" y="396550"/>
            <a:ext cx="9478500" cy="717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C40D1E"/>
              </a:buClr>
              <a:buSzPts val="2400"/>
              <a:buNone/>
            </a:pPr>
            <a:r>
              <a:rPr b="1" lang="de-DE"/>
              <a:t>Inputs - RES Time Series (Wind onshore</a:t>
            </a:r>
            <a:r>
              <a:rPr b="1" lang="de-DE"/>
              <a:t> - August 2025</a:t>
            </a:r>
            <a:r>
              <a:rPr b="1" lang="de-DE"/>
              <a:t>)</a:t>
            </a:r>
            <a:endParaRPr b="1"/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C40D1E"/>
              </a:buClr>
              <a:buSzPts val="2400"/>
              <a:buNone/>
            </a:pPr>
            <a:r>
              <a:t/>
            </a:r>
            <a:endParaRPr b="1"/>
          </a:p>
        </p:txBody>
      </p:sp>
      <p:sp>
        <p:nvSpPr>
          <p:cNvPr id="133" name="Google Shape;133;g3c2b2f75b73_0_17"/>
          <p:cNvSpPr txBox="1"/>
          <p:nvPr/>
        </p:nvSpPr>
        <p:spPr>
          <a:xfrm>
            <a:off x="1577575" y="6340075"/>
            <a:ext cx="5328000" cy="327300"/>
          </a:xfrm>
          <a:prstGeom prst="rect">
            <a:avLst/>
          </a:prstGeom>
          <a:solidFill>
            <a:srgbClr val="C40D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>
                <a:solidFill>
                  <a:schemeClr val="lt1"/>
                </a:solidFill>
              </a:rPr>
              <a:t>Group A | Iran RES Grid Modelling | DSESM | 5th Feb 2026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34" name="Google Shape;134;g3c2b2f75b73_0_17"/>
          <p:cNvSpPr txBox="1"/>
          <p:nvPr/>
        </p:nvSpPr>
        <p:spPr>
          <a:xfrm>
            <a:off x="4242050" y="1926525"/>
            <a:ext cx="1602900" cy="3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000">
                <a:highlight>
                  <a:srgbClr val="FA7EA4"/>
                </a:highlight>
              </a:rPr>
              <a:t>South Khorasan</a:t>
            </a:r>
            <a:endParaRPr sz="1000">
              <a:highlight>
                <a:srgbClr val="FA7EA4"/>
              </a:highlight>
            </a:endParaRPr>
          </a:p>
        </p:txBody>
      </p:sp>
      <p:sp>
        <p:nvSpPr>
          <p:cNvPr id="135" name="Google Shape;135;g3c2b2f75b73_0_17"/>
          <p:cNvSpPr txBox="1"/>
          <p:nvPr/>
        </p:nvSpPr>
        <p:spPr>
          <a:xfrm>
            <a:off x="1962550" y="3173238"/>
            <a:ext cx="1602900" cy="3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000">
                <a:highlight>
                  <a:srgbClr val="B57BF9"/>
                </a:highlight>
              </a:rPr>
              <a:t>Razavi Khorasan</a:t>
            </a:r>
            <a:endParaRPr sz="1000">
              <a:highlight>
                <a:srgbClr val="B57BF9"/>
              </a:highlight>
            </a:endParaRPr>
          </a:p>
        </p:txBody>
      </p:sp>
      <p:sp>
        <p:nvSpPr>
          <p:cNvPr id="136" name="Google Shape;136;g3c2b2f75b73_0_17"/>
          <p:cNvSpPr txBox="1"/>
          <p:nvPr/>
        </p:nvSpPr>
        <p:spPr>
          <a:xfrm>
            <a:off x="4116800" y="2710400"/>
            <a:ext cx="1602900" cy="3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000">
                <a:highlight>
                  <a:srgbClr val="F9B07C"/>
                </a:highlight>
              </a:rPr>
              <a:t>Semnan</a:t>
            </a:r>
            <a:endParaRPr sz="1000">
              <a:highlight>
                <a:srgbClr val="F9B07C"/>
              </a:highlight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c2ccbd064a_0_9"/>
          <p:cNvSpPr txBox="1"/>
          <p:nvPr>
            <p:ph idx="3" type="body"/>
          </p:nvPr>
        </p:nvSpPr>
        <p:spPr>
          <a:xfrm>
            <a:off x="555876" y="396550"/>
            <a:ext cx="9478500" cy="717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C40D1E"/>
              </a:buClr>
              <a:buSzPts val="2400"/>
              <a:buNone/>
            </a:pPr>
            <a:r>
              <a:rPr b="1" lang="de-DE"/>
              <a:t>Inputs - Elevation Data</a:t>
            </a:r>
            <a:endParaRPr b="1"/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C40D1E"/>
              </a:buClr>
              <a:buSzPts val="2400"/>
              <a:buNone/>
            </a:pPr>
            <a:r>
              <a:t/>
            </a:r>
            <a:endParaRPr b="1"/>
          </a:p>
        </p:txBody>
      </p:sp>
      <p:sp>
        <p:nvSpPr>
          <p:cNvPr id="142" name="Google Shape;142;g3c2ccbd064a_0_9"/>
          <p:cNvSpPr txBox="1"/>
          <p:nvPr/>
        </p:nvSpPr>
        <p:spPr>
          <a:xfrm>
            <a:off x="1577575" y="6340075"/>
            <a:ext cx="5328000" cy="327300"/>
          </a:xfrm>
          <a:prstGeom prst="rect">
            <a:avLst/>
          </a:prstGeom>
          <a:solidFill>
            <a:srgbClr val="C40D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>
                <a:solidFill>
                  <a:schemeClr val="lt1"/>
                </a:solidFill>
              </a:rPr>
              <a:t>Group A | Iran RES Grid Modelling | DSESM | 5th Feb 2026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143" name="Google Shape;143;g3c2ccbd064a_0_9" title="elevation map of ira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21900" y="780550"/>
            <a:ext cx="6748191" cy="4921425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g3c2ccbd064a_0_9"/>
          <p:cNvSpPr txBox="1"/>
          <p:nvPr/>
        </p:nvSpPr>
        <p:spPr>
          <a:xfrm>
            <a:off x="6223700" y="2723075"/>
            <a:ext cx="1602900" cy="3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000">
                <a:highlight>
                  <a:srgbClr val="FA7EA4"/>
                </a:highlight>
              </a:rPr>
              <a:t>South Khorasan</a:t>
            </a:r>
            <a:endParaRPr sz="1000">
              <a:highlight>
                <a:srgbClr val="FA7EA4"/>
              </a:highlight>
            </a:endParaRPr>
          </a:p>
        </p:txBody>
      </p:sp>
      <p:sp>
        <p:nvSpPr>
          <p:cNvPr id="145" name="Google Shape;145;g3c2ccbd064a_0_9"/>
          <p:cNvSpPr txBox="1"/>
          <p:nvPr/>
        </p:nvSpPr>
        <p:spPr>
          <a:xfrm>
            <a:off x="6518350" y="1968688"/>
            <a:ext cx="1602900" cy="3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000">
                <a:highlight>
                  <a:srgbClr val="B57BF9"/>
                </a:highlight>
              </a:rPr>
              <a:t>Razavi Khorasan</a:t>
            </a:r>
            <a:endParaRPr sz="1000">
              <a:highlight>
                <a:srgbClr val="B57BF9"/>
              </a:highlight>
            </a:endParaRPr>
          </a:p>
        </p:txBody>
      </p:sp>
      <p:sp>
        <p:nvSpPr>
          <p:cNvPr id="146" name="Google Shape;146;g3c2ccbd064a_0_9"/>
          <p:cNvSpPr txBox="1"/>
          <p:nvPr/>
        </p:nvSpPr>
        <p:spPr>
          <a:xfrm>
            <a:off x="5449975" y="2147025"/>
            <a:ext cx="1602900" cy="3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000">
                <a:highlight>
                  <a:srgbClr val="F9B07C"/>
                </a:highlight>
              </a:rPr>
              <a:t>Semnan</a:t>
            </a:r>
            <a:endParaRPr sz="1000">
              <a:highlight>
                <a:srgbClr val="F9B07C"/>
              </a:highlight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c2b2f75b73_0_25"/>
          <p:cNvSpPr txBox="1"/>
          <p:nvPr>
            <p:ph idx="3" type="body"/>
          </p:nvPr>
        </p:nvSpPr>
        <p:spPr>
          <a:xfrm>
            <a:off x="555876" y="396550"/>
            <a:ext cx="9867000" cy="717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C40D1E"/>
              </a:buClr>
              <a:buSzPts val="2400"/>
              <a:buNone/>
            </a:pPr>
            <a:r>
              <a:rPr b="1" lang="de-DE"/>
              <a:t>Inputs - RES Time Series (Wind offshore</a:t>
            </a:r>
            <a:r>
              <a:rPr b="1" lang="de-DE"/>
              <a:t> - May 2025</a:t>
            </a:r>
            <a:r>
              <a:rPr b="1" lang="de-DE"/>
              <a:t>)</a:t>
            </a:r>
            <a:endParaRPr b="1"/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C40D1E"/>
              </a:buClr>
              <a:buSzPts val="2400"/>
              <a:buNone/>
            </a:pPr>
            <a:r>
              <a:t/>
            </a:r>
            <a:endParaRPr b="1"/>
          </a:p>
        </p:txBody>
      </p:sp>
      <p:sp>
        <p:nvSpPr>
          <p:cNvPr id="152" name="Google Shape;152;g3c2b2f75b73_0_25"/>
          <p:cNvSpPr txBox="1"/>
          <p:nvPr/>
        </p:nvSpPr>
        <p:spPr>
          <a:xfrm>
            <a:off x="1577575" y="6340075"/>
            <a:ext cx="5328000" cy="327300"/>
          </a:xfrm>
          <a:prstGeom prst="rect">
            <a:avLst/>
          </a:prstGeom>
          <a:solidFill>
            <a:srgbClr val="C40D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>
                <a:solidFill>
                  <a:schemeClr val="lt1"/>
                </a:solidFill>
              </a:rPr>
              <a:t>Group A | Iran RES Grid Modelling | DSESM | 5th Feb 2026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153" name="Google Shape;153;g3c2b2f75b73_0_25" title="offwind_cf_May_202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5875" y="1285875"/>
            <a:ext cx="10877550" cy="428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g3c25cd92e60_0_17" title="Location of existing Power Plants per Regio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04050" y="1103138"/>
            <a:ext cx="5284625" cy="4651725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g3c25cd92e60_0_17"/>
          <p:cNvSpPr txBox="1"/>
          <p:nvPr/>
        </p:nvSpPr>
        <p:spPr>
          <a:xfrm>
            <a:off x="1577575" y="6340075"/>
            <a:ext cx="5328000" cy="327300"/>
          </a:xfrm>
          <a:prstGeom prst="rect">
            <a:avLst/>
          </a:prstGeom>
          <a:solidFill>
            <a:srgbClr val="C40D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>
                <a:solidFill>
                  <a:schemeClr val="lt1"/>
                </a:solidFill>
              </a:rPr>
              <a:t>Group A | Iran RES Grid Modelling | DSESM | 5th Feb 2026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160" name="Google Shape;160;g3c25cd92e60_0_17" title="Renewables Potential Map (same scale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5875" y="968287"/>
            <a:ext cx="5590999" cy="4921431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g3c25cd92e60_0_17"/>
          <p:cNvSpPr txBox="1"/>
          <p:nvPr>
            <p:ph idx="3" type="body"/>
          </p:nvPr>
        </p:nvSpPr>
        <p:spPr>
          <a:xfrm>
            <a:off x="555877" y="396550"/>
            <a:ext cx="9983700" cy="717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40D1E"/>
              </a:buClr>
              <a:buSzPts val="2400"/>
              <a:buNone/>
            </a:pPr>
            <a:r>
              <a:rPr b="1" lang="de-DE" sz="2300"/>
              <a:t>Inputs - RES Available Capacity (same scale of existing power plants)</a:t>
            </a:r>
            <a:endParaRPr b="1" sz="2300"/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C40D1E"/>
              </a:buClr>
              <a:buSzPts val="2400"/>
              <a:buNone/>
            </a:pPr>
            <a:r>
              <a:t/>
            </a:r>
            <a:endParaRPr b="1"/>
          </a:p>
        </p:txBody>
      </p:sp>
      <p:sp>
        <p:nvSpPr>
          <p:cNvPr id="162" name="Google Shape;162;g3c25cd92e60_0_17"/>
          <p:cNvSpPr txBox="1"/>
          <p:nvPr/>
        </p:nvSpPr>
        <p:spPr>
          <a:xfrm>
            <a:off x="6299275" y="5181260"/>
            <a:ext cx="4729500" cy="575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de-DE"/>
              <a:t>The potentials are in the same scale as the previous plot, showing existing power plants!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g3c25cd92e60_0_17"/>
          <p:cNvSpPr txBox="1"/>
          <p:nvPr/>
        </p:nvSpPr>
        <p:spPr>
          <a:xfrm>
            <a:off x="3248775" y="830025"/>
            <a:ext cx="2403300" cy="327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c2b2f75b73_0_0"/>
          <p:cNvSpPr txBox="1"/>
          <p:nvPr>
            <p:ph idx="3" type="body"/>
          </p:nvPr>
        </p:nvSpPr>
        <p:spPr>
          <a:xfrm>
            <a:off x="555876" y="396550"/>
            <a:ext cx="9119700" cy="717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C40D1E"/>
              </a:buClr>
              <a:buSzPts val="2400"/>
              <a:buNone/>
            </a:pPr>
            <a:r>
              <a:rPr b="1" lang="de-DE"/>
              <a:t>Inputs - RES Available Capacity (scaled down by factor 10)</a:t>
            </a:r>
            <a:endParaRPr b="1"/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C40D1E"/>
              </a:buClr>
              <a:buSzPts val="2400"/>
              <a:buNone/>
            </a:pPr>
            <a:r>
              <a:t/>
            </a:r>
            <a:endParaRPr b="1"/>
          </a:p>
        </p:txBody>
      </p:sp>
      <p:sp>
        <p:nvSpPr>
          <p:cNvPr id="169" name="Google Shape;169;g3c2b2f75b73_0_0"/>
          <p:cNvSpPr txBox="1"/>
          <p:nvPr/>
        </p:nvSpPr>
        <p:spPr>
          <a:xfrm>
            <a:off x="1577575" y="6340075"/>
            <a:ext cx="5328000" cy="327300"/>
          </a:xfrm>
          <a:prstGeom prst="rect">
            <a:avLst/>
          </a:prstGeom>
          <a:solidFill>
            <a:srgbClr val="C40D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>
                <a:solidFill>
                  <a:schemeClr val="lt1"/>
                </a:solidFill>
              </a:rPr>
              <a:t>Group A | Iran RES Grid Modelling | DSESM | 5th Feb 2026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170" name="Google Shape;170;g3c2b2f75b73_0_0" title="Renewables Potential Map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5875" y="968300"/>
            <a:ext cx="5590999" cy="4921411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g3c2b2f75b73_0_0"/>
          <p:cNvSpPr txBox="1"/>
          <p:nvPr/>
        </p:nvSpPr>
        <p:spPr>
          <a:xfrm>
            <a:off x="6146875" y="1784275"/>
            <a:ext cx="4729500" cy="410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de-DE"/>
              <a:t>Base: Land Eligibility Analysis and 2025 weather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de-DE"/>
              <a:t>High Potential of Solar and Wind Capacities, especially in the center and east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de-DE">
                <a:highlight>
                  <a:srgbClr val="538CE9"/>
                </a:highlight>
              </a:rPr>
              <a:t>Sistan and Baluchestan:</a:t>
            </a:r>
            <a:endParaRPr>
              <a:highlight>
                <a:srgbClr val="538CE9"/>
              </a:highlight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de-DE"/>
              <a:t>Solar: ~380 GW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de-DE"/>
              <a:t>Wind onshore: ~350 GW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de-DE">
                <a:highlight>
                  <a:srgbClr val="E6B8AF"/>
                </a:highlight>
              </a:rPr>
              <a:t>Kerman:</a:t>
            </a:r>
            <a:endParaRPr>
              <a:highlight>
                <a:srgbClr val="E6B8AF"/>
              </a:highlight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de-DE"/>
              <a:t>Solar: ~390 GW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de-DE"/>
              <a:t>Wind onshore: ~270 GW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de-DE">
                <a:highlight>
                  <a:srgbClr val="F6B26B"/>
                </a:highlight>
              </a:rPr>
              <a:t>Mazandaran:</a:t>
            </a:r>
            <a:endParaRPr>
              <a:highlight>
                <a:srgbClr val="F6B26B"/>
              </a:highlight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de-DE"/>
              <a:t>Solar:  ~21 GW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de-DE"/>
              <a:t>Wind onshore: ~0.8 GW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de-DE">
                <a:highlight>
                  <a:srgbClr val="7FFFD4"/>
                </a:highlight>
              </a:rPr>
              <a:t>Persian Gulf:</a:t>
            </a:r>
            <a:endParaRPr>
              <a:highlight>
                <a:srgbClr val="7FFFD4"/>
              </a:highlight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de-DE"/>
              <a:t>Wind offshore: </a:t>
            </a:r>
            <a:r>
              <a:rPr lang="de-DE"/>
              <a:t>~92 GW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de-DE">
                <a:highlight>
                  <a:srgbClr val="7FFFD4"/>
                </a:highlight>
              </a:rPr>
              <a:t>Caspian Sea:</a:t>
            </a:r>
            <a:endParaRPr>
              <a:highlight>
                <a:srgbClr val="7FFFD4"/>
              </a:highlight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de-DE"/>
              <a:t>Wind offshore: ~6 GW</a:t>
            </a:r>
            <a:endParaRPr/>
          </a:p>
        </p:txBody>
      </p:sp>
      <p:sp>
        <p:nvSpPr>
          <p:cNvPr id="172" name="Google Shape;172;g3c2b2f75b73_0_0"/>
          <p:cNvSpPr txBox="1"/>
          <p:nvPr/>
        </p:nvSpPr>
        <p:spPr>
          <a:xfrm>
            <a:off x="4629125" y="5048175"/>
            <a:ext cx="1602900" cy="3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900">
                <a:highlight>
                  <a:srgbClr val="4A86E8"/>
                </a:highlight>
              </a:rPr>
              <a:t>Sistan and Baluchestan</a:t>
            </a:r>
            <a:endParaRPr sz="900">
              <a:highlight>
                <a:srgbClr val="4A86E8"/>
              </a:highlight>
            </a:endParaRPr>
          </a:p>
        </p:txBody>
      </p:sp>
      <p:sp>
        <p:nvSpPr>
          <p:cNvPr id="173" name="Google Shape;173;g3c2b2f75b73_0_0"/>
          <p:cNvSpPr txBox="1"/>
          <p:nvPr/>
        </p:nvSpPr>
        <p:spPr>
          <a:xfrm>
            <a:off x="2489075" y="2111575"/>
            <a:ext cx="1602900" cy="3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900">
                <a:highlight>
                  <a:srgbClr val="F6B26B"/>
                </a:highlight>
              </a:rPr>
              <a:t>Mazandaran</a:t>
            </a:r>
            <a:endParaRPr sz="900">
              <a:highlight>
                <a:srgbClr val="F6B26B"/>
              </a:highlight>
            </a:endParaRPr>
          </a:p>
        </p:txBody>
      </p:sp>
      <p:sp>
        <p:nvSpPr>
          <p:cNvPr id="174" name="Google Shape;174;g3c2b2f75b73_0_0"/>
          <p:cNvSpPr txBox="1"/>
          <p:nvPr/>
        </p:nvSpPr>
        <p:spPr>
          <a:xfrm>
            <a:off x="3954950" y="3814575"/>
            <a:ext cx="1602900" cy="3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900">
                <a:highlight>
                  <a:srgbClr val="E6B8AF"/>
                </a:highlight>
              </a:rPr>
              <a:t>Kerman</a:t>
            </a:r>
            <a:endParaRPr sz="900">
              <a:highlight>
                <a:srgbClr val="E6B8AF"/>
              </a:highlight>
            </a:endParaRPr>
          </a:p>
        </p:txBody>
      </p:sp>
      <p:sp>
        <p:nvSpPr>
          <p:cNvPr id="175" name="Google Shape;175;g3c2b2f75b73_0_0"/>
          <p:cNvSpPr txBox="1"/>
          <p:nvPr/>
        </p:nvSpPr>
        <p:spPr>
          <a:xfrm>
            <a:off x="1828500" y="4720875"/>
            <a:ext cx="842700" cy="3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900">
                <a:highlight>
                  <a:srgbClr val="7FFFD4"/>
                </a:highlight>
              </a:rPr>
              <a:t>Persian Gulf</a:t>
            </a:r>
            <a:endParaRPr sz="900">
              <a:highlight>
                <a:srgbClr val="7FFFD4"/>
              </a:highlight>
            </a:endParaRPr>
          </a:p>
        </p:txBody>
      </p:sp>
      <p:sp>
        <p:nvSpPr>
          <p:cNvPr id="176" name="Google Shape;176;g3c2b2f75b73_0_0"/>
          <p:cNvSpPr txBox="1"/>
          <p:nvPr/>
        </p:nvSpPr>
        <p:spPr>
          <a:xfrm>
            <a:off x="2146050" y="1784275"/>
            <a:ext cx="842700" cy="3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900">
                <a:highlight>
                  <a:srgbClr val="7FFFD4"/>
                </a:highlight>
              </a:rPr>
              <a:t>Caspian Sea</a:t>
            </a:r>
            <a:endParaRPr sz="900">
              <a:highlight>
                <a:srgbClr val="7FFFD4"/>
              </a:highlight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c25cd92e60_0_12"/>
          <p:cNvSpPr txBox="1"/>
          <p:nvPr>
            <p:ph idx="3" type="body"/>
          </p:nvPr>
        </p:nvSpPr>
        <p:spPr>
          <a:xfrm>
            <a:off x="555867" y="396545"/>
            <a:ext cx="8311800" cy="717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C40D1E"/>
              </a:buClr>
              <a:buSzPts val="2400"/>
              <a:buNone/>
            </a:pPr>
            <a:r>
              <a:rPr b="1" lang="de-DE"/>
              <a:t>Inputs - Load Time Series</a:t>
            </a:r>
            <a:endParaRPr b="1"/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C40D1E"/>
              </a:buClr>
              <a:buSzPts val="2400"/>
              <a:buNone/>
            </a:pPr>
            <a:r>
              <a:t/>
            </a:r>
            <a:endParaRPr b="1"/>
          </a:p>
        </p:txBody>
      </p:sp>
      <p:sp>
        <p:nvSpPr>
          <p:cNvPr id="182" name="Google Shape;182;g3c25cd92e60_0_12"/>
          <p:cNvSpPr txBox="1"/>
          <p:nvPr/>
        </p:nvSpPr>
        <p:spPr>
          <a:xfrm>
            <a:off x="1577575" y="6340075"/>
            <a:ext cx="5328000" cy="327300"/>
          </a:xfrm>
          <a:prstGeom prst="rect">
            <a:avLst/>
          </a:prstGeom>
          <a:solidFill>
            <a:srgbClr val="C40D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>
                <a:solidFill>
                  <a:schemeClr val="lt1"/>
                </a:solidFill>
              </a:rPr>
              <a:t>Group A | Iran RES Grid Modelling | DSESM | 5th Feb 2026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183" name="Google Shape;183;g3c25cd92e60_0_12" title="Load Time Series Daily.png"/>
          <p:cNvPicPr preferRelativeResize="0"/>
          <p:nvPr/>
        </p:nvPicPr>
        <p:blipFill rotWithShape="1">
          <a:blip r:embed="rId3">
            <a:alphaModFix/>
          </a:blip>
          <a:srcRect b="0" l="0" r="6384" t="0"/>
          <a:stretch/>
        </p:blipFill>
        <p:spPr>
          <a:xfrm>
            <a:off x="555876" y="1285875"/>
            <a:ext cx="11139650" cy="428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c2b2f75b73_0_156"/>
          <p:cNvSpPr txBox="1"/>
          <p:nvPr>
            <p:ph idx="3" type="body"/>
          </p:nvPr>
        </p:nvSpPr>
        <p:spPr>
          <a:xfrm>
            <a:off x="555867" y="396545"/>
            <a:ext cx="8311800" cy="717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C40D1E"/>
              </a:buClr>
              <a:buSzPts val="2400"/>
              <a:buNone/>
            </a:pPr>
            <a:r>
              <a:rPr b="1" lang="de-DE"/>
              <a:t>Inputs - Regional Load Distribution</a:t>
            </a:r>
            <a:endParaRPr b="1"/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C40D1E"/>
              </a:buClr>
              <a:buSzPts val="2400"/>
              <a:buNone/>
            </a:pPr>
            <a:r>
              <a:t/>
            </a:r>
            <a:endParaRPr b="1"/>
          </a:p>
        </p:txBody>
      </p:sp>
      <p:sp>
        <p:nvSpPr>
          <p:cNvPr id="189" name="Google Shape;189;g3c2b2f75b73_0_156"/>
          <p:cNvSpPr txBox="1"/>
          <p:nvPr/>
        </p:nvSpPr>
        <p:spPr>
          <a:xfrm>
            <a:off x="1577575" y="6340075"/>
            <a:ext cx="5328000" cy="327300"/>
          </a:xfrm>
          <a:prstGeom prst="rect">
            <a:avLst/>
          </a:prstGeom>
          <a:solidFill>
            <a:srgbClr val="C40D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>
                <a:solidFill>
                  <a:schemeClr val="lt1"/>
                </a:solidFill>
              </a:rPr>
              <a:t>Group A | Iran RES Grid Modelling | DSESM | 5th Feb 2026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190" name="Google Shape;190;g3c2b2f75b73_0_156" title="Yearly Load Distributio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5875" y="926463"/>
            <a:ext cx="5591000" cy="5005073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g3c2b2f75b73_0_156"/>
          <p:cNvSpPr txBox="1"/>
          <p:nvPr/>
        </p:nvSpPr>
        <p:spPr>
          <a:xfrm>
            <a:off x="6146875" y="1784275"/>
            <a:ext cx="4729500" cy="410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de-DE"/>
              <a:t>Load time series (from 2013 projected to 2030)</a:t>
            </a:r>
            <a:endParaRPr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de-DE"/>
              <a:t>Electricity demand of ~424 TWh/a</a:t>
            </a:r>
            <a:endParaRPr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de-DE"/>
              <a:t>Assumption: Distributed to regions, based on population</a:t>
            </a:r>
            <a:endParaRPr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de-DE"/>
              <a:t>Load per Region ranges between: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de-DE">
                <a:solidFill>
                  <a:srgbClr val="FFFFFF"/>
                </a:solidFill>
                <a:highlight>
                  <a:srgbClr val="980000"/>
                </a:highlight>
              </a:rPr>
              <a:t>Tehran: </a:t>
            </a:r>
            <a:r>
              <a:rPr lang="de-DE"/>
              <a:t>				~71 TWh/a</a:t>
            </a:r>
            <a:endParaRPr sz="1000"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de-DE"/>
              <a:t>…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de-DE">
                <a:solidFill>
                  <a:srgbClr val="FFFFFF"/>
                </a:solidFill>
                <a:highlight>
                  <a:srgbClr val="274E13"/>
                </a:highlight>
              </a:rPr>
              <a:t>Sistan and Baluchestan:</a:t>
            </a:r>
            <a:r>
              <a:rPr lang="de-DE"/>
              <a:t>	~16 TWh/a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de-DE"/>
              <a:t>…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de-DE">
                <a:solidFill>
                  <a:srgbClr val="FFFFFF"/>
                </a:solidFill>
                <a:highlight>
                  <a:srgbClr val="4C1130"/>
                </a:highlight>
              </a:rPr>
              <a:t>Ilam: </a:t>
            </a:r>
            <a:r>
              <a:rPr lang="de-DE"/>
              <a:t>					~3 TWh/a</a:t>
            </a:r>
            <a:endParaRPr sz="1000"/>
          </a:p>
        </p:txBody>
      </p:sp>
      <p:sp>
        <p:nvSpPr>
          <p:cNvPr id="192" name="Google Shape;192;g3c2b2f75b73_0_156"/>
          <p:cNvSpPr txBox="1"/>
          <p:nvPr/>
        </p:nvSpPr>
        <p:spPr>
          <a:xfrm>
            <a:off x="2576500" y="2574125"/>
            <a:ext cx="842700" cy="3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000">
                <a:solidFill>
                  <a:schemeClr val="lt1"/>
                </a:solidFill>
                <a:highlight>
                  <a:srgbClr val="980000"/>
                </a:highlight>
              </a:rPr>
              <a:t>Tehran</a:t>
            </a:r>
            <a:endParaRPr sz="1000">
              <a:solidFill>
                <a:schemeClr val="lt1"/>
              </a:solidFill>
              <a:highlight>
                <a:srgbClr val="980000"/>
              </a:highlight>
            </a:endParaRPr>
          </a:p>
        </p:txBody>
      </p:sp>
      <p:sp>
        <p:nvSpPr>
          <p:cNvPr id="193" name="Google Shape;193;g3c2b2f75b73_0_156"/>
          <p:cNvSpPr txBox="1"/>
          <p:nvPr/>
        </p:nvSpPr>
        <p:spPr>
          <a:xfrm>
            <a:off x="764017" y="3265350"/>
            <a:ext cx="842700" cy="3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000">
                <a:solidFill>
                  <a:schemeClr val="lt1"/>
                </a:solidFill>
                <a:highlight>
                  <a:srgbClr val="4C1130"/>
                </a:highlight>
              </a:rPr>
              <a:t>Ilam</a:t>
            </a:r>
            <a:endParaRPr sz="1000">
              <a:solidFill>
                <a:schemeClr val="lt1"/>
              </a:solidFill>
              <a:highlight>
                <a:srgbClr val="4C1130"/>
              </a:highlight>
            </a:endParaRPr>
          </a:p>
        </p:txBody>
      </p:sp>
      <p:sp>
        <p:nvSpPr>
          <p:cNvPr id="194" name="Google Shape;194;g3c2b2f75b73_0_156"/>
          <p:cNvSpPr txBox="1"/>
          <p:nvPr/>
        </p:nvSpPr>
        <p:spPr>
          <a:xfrm>
            <a:off x="4370225" y="4727625"/>
            <a:ext cx="1671900" cy="3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000">
                <a:solidFill>
                  <a:schemeClr val="lt1"/>
                </a:solidFill>
                <a:highlight>
                  <a:srgbClr val="274E13"/>
                </a:highlight>
              </a:rPr>
              <a:t>Sistan and Baluchestan</a:t>
            </a:r>
            <a:endParaRPr sz="1000">
              <a:solidFill>
                <a:schemeClr val="lt1"/>
              </a:solidFill>
              <a:highlight>
                <a:srgbClr val="274E13"/>
              </a:highlight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c2b2f75b73_0_57"/>
          <p:cNvSpPr txBox="1"/>
          <p:nvPr/>
        </p:nvSpPr>
        <p:spPr>
          <a:xfrm>
            <a:off x="550800" y="3019615"/>
            <a:ext cx="99579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lang="de-DE" sz="4300">
                <a:solidFill>
                  <a:schemeClr val="lt1"/>
                </a:solidFill>
              </a:rPr>
              <a:t>Model Results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g3c2b2f75b73_0_57"/>
          <p:cNvSpPr txBox="1"/>
          <p:nvPr/>
        </p:nvSpPr>
        <p:spPr>
          <a:xfrm>
            <a:off x="550801" y="5723828"/>
            <a:ext cx="11012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de-DE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Group </a:t>
            </a:r>
            <a:r>
              <a:rPr lang="de-DE" sz="1800">
                <a:solidFill>
                  <a:schemeClr val="lt1"/>
                </a:solidFill>
              </a:rPr>
              <a:t>A</a:t>
            </a:r>
            <a:r>
              <a:rPr b="0" i="0" lang="de-DE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| February </a:t>
            </a:r>
            <a:r>
              <a:rPr lang="de-DE" sz="1800">
                <a:solidFill>
                  <a:schemeClr val="lt1"/>
                </a:solidFill>
              </a:rPr>
              <a:t>5</a:t>
            </a:r>
            <a:r>
              <a:rPr b="0" baseline="30000" i="0" lang="de-DE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</a:t>
            </a:r>
            <a:r>
              <a:rPr b="0" i="0" lang="de-DE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, 2026 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g3c2b2f75b73_0_57"/>
          <p:cNvSpPr txBox="1"/>
          <p:nvPr/>
        </p:nvSpPr>
        <p:spPr>
          <a:xfrm>
            <a:off x="550801" y="6159639"/>
            <a:ext cx="11012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de-DE" sz="1800">
                <a:solidFill>
                  <a:schemeClr val="lt1"/>
                </a:solidFill>
              </a:rPr>
              <a:t>Data Science for Energy System Modelling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933251713c_1_2"/>
          <p:cNvSpPr txBox="1"/>
          <p:nvPr>
            <p:ph idx="3" type="body"/>
          </p:nvPr>
        </p:nvSpPr>
        <p:spPr>
          <a:xfrm>
            <a:off x="555867" y="396545"/>
            <a:ext cx="8311800" cy="717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C40D1E"/>
              </a:buClr>
              <a:buSzPts val="2400"/>
              <a:buNone/>
            </a:pPr>
            <a:r>
              <a:rPr b="1" lang="de-DE"/>
              <a:t>Results</a:t>
            </a:r>
            <a:r>
              <a:rPr b="1" lang="de-DE"/>
              <a:t> - Total System Costs</a:t>
            </a:r>
            <a:endParaRPr b="1"/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C40D1E"/>
              </a:buClr>
              <a:buSzPts val="2400"/>
              <a:buNone/>
            </a:pPr>
            <a:r>
              <a:t/>
            </a:r>
            <a:endParaRPr b="1"/>
          </a:p>
        </p:txBody>
      </p:sp>
      <p:sp>
        <p:nvSpPr>
          <p:cNvPr id="208" name="Google Shape;208;g3933251713c_1_2"/>
          <p:cNvSpPr txBox="1"/>
          <p:nvPr/>
        </p:nvSpPr>
        <p:spPr>
          <a:xfrm>
            <a:off x="1577575" y="6340075"/>
            <a:ext cx="5328000" cy="327300"/>
          </a:xfrm>
          <a:prstGeom prst="rect">
            <a:avLst/>
          </a:prstGeom>
          <a:solidFill>
            <a:srgbClr val="C40D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>
                <a:solidFill>
                  <a:schemeClr val="lt1"/>
                </a:solidFill>
              </a:rPr>
              <a:t>Group A | Iran RES Grid Modelling | DSESM | 5th Feb 2026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209" name="Google Shape;209;g3933251713c_1_2" title="Total System Cost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5117" y="968275"/>
            <a:ext cx="8151325" cy="4872626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g3933251713c_1_2"/>
          <p:cNvSpPr txBox="1"/>
          <p:nvPr/>
        </p:nvSpPr>
        <p:spPr>
          <a:xfrm>
            <a:off x="6478175" y="3263052"/>
            <a:ext cx="4729500" cy="229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de-DE"/>
              <a:t>High opex of CCGT in base case (with CO2)</a:t>
            </a:r>
            <a:endParaRPr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de-DE"/>
              <a:t>Existing Capacities (CCGT, Oil, Nuclear) always built, but no dispatch of CCGT and Oil in “No CO2”</a:t>
            </a:r>
            <a:endParaRPr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de-DE"/>
              <a:t>Higher RE capacities require more grid investment, and also more storages</a:t>
            </a:r>
            <a:endParaRPr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de-DE"/>
              <a:t>onshore wind technology only required with CO2 Limitations</a:t>
            </a:r>
            <a:endParaRPr/>
          </a:p>
        </p:txBody>
      </p:sp>
      <p:sp>
        <p:nvSpPr>
          <p:cNvPr id="211" name="Google Shape;211;g3933251713c_1_2"/>
          <p:cNvSpPr txBox="1"/>
          <p:nvPr/>
        </p:nvSpPr>
        <p:spPr>
          <a:xfrm>
            <a:off x="2194275" y="4001869"/>
            <a:ext cx="684300" cy="3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900"/>
              <a:t>4.71</a:t>
            </a:r>
            <a:endParaRPr sz="900"/>
          </a:p>
        </p:txBody>
      </p:sp>
      <p:sp>
        <p:nvSpPr>
          <p:cNvPr id="212" name="Google Shape;212;g3933251713c_1_2"/>
          <p:cNvSpPr txBox="1"/>
          <p:nvPr/>
        </p:nvSpPr>
        <p:spPr>
          <a:xfrm>
            <a:off x="2194275" y="3679804"/>
            <a:ext cx="684300" cy="3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900">
                <a:highlight>
                  <a:srgbClr val="9ACD32"/>
                </a:highlight>
              </a:rPr>
              <a:t>1.31</a:t>
            </a:r>
            <a:endParaRPr sz="900">
              <a:highlight>
                <a:srgbClr val="9ACD32"/>
              </a:highlight>
            </a:endParaRPr>
          </a:p>
        </p:txBody>
      </p:sp>
      <p:sp>
        <p:nvSpPr>
          <p:cNvPr id="213" name="Google Shape;213;g3933251713c_1_2"/>
          <p:cNvSpPr txBox="1"/>
          <p:nvPr/>
        </p:nvSpPr>
        <p:spPr>
          <a:xfrm>
            <a:off x="2194275" y="5236320"/>
            <a:ext cx="684300" cy="3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900"/>
              <a:t>4.07</a:t>
            </a:r>
            <a:endParaRPr sz="900"/>
          </a:p>
        </p:txBody>
      </p:sp>
      <p:sp>
        <p:nvSpPr>
          <p:cNvPr id="214" name="Google Shape;214;g3933251713c_1_2"/>
          <p:cNvSpPr txBox="1"/>
          <p:nvPr/>
        </p:nvSpPr>
        <p:spPr>
          <a:xfrm>
            <a:off x="4467650" y="5236320"/>
            <a:ext cx="684300" cy="3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900"/>
              <a:t>4.07</a:t>
            </a:r>
            <a:endParaRPr sz="900"/>
          </a:p>
        </p:txBody>
      </p:sp>
      <p:sp>
        <p:nvSpPr>
          <p:cNvPr id="215" name="Google Shape;215;g3933251713c_1_2"/>
          <p:cNvSpPr txBox="1"/>
          <p:nvPr/>
        </p:nvSpPr>
        <p:spPr>
          <a:xfrm>
            <a:off x="1837424" y="4685188"/>
            <a:ext cx="1398000" cy="3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900"/>
              <a:t>10.54 (CCGT Opex)</a:t>
            </a:r>
            <a:endParaRPr sz="900"/>
          </a:p>
        </p:txBody>
      </p:sp>
      <p:sp>
        <p:nvSpPr>
          <p:cNvPr id="216" name="Google Shape;216;g3933251713c_1_2"/>
          <p:cNvSpPr txBox="1"/>
          <p:nvPr/>
        </p:nvSpPr>
        <p:spPr>
          <a:xfrm>
            <a:off x="4467650" y="4278325"/>
            <a:ext cx="684300" cy="3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900"/>
              <a:t>15.02</a:t>
            </a:r>
            <a:endParaRPr sz="900"/>
          </a:p>
        </p:txBody>
      </p:sp>
      <p:sp>
        <p:nvSpPr>
          <p:cNvPr id="217" name="Google Shape;217;g3933251713c_1_2"/>
          <p:cNvSpPr txBox="1"/>
          <p:nvPr/>
        </p:nvSpPr>
        <p:spPr>
          <a:xfrm>
            <a:off x="4467650" y="4920282"/>
            <a:ext cx="684300" cy="3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900"/>
              <a:t>2.36</a:t>
            </a:r>
            <a:endParaRPr sz="900"/>
          </a:p>
        </p:txBody>
      </p:sp>
      <p:sp>
        <p:nvSpPr>
          <p:cNvPr id="218" name="Google Shape;218;g3933251713c_1_2"/>
          <p:cNvSpPr txBox="1"/>
          <p:nvPr/>
        </p:nvSpPr>
        <p:spPr>
          <a:xfrm>
            <a:off x="4467650" y="3584256"/>
            <a:ext cx="684300" cy="3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900">
                <a:solidFill>
                  <a:schemeClr val="lt1"/>
                </a:solidFill>
              </a:rPr>
              <a:t>3.11</a:t>
            </a:r>
            <a:endParaRPr sz="900">
              <a:solidFill>
                <a:schemeClr val="lt1"/>
              </a:solidFill>
            </a:endParaRPr>
          </a:p>
        </p:txBody>
      </p:sp>
      <p:sp>
        <p:nvSpPr>
          <p:cNvPr id="219" name="Google Shape;219;g3933251713c_1_2"/>
          <p:cNvSpPr txBox="1"/>
          <p:nvPr/>
        </p:nvSpPr>
        <p:spPr>
          <a:xfrm>
            <a:off x="4134050" y="1985975"/>
            <a:ext cx="1351500" cy="3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de-DE" sz="1100"/>
              <a:t>43.7 bn€/a</a:t>
            </a:r>
            <a:endParaRPr b="1" sz="1100"/>
          </a:p>
        </p:txBody>
      </p:sp>
      <p:sp>
        <p:nvSpPr>
          <p:cNvPr id="220" name="Google Shape;220;g3933251713c_1_2"/>
          <p:cNvSpPr txBox="1"/>
          <p:nvPr/>
        </p:nvSpPr>
        <p:spPr>
          <a:xfrm>
            <a:off x="1884525" y="3391819"/>
            <a:ext cx="1303800" cy="3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de-DE" sz="1100"/>
              <a:t>23.4 bn€/a</a:t>
            </a:r>
            <a:endParaRPr b="1" sz="1100"/>
          </a:p>
        </p:txBody>
      </p:sp>
      <p:cxnSp>
        <p:nvCxnSpPr>
          <p:cNvPr id="221" name="Google Shape;221;g3933251713c_1_2"/>
          <p:cNvCxnSpPr/>
          <p:nvPr/>
        </p:nvCxnSpPr>
        <p:spPr>
          <a:xfrm rot="10800000">
            <a:off x="3516800" y="2313282"/>
            <a:ext cx="3600" cy="15096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22" name="Google Shape;222;g3933251713c_1_2"/>
          <p:cNvSpPr txBox="1"/>
          <p:nvPr/>
        </p:nvSpPr>
        <p:spPr>
          <a:xfrm>
            <a:off x="1577573" y="2302549"/>
            <a:ext cx="2010600" cy="3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48899" lvl="0" marL="450000" rtl="0" algn="ctr">
              <a:spcBef>
                <a:spcPts val="0"/>
              </a:spcBef>
              <a:spcAft>
                <a:spcPts val="0"/>
              </a:spcAft>
              <a:buSzPts val="1400"/>
              <a:buChar char="+"/>
            </a:pPr>
            <a:r>
              <a:rPr b="1" lang="de-DE">
                <a:highlight>
                  <a:schemeClr val="lt2"/>
                </a:highlight>
              </a:rPr>
              <a:t>20.3 bn€/a</a:t>
            </a:r>
            <a:endParaRPr b="1">
              <a:highlight>
                <a:schemeClr val="lt2"/>
              </a:highlight>
            </a:endParaRPr>
          </a:p>
        </p:txBody>
      </p:sp>
      <p:sp>
        <p:nvSpPr>
          <p:cNvPr id="223" name="Google Shape;223;g3933251713c_1_2"/>
          <p:cNvSpPr txBox="1"/>
          <p:nvPr/>
        </p:nvSpPr>
        <p:spPr>
          <a:xfrm>
            <a:off x="2194275" y="3818514"/>
            <a:ext cx="684300" cy="3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900">
                <a:solidFill>
                  <a:schemeClr val="lt1"/>
                </a:solidFill>
                <a:highlight>
                  <a:srgbClr val="000000"/>
                </a:highlight>
              </a:rPr>
              <a:t>0.63</a:t>
            </a:r>
            <a:endParaRPr sz="900">
              <a:solidFill>
                <a:schemeClr val="lt1"/>
              </a:solidFill>
              <a:highlight>
                <a:srgbClr val="000000"/>
              </a:highlight>
            </a:endParaRPr>
          </a:p>
        </p:txBody>
      </p:sp>
      <p:sp>
        <p:nvSpPr>
          <p:cNvPr id="224" name="Google Shape;224;g3933251713c_1_2"/>
          <p:cNvSpPr txBox="1"/>
          <p:nvPr/>
        </p:nvSpPr>
        <p:spPr>
          <a:xfrm>
            <a:off x="7207225" y="2603086"/>
            <a:ext cx="946800" cy="3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900"/>
              <a:t>(Grid Cost)</a:t>
            </a:r>
            <a:endParaRPr sz="900"/>
          </a:p>
        </p:txBody>
      </p:sp>
      <p:sp>
        <p:nvSpPr>
          <p:cNvPr id="225" name="Google Shape;225;g3933251713c_1_2"/>
          <p:cNvSpPr txBox="1"/>
          <p:nvPr/>
        </p:nvSpPr>
        <p:spPr>
          <a:xfrm>
            <a:off x="4467650" y="3033513"/>
            <a:ext cx="684300" cy="3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900"/>
              <a:t>13.17</a:t>
            </a:r>
            <a:endParaRPr sz="900"/>
          </a:p>
        </p:txBody>
      </p:sp>
      <p:sp>
        <p:nvSpPr>
          <p:cNvPr id="226" name="Google Shape;226;g3933251713c_1_2"/>
          <p:cNvSpPr txBox="1"/>
          <p:nvPr/>
        </p:nvSpPr>
        <p:spPr>
          <a:xfrm>
            <a:off x="4467650" y="2313017"/>
            <a:ext cx="684300" cy="3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900"/>
              <a:t>4.73</a:t>
            </a:r>
            <a:endParaRPr sz="9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1" name="Google Shape;231;g39337298d6a_0_21" title="Capacities Built per Technology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5875" y="975421"/>
            <a:ext cx="8180174" cy="4894824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g39337298d6a_0_21"/>
          <p:cNvSpPr txBox="1"/>
          <p:nvPr>
            <p:ph idx="3" type="body"/>
          </p:nvPr>
        </p:nvSpPr>
        <p:spPr>
          <a:xfrm>
            <a:off x="555867" y="396545"/>
            <a:ext cx="8311800" cy="717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C40D1E"/>
              </a:buClr>
              <a:buSzPts val="2400"/>
              <a:buNone/>
            </a:pPr>
            <a:r>
              <a:rPr b="1" lang="de-DE"/>
              <a:t>Results - Optimal Generation Capacity</a:t>
            </a:r>
            <a:endParaRPr b="1"/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C40D1E"/>
              </a:buClr>
              <a:buSzPts val="2400"/>
              <a:buNone/>
            </a:pPr>
            <a:r>
              <a:t/>
            </a:r>
            <a:endParaRPr b="1"/>
          </a:p>
        </p:txBody>
      </p:sp>
      <p:sp>
        <p:nvSpPr>
          <p:cNvPr id="233" name="Google Shape;233;g39337298d6a_0_21"/>
          <p:cNvSpPr txBox="1"/>
          <p:nvPr/>
        </p:nvSpPr>
        <p:spPr>
          <a:xfrm>
            <a:off x="1577575" y="6340075"/>
            <a:ext cx="5328000" cy="327300"/>
          </a:xfrm>
          <a:prstGeom prst="rect">
            <a:avLst/>
          </a:prstGeom>
          <a:solidFill>
            <a:srgbClr val="C40D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>
                <a:solidFill>
                  <a:schemeClr val="lt1"/>
                </a:solidFill>
              </a:rPr>
              <a:t>Group A | Iran RES Grid Modelling | DSESM | 5th Feb 2026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34" name="Google Shape;234;g39337298d6a_0_21"/>
          <p:cNvSpPr txBox="1"/>
          <p:nvPr/>
        </p:nvSpPr>
        <p:spPr>
          <a:xfrm>
            <a:off x="2073456" y="3798350"/>
            <a:ext cx="1013400" cy="3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de-DE" sz="1100"/>
              <a:t>146.4 GW</a:t>
            </a:r>
            <a:endParaRPr b="1" sz="1100"/>
          </a:p>
        </p:txBody>
      </p:sp>
      <p:sp>
        <p:nvSpPr>
          <p:cNvPr id="235" name="Google Shape;235;g39337298d6a_0_21"/>
          <p:cNvSpPr txBox="1"/>
          <p:nvPr/>
        </p:nvSpPr>
        <p:spPr>
          <a:xfrm>
            <a:off x="4319170" y="1172464"/>
            <a:ext cx="1013400" cy="3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de-DE" sz="1100"/>
              <a:t>423.7 GW</a:t>
            </a:r>
            <a:endParaRPr b="1" sz="1100"/>
          </a:p>
        </p:txBody>
      </p:sp>
      <p:sp>
        <p:nvSpPr>
          <p:cNvPr id="236" name="Google Shape;236;g39337298d6a_0_21"/>
          <p:cNvSpPr txBox="1"/>
          <p:nvPr/>
        </p:nvSpPr>
        <p:spPr>
          <a:xfrm>
            <a:off x="2237988" y="4529654"/>
            <a:ext cx="684300" cy="3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900"/>
              <a:t>74.6</a:t>
            </a:r>
            <a:endParaRPr sz="900"/>
          </a:p>
        </p:txBody>
      </p:sp>
      <p:sp>
        <p:nvSpPr>
          <p:cNvPr id="237" name="Google Shape;237;g39337298d6a_0_21"/>
          <p:cNvSpPr txBox="1"/>
          <p:nvPr/>
        </p:nvSpPr>
        <p:spPr>
          <a:xfrm>
            <a:off x="2237988" y="4163992"/>
            <a:ext cx="684300" cy="3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900">
                <a:highlight>
                  <a:srgbClr val="2F95EC"/>
                </a:highlight>
              </a:rPr>
              <a:t>1.1</a:t>
            </a:r>
            <a:endParaRPr sz="900">
              <a:highlight>
                <a:srgbClr val="2F95EC"/>
              </a:highlight>
            </a:endParaRPr>
          </a:p>
        </p:txBody>
      </p:sp>
      <p:sp>
        <p:nvSpPr>
          <p:cNvPr id="238" name="Google Shape;238;g39337298d6a_0_21"/>
          <p:cNvSpPr txBox="1"/>
          <p:nvPr/>
        </p:nvSpPr>
        <p:spPr>
          <a:xfrm>
            <a:off x="2237988" y="5223093"/>
            <a:ext cx="684300" cy="3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900"/>
              <a:t>37.7</a:t>
            </a:r>
            <a:endParaRPr sz="900"/>
          </a:p>
        </p:txBody>
      </p:sp>
      <p:sp>
        <p:nvSpPr>
          <p:cNvPr id="239" name="Google Shape;239;g39337298d6a_0_21"/>
          <p:cNvSpPr txBox="1"/>
          <p:nvPr/>
        </p:nvSpPr>
        <p:spPr>
          <a:xfrm>
            <a:off x="2237988" y="5002638"/>
            <a:ext cx="684300" cy="3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900"/>
              <a:t>11.3</a:t>
            </a:r>
            <a:endParaRPr sz="900"/>
          </a:p>
        </p:txBody>
      </p:sp>
      <p:sp>
        <p:nvSpPr>
          <p:cNvPr id="240" name="Google Shape;240;g39337298d6a_0_21"/>
          <p:cNvSpPr txBox="1"/>
          <p:nvPr/>
        </p:nvSpPr>
        <p:spPr>
          <a:xfrm>
            <a:off x="4483735" y="4076854"/>
            <a:ext cx="684300" cy="3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900"/>
              <a:t>238</a:t>
            </a:r>
            <a:endParaRPr sz="900"/>
          </a:p>
        </p:txBody>
      </p:sp>
      <p:sp>
        <p:nvSpPr>
          <p:cNvPr id="241" name="Google Shape;241;g39337298d6a_0_21"/>
          <p:cNvSpPr txBox="1"/>
          <p:nvPr/>
        </p:nvSpPr>
        <p:spPr>
          <a:xfrm>
            <a:off x="4483735" y="2394974"/>
            <a:ext cx="684300" cy="3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900"/>
              <a:t>22</a:t>
            </a:r>
            <a:endParaRPr sz="900"/>
          </a:p>
        </p:txBody>
      </p:sp>
      <p:sp>
        <p:nvSpPr>
          <p:cNvPr id="242" name="Google Shape;242;g39337298d6a_0_21"/>
          <p:cNvSpPr txBox="1"/>
          <p:nvPr/>
        </p:nvSpPr>
        <p:spPr>
          <a:xfrm>
            <a:off x="4483735" y="1338100"/>
            <a:ext cx="684300" cy="3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900"/>
              <a:t>7.9</a:t>
            </a:r>
            <a:endParaRPr sz="900"/>
          </a:p>
        </p:txBody>
      </p:sp>
      <p:sp>
        <p:nvSpPr>
          <p:cNvPr id="243" name="Google Shape;243;g39337298d6a_0_21"/>
          <p:cNvSpPr txBox="1"/>
          <p:nvPr/>
        </p:nvSpPr>
        <p:spPr>
          <a:xfrm>
            <a:off x="6478175" y="3089025"/>
            <a:ext cx="4729500" cy="26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de-DE"/>
              <a:t>Existing power plants (CCGT, oil, nuclear and hydro) are the same in both cases</a:t>
            </a:r>
            <a:endParaRPr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de-DE"/>
              <a:t>No dispatch of oil, and CCGT in “no CO2” case, therefore more renewable capacities, mostly solar and wind onshore</a:t>
            </a:r>
            <a:endParaRPr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de-DE"/>
              <a:t>As renewable capacity increases, there is more need for Storage (Battery and Hydrogen)</a:t>
            </a:r>
            <a:endParaRPr/>
          </a:p>
        </p:txBody>
      </p:sp>
      <p:sp>
        <p:nvSpPr>
          <p:cNvPr id="244" name="Google Shape;244;g39337298d6a_0_21"/>
          <p:cNvSpPr txBox="1"/>
          <p:nvPr/>
        </p:nvSpPr>
        <p:spPr>
          <a:xfrm>
            <a:off x="2237988" y="4876386"/>
            <a:ext cx="684300" cy="3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900">
                <a:solidFill>
                  <a:schemeClr val="lt1"/>
                </a:solidFill>
              </a:rPr>
              <a:t>10.7</a:t>
            </a:r>
            <a:endParaRPr sz="900">
              <a:solidFill>
                <a:schemeClr val="lt1"/>
              </a:solidFill>
            </a:endParaRPr>
          </a:p>
        </p:txBody>
      </p:sp>
      <p:sp>
        <p:nvSpPr>
          <p:cNvPr id="245" name="Google Shape;245;g39337298d6a_0_21"/>
          <p:cNvSpPr txBox="1"/>
          <p:nvPr/>
        </p:nvSpPr>
        <p:spPr>
          <a:xfrm>
            <a:off x="4483735" y="5209998"/>
            <a:ext cx="684300" cy="3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900"/>
              <a:t>37.7</a:t>
            </a:r>
            <a:endParaRPr sz="900"/>
          </a:p>
        </p:txBody>
      </p:sp>
      <p:sp>
        <p:nvSpPr>
          <p:cNvPr id="246" name="Google Shape;246;g39337298d6a_0_21"/>
          <p:cNvSpPr txBox="1"/>
          <p:nvPr/>
        </p:nvSpPr>
        <p:spPr>
          <a:xfrm>
            <a:off x="4483735" y="5007511"/>
            <a:ext cx="684300" cy="3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900"/>
              <a:t>11.3</a:t>
            </a:r>
            <a:endParaRPr sz="900"/>
          </a:p>
        </p:txBody>
      </p:sp>
      <p:sp>
        <p:nvSpPr>
          <p:cNvPr id="247" name="Google Shape;247;g39337298d6a_0_21"/>
          <p:cNvSpPr txBox="1"/>
          <p:nvPr/>
        </p:nvSpPr>
        <p:spPr>
          <a:xfrm>
            <a:off x="4483735" y="4881258"/>
            <a:ext cx="684300" cy="3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900">
                <a:solidFill>
                  <a:schemeClr val="lt1"/>
                </a:solidFill>
              </a:rPr>
              <a:t>10.7</a:t>
            </a:r>
            <a:endParaRPr sz="900">
              <a:solidFill>
                <a:schemeClr val="lt1"/>
              </a:solidFill>
            </a:endParaRPr>
          </a:p>
        </p:txBody>
      </p:sp>
      <p:sp>
        <p:nvSpPr>
          <p:cNvPr id="248" name="Google Shape;248;g39337298d6a_0_21"/>
          <p:cNvSpPr txBox="1"/>
          <p:nvPr/>
        </p:nvSpPr>
        <p:spPr>
          <a:xfrm>
            <a:off x="2237988" y="4042242"/>
            <a:ext cx="684300" cy="3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900"/>
              <a:t>9.8</a:t>
            </a:r>
            <a:endParaRPr sz="900"/>
          </a:p>
        </p:txBody>
      </p:sp>
      <p:sp>
        <p:nvSpPr>
          <p:cNvPr id="249" name="Google Shape;249;g39337298d6a_0_21"/>
          <p:cNvSpPr txBox="1"/>
          <p:nvPr/>
        </p:nvSpPr>
        <p:spPr>
          <a:xfrm>
            <a:off x="4483735" y="1813632"/>
            <a:ext cx="684300" cy="3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900"/>
              <a:t>95.1</a:t>
            </a:r>
            <a:endParaRPr sz="900"/>
          </a:p>
        </p:txBody>
      </p:sp>
      <p:sp>
        <p:nvSpPr>
          <p:cNvPr id="250" name="Google Shape;250;g39337298d6a_0_21"/>
          <p:cNvSpPr txBox="1"/>
          <p:nvPr/>
        </p:nvSpPr>
        <p:spPr>
          <a:xfrm>
            <a:off x="2567013" y="4939447"/>
            <a:ext cx="684300" cy="3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900">
                <a:highlight>
                  <a:srgbClr val="40E0D0"/>
                </a:highlight>
              </a:rPr>
              <a:t>1</a:t>
            </a:r>
            <a:endParaRPr sz="900">
              <a:highlight>
                <a:srgbClr val="40E0D0"/>
              </a:highlight>
            </a:endParaRPr>
          </a:p>
        </p:txBody>
      </p:sp>
      <p:sp>
        <p:nvSpPr>
          <p:cNvPr id="251" name="Google Shape;251;g39337298d6a_0_21"/>
          <p:cNvSpPr txBox="1"/>
          <p:nvPr/>
        </p:nvSpPr>
        <p:spPr>
          <a:xfrm>
            <a:off x="4763176" y="4940907"/>
            <a:ext cx="684300" cy="3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900">
                <a:highlight>
                  <a:srgbClr val="40E0D0"/>
                </a:highlight>
              </a:rPr>
              <a:t>1</a:t>
            </a:r>
            <a:endParaRPr sz="900">
              <a:highlight>
                <a:srgbClr val="40E0D0"/>
              </a:highlight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c2abf05fc0_0_16"/>
          <p:cNvSpPr txBox="1"/>
          <p:nvPr>
            <p:ph idx="3" type="body"/>
          </p:nvPr>
        </p:nvSpPr>
        <p:spPr>
          <a:xfrm>
            <a:off x="555867" y="396545"/>
            <a:ext cx="8311800" cy="717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C40D1E"/>
              </a:buClr>
              <a:buSzPts val="2400"/>
              <a:buNone/>
            </a:pPr>
            <a:r>
              <a:rPr b="1" lang="de-DE"/>
              <a:t>Results - Optimal Generation Capacity per Region</a:t>
            </a:r>
            <a:endParaRPr b="1"/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C40D1E"/>
              </a:buClr>
              <a:buSzPts val="2400"/>
              <a:buNone/>
            </a:pPr>
            <a:r>
              <a:t/>
            </a:r>
            <a:endParaRPr b="1"/>
          </a:p>
        </p:txBody>
      </p:sp>
      <p:sp>
        <p:nvSpPr>
          <p:cNvPr id="257" name="Google Shape;257;g3c2abf05fc0_0_16"/>
          <p:cNvSpPr txBox="1"/>
          <p:nvPr/>
        </p:nvSpPr>
        <p:spPr>
          <a:xfrm>
            <a:off x="1577575" y="6340075"/>
            <a:ext cx="5328000" cy="327300"/>
          </a:xfrm>
          <a:prstGeom prst="rect">
            <a:avLst/>
          </a:prstGeom>
          <a:solidFill>
            <a:srgbClr val="C40D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>
                <a:solidFill>
                  <a:schemeClr val="lt1"/>
                </a:solidFill>
              </a:rPr>
              <a:t>Group A | Iran RES Grid Modelling | DSESM | 5th Feb 2026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258" name="Google Shape;258;g3c2abf05fc0_0_16" title="Optimal Generation Capacity with co2 limit of 0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46900" y="968270"/>
            <a:ext cx="5591012" cy="492143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g3c2abf05fc0_0_16" title="Optimal Generation Capacity without co2 limit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5887" y="968283"/>
            <a:ext cx="5591012" cy="49214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c2ccbd064a_0_131"/>
          <p:cNvSpPr txBox="1"/>
          <p:nvPr>
            <p:ph idx="3" type="body"/>
          </p:nvPr>
        </p:nvSpPr>
        <p:spPr>
          <a:xfrm>
            <a:off x="555867" y="396545"/>
            <a:ext cx="8311800" cy="717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C40D1E"/>
              </a:buClr>
              <a:buSzPts val="2400"/>
              <a:buNone/>
            </a:pPr>
            <a:r>
              <a:rPr b="1" lang="de-DE"/>
              <a:t>Results - Electricity Mix</a:t>
            </a:r>
            <a:endParaRPr b="1"/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C40D1E"/>
              </a:buClr>
              <a:buSzPts val="2400"/>
              <a:buNone/>
            </a:pPr>
            <a:r>
              <a:t/>
            </a:r>
            <a:endParaRPr b="1"/>
          </a:p>
        </p:txBody>
      </p:sp>
      <p:sp>
        <p:nvSpPr>
          <p:cNvPr id="265" name="Google Shape;265;g3c2ccbd064a_0_131"/>
          <p:cNvSpPr txBox="1"/>
          <p:nvPr/>
        </p:nvSpPr>
        <p:spPr>
          <a:xfrm>
            <a:off x="1577575" y="6340075"/>
            <a:ext cx="5328000" cy="327300"/>
          </a:xfrm>
          <a:prstGeom prst="rect">
            <a:avLst/>
          </a:prstGeom>
          <a:solidFill>
            <a:srgbClr val="C40D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>
                <a:solidFill>
                  <a:schemeClr val="lt1"/>
                </a:solidFill>
              </a:rPr>
              <a:t>Group A | Iran RES Grid Modelling | DSESM | 5th Feb 2026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266" name="Google Shape;266;g3c2ccbd064a_0_131" title="output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41850" y="1258904"/>
            <a:ext cx="4957149" cy="4340196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g3c2ccbd064a_0_131" title="Electricity Mix with CO2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5875" y="1327013"/>
            <a:ext cx="4801574" cy="4203976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g3c2ccbd064a_0_131"/>
          <p:cNvSpPr txBox="1"/>
          <p:nvPr/>
        </p:nvSpPr>
        <p:spPr>
          <a:xfrm>
            <a:off x="8983185" y="1655625"/>
            <a:ext cx="684300" cy="3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800">
                <a:solidFill>
                  <a:schemeClr val="dk1"/>
                </a:solidFill>
                <a:highlight>
                  <a:srgbClr val="43DCD3"/>
                </a:highlight>
              </a:rPr>
              <a:t>0.2%</a:t>
            </a:r>
            <a:endParaRPr sz="800">
              <a:solidFill>
                <a:schemeClr val="dk1"/>
              </a:solidFill>
              <a:highlight>
                <a:srgbClr val="43DCD3"/>
              </a:highlight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800">
                <a:solidFill>
                  <a:schemeClr val="dk1"/>
                </a:solidFill>
                <a:highlight>
                  <a:srgbClr val="43DCD3"/>
                </a:highlight>
              </a:rPr>
              <a:t>1 TWh</a:t>
            </a:r>
            <a:endParaRPr sz="800">
              <a:solidFill>
                <a:schemeClr val="dk1"/>
              </a:solidFill>
              <a:highlight>
                <a:srgbClr val="43DCD3"/>
              </a:highlight>
            </a:endParaRPr>
          </a:p>
        </p:txBody>
      </p:sp>
      <p:sp>
        <p:nvSpPr>
          <p:cNvPr id="269" name="Google Shape;269;g3c2ccbd064a_0_131"/>
          <p:cNvSpPr txBox="1"/>
          <p:nvPr/>
        </p:nvSpPr>
        <p:spPr>
          <a:xfrm>
            <a:off x="8519635" y="2021375"/>
            <a:ext cx="684300" cy="3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de-DE" sz="800">
                <a:solidFill>
                  <a:schemeClr val="lt1"/>
                </a:solidFill>
              </a:rPr>
              <a:t>5.4%</a:t>
            </a:r>
            <a:endParaRPr b="1" sz="8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de-DE" sz="800">
                <a:solidFill>
                  <a:schemeClr val="lt1"/>
                </a:solidFill>
              </a:rPr>
              <a:t>24 TWh</a:t>
            </a:r>
            <a:endParaRPr b="1" sz="800">
              <a:solidFill>
                <a:schemeClr val="lt1"/>
              </a:solidFill>
            </a:endParaRPr>
          </a:p>
        </p:txBody>
      </p:sp>
      <p:sp>
        <p:nvSpPr>
          <p:cNvPr id="270" name="Google Shape;270;g3c2ccbd064a_0_131"/>
          <p:cNvSpPr txBox="1"/>
          <p:nvPr/>
        </p:nvSpPr>
        <p:spPr>
          <a:xfrm>
            <a:off x="2168825" y="4356900"/>
            <a:ext cx="260700" cy="1788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chemeClr val="lt1"/>
              </a:solidFill>
            </a:endParaRPr>
          </a:p>
        </p:txBody>
      </p:sp>
      <p:sp>
        <p:nvSpPr>
          <p:cNvPr id="271" name="Google Shape;271;g3c2ccbd064a_0_131"/>
          <p:cNvSpPr txBox="1"/>
          <p:nvPr/>
        </p:nvSpPr>
        <p:spPr>
          <a:xfrm>
            <a:off x="2082986" y="5067541"/>
            <a:ext cx="1013400" cy="3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200"/>
              <a:t>~</a:t>
            </a:r>
            <a:r>
              <a:rPr b="1" lang="de-DE" sz="1200"/>
              <a:t>426</a:t>
            </a:r>
            <a:r>
              <a:rPr b="1" lang="de-DE" sz="1200"/>
              <a:t> TWh</a:t>
            </a:r>
            <a:endParaRPr b="1"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72" name="Google Shape;272;g3c2ccbd064a_0_131"/>
          <p:cNvSpPr txBox="1"/>
          <p:nvPr/>
        </p:nvSpPr>
        <p:spPr>
          <a:xfrm>
            <a:off x="8134292" y="5115862"/>
            <a:ext cx="1013400" cy="3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200"/>
              <a:t>~</a:t>
            </a:r>
            <a:r>
              <a:rPr b="1" lang="de-DE" sz="1200"/>
              <a:t>452</a:t>
            </a:r>
            <a:r>
              <a:rPr b="1" lang="de-DE" sz="1200"/>
              <a:t> TWh</a:t>
            </a:r>
            <a:endParaRPr b="1"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73" name="Google Shape;273;g3c2ccbd064a_0_131"/>
          <p:cNvSpPr txBox="1"/>
          <p:nvPr/>
        </p:nvSpPr>
        <p:spPr>
          <a:xfrm>
            <a:off x="3137507" y="3380588"/>
            <a:ext cx="684300" cy="3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de-DE" sz="800">
                <a:solidFill>
                  <a:schemeClr val="dk1"/>
                </a:solidFill>
                <a:highlight>
                  <a:srgbClr val="FF0000"/>
                </a:highlight>
              </a:rPr>
              <a:t>51.9%</a:t>
            </a:r>
            <a:endParaRPr b="1" sz="800">
              <a:solidFill>
                <a:schemeClr val="dk1"/>
              </a:solidFill>
              <a:highlight>
                <a:srgbClr val="FF0000"/>
              </a:highlight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de-DE" sz="800">
                <a:solidFill>
                  <a:schemeClr val="dk1"/>
                </a:solidFill>
                <a:highlight>
                  <a:srgbClr val="FF0000"/>
                </a:highlight>
              </a:rPr>
              <a:t>221</a:t>
            </a:r>
            <a:r>
              <a:rPr b="1" lang="de-DE" sz="800">
                <a:solidFill>
                  <a:schemeClr val="dk1"/>
                </a:solidFill>
                <a:highlight>
                  <a:srgbClr val="FF0000"/>
                </a:highlight>
              </a:rPr>
              <a:t> TWh</a:t>
            </a:r>
            <a:endParaRPr b="1" sz="800">
              <a:solidFill>
                <a:schemeClr val="dk1"/>
              </a:solidFill>
              <a:highlight>
                <a:srgbClr val="FF0000"/>
              </a:highlight>
            </a:endParaRPr>
          </a:p>
        </p:txBody>
      </p:sp>
      <p:sp>
        <p:nvSpPr>
          <p:cNvPr id="274" name="Google Shape;274;g3c2ccbd064a_0_131"/>
          <p:cNvSpPr txBox="1"/>
          <p:nvPr/>
        </p:nvSpPr>
        <p:spPr>
          <a:xfrm>
            <a:off x="8007988" y="4282646"/>
            <a:ext cx="684300" cy="3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de-DE" sz="800">
                <a:solidFill>
                  <a:schemeClr val="dk1"/>
                </a:solidFill>
                <a:highlight>
                  <a:srgbClr val="FFD700"/>
                </a:highlight>
              </a:rPr>
              <a:t>93.6%</a:t>
            </a:r>
            <a:endParaRPr b="1" sz="800">
              <a:solidFill>
                <a:schemeClr val="dk1"/>
              </a:solidFill>
              <a:highlight>
                <a:srgbClr val="FFD700"/>
              </a:highlight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de-DE" sz="800">
                <a:solidFill>
                  <a:schemeClr val="dk1"/>
                </a:solidFill>
                <a:highlight>
                  <a:srgbClr val="FFD700"/>
                </a:highlight>
              </a:rPr>
              <a:t>423</a:t>
            </a:r>
            <a:r>
              <a:rPr b="1" lang="de-DE" sz="800">
                <a:solidFill>
                  <a:schemeClr val="dk1"/>
                </a:solidFill>
                <a:highlight>
                  <a:srgbClr val="FFD700"/>
                </a:highlight>
              </a:rPr>
              <a:t> TWh</a:t>
            </a:r>
            <a:endParaRPr b="1" sz="800">
              <a:solidFill>
                <a:schemeClr val="dk1"/>
              </a:solidFill>
              <a:highlight>
                <a:srgbClr val="FFD700"/>
              </a:highlight>
            </a:endParaRPr>
          </a:p>
        </p:txBody>
      </p:sp>
      <p:sp>
        <p:nvSpPr>
          <p:cNvPr id="275" name="Google Shape;275;g3c2ccbd064a_0_131"/>
          <p:cNvSpPr txBox="1"/>
          <p:nvPr/>
        </p:nvSpPr>
        <p:spPr>
          <a:xfrm>
            <a:off x="8669800" y="2457275"/>
            <a:ext cx="251100" cy="1788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chemeClr val="lt1"/>
              </a:solidFill>
            </a:endParaRPr>
          </a:p>
        </p:txBody>
      </p:sp>
      <p:sp>
        <p:nvSpPr>
          <p:cNvPr id="276" name="Google Shape;276;g3c2ccbd064a_0_131"/>
          <p:cNvSpPr txBox="1"/>
          <p:nvPr/>
        </p:nvSpPr>
        <p:spPr>
          <a:xfrm>
            <a:off x="555875" y="5531003"/>
            <a:ext cx="99201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de-DE"/>
              <a:t>More generation than load mostly because of the losses in Storages</a:t>
            </a:r>
            <a:endParaRPr/>
          </a:p>
        </p:txBody>
      </p:sp>
      <p:sp>
        <p:nvSpPr>
          <p:cNvPr id="277" name="Google Shape;277;g3c2ccbd064a_0_131"/>
          <p:cNvSpPr txBox="1"/>
          <p:nvPr/>
        </p:nvSpPr>
        <p:spPr>
          <a:xfrm>
            <a:off x="1863942" y="4640544"/>
            <a:ext cx="684300" cy="3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de-DE" sz="800">
                <a:solidFill>
                  <a:schemeClr val="lt1"/>
                </a:solidFill>
              </a:rPr>
              <a:t>5.7%</a:t>
            </a:r>
            <a:endParaRPr b="1" sz="800">
              <a:solidFill>
                <a:schemeClr val="lt1"/>
              </a:solidFill>
            </a:endParaRPr>
          </a:p>
        </p:txBody>
      </p:sp>
      <p:sp>
        <p:nvSpPr>
          <p:cNvPr id="278" name="Google Shape;278;g3c2ccbd064a_0_131"/>
          <p:cNvSpPr txBox="1"/>
          <p:nvPr/>
        </p:nvSpPr>
        <p:spPr>
          <a:xfrm>
            <a:off x="1863942" y="4755544"/>
            <a:ext cx="684300" cy="3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de-DE" sz="800">
                <a:solidFill>
                  <a:schemeClr val="lt1"/>
                </a:solidFill>
              </a:rPr>
              <a:t>24 TWh</a:t>
            </a:r>
            <a:endParaRPr b="1" sz="800">
              <a:solidFill>
                <a:schemeClr val="lt1"/>
              </a:solidFill>
            </a:endParaRPr>
          </a:p>
        </p:txBody>
      </p:sp>
      <p:sp>
        <p:nvSpPr>
          <p:cNvPr id="279" name="Google Shape;279;g3c2ccbd064a_0_131"/>
          <p:cNvSpPr txBox="1"/>
          <p:nvPr/>
        </p:nvSpPr>
        <p:spPr>
          <a:xfrm>
            <a:off x="1179646" y="4672513"/>
            <a:ext cx="684300" cy="3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de-DE" sz="800">
                <a:solidFill>
                  <a:schemeClr val="lt1"/>
                </a:solidFill>
                <a:highlight>
                  <a:srgbClr val="A52A2A"/>
                </a:highlight>
              </a:rPr>
              <a:t>1.1%</a:t>
            </a:r>
            <a:endParaRPr b="1" sz="800">
              <a:solidFill>
                <a:schemeClr val="lt1"/>
              </a:solidFill>
              <a:highlight>
                <a:srgbClr val="A52A2A"/>
              </a:highlight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de-DE" sz="800">
                <a:solidFill>
                  <a:schemeClr val="lt1"/>
                </a:solidFill>
                <a:highlight>
                  <a:srgbClr val="A52A2A"/>
                </a:highlight>
              </a:rPr>
              <a:t>4.6 TWh</a:t>
            </a:r>
            <a:endParaRPr b="1" sz="800">
              <a:solidFill>
                <a:schemeClr val="lt1"/>
              </a:solidFill>
              <a:highlight>
                <a:srgbClr val="A52A2A"/>
              </a:highlight>
            </a:endParaRPr>
          </a:p>
        </p:txBody>
      </p:sp>
      <p:sp>
        <p:nvSpPr>
          <p:cNvPr id="280" name="Google Shape;280;g3c2ccbd064a_0_131"/>
          <p:cNvSpPr txBox="1"/>
          <p:nvPr/>
        </p:nvSpPr>
        <p:spPr>
          <a:xfrm>
            <a:off x="1245691" y="4230525"/>
            <a:ext cx="684300" cy="3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de-DE" sz="800">
                <a:solidFill>
                  <a:schemeClr val="dk1"/>
                </a:solidFill>
                <a:highlight>
                  <a:srgbClr val="1E90FF"/>
                </a:highlight>
              </a:rPr>
              <a:t>0.5</a:t>
            </a:r>
            <a:r>
              <a:rPr b="1" lang="de-DE" sz="800">
                <a:solidFill>
                  <a:schemeClr val="dk1"/>
                </a:solidFill>
                <a:highlight>
                  <a:srgbClr val="1E90FF"/>
                </a:highlight>
              </a:rPr>
              <a:t>%</a:t>
            </a:r>
            <a:endParaRPr b="1" sz="800">
              <a:solidFill>
                <a:schemeClr val="dk1"/>
              </a:solidFill>
              <a:highlight>
                <a:srgbClr val="1E90FF"/>
              </a:highlight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de-DE" sz="800">
                <a:solidFill>
                  <a:schemeClr val="dk1"/>
                </a:solidFill>
                <a:highlight>
                  <a:srgbClr val="1E90FF"/>
                </a:highlight>
              </a:rPr>
              <a:t>2.3 TWh</a:t>
            </a:r>
            <a:endParaRPr b="1" sz="800">
              <a:solidFill>
                <a:schemeClr val="dk1"/>
              </a:solidFill>
              <a:highlight>
                <a:srgbClr val="1E90FF"/>
              </a:highlight>
            </a:endParaRPr>
          </a:p>
        </p:txBody>
      </p:sp>
      <p:sp>
        <p:nvSpPr>
          <p:cNvPr id="281" name="Google Shape;281;g3c2ccbd064a_0_131"/>
          <p:cNvSpPr txBox="1"/>
          <p:nvPr/>
        </p:nvSpPr>
        <p:spPr>
          <a:xfrm>
            <a:off x="1356351" y="3028143"/>
            <a:ext cx="684300" cy="3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de-DE" sz="800">
                <a:solidFill>
                  <a:schemeClr val="dk1"/>
                </a:solidFill>
                <a:highlight>
                  <a:srgbClr val="FFD700"/>
                </a:highlight>
              </a:rPr>
              <a:t>38.9%</a:t>
            </a:r>
            <a:endParaRPr b="1" sz="800">
              <a:solidFill>
                <a:schemeClr val="dk1"/>
              </a:solidFill>
              <a:highlight>
                <a:srgbClr val="FFD700"/>
              </a:highlight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de-DE" sz="800">
                <a:solidFill>
                  <a:schemeClr val="dk1"/>
                </a:solidFill>
                <a:highlight>
                  <a:srgbClr val="FFD700"/>
                </a:highlight>
              </a:rPr>
              <a:t>166</a:t>
            </a:r>
            <a:r>
              <a:rPr b="1" lang="de-DE" sz="800">
                <a:solidFill>
                  <a:schemeClr val="dk1"/>
                </a:solidFill>
                <a:highlight>
                  <a:srgbClr val="FFD700"/>
                </a:highlight>
              </a:rPr>
              <a:t> TWh</a:t>
            </a:r>
            <a:endParaRPr b="1" sz="800">
              <a:solidFill>
                <a:schemeClr val="dk1"/>
              </a:solidFill>
              <a:highlight>
                <a:srgbClr val="FFD700"/>
              </a:highlight>
            </a:endParaRPr>
          </a:p>
        </p:txBody>
      </p:sp>
      <p:sp>
        <p:nvSpPr>
          <p:cNvPr id="282" name="Google Shape;282;g3c2ccbd064a_0_131"/>
          <p:cNvSpPr txBox="1"/>
          <p:nvPr/>
        </p:nvSpPr>
        <p:spPr>
          <a:xfrm rot="1842254">
            <a:off x="2039717" y="4190468"/>
            <a:ext cx="102231" cy="256014"/>
          </a:xfrm>
          <a:prstGeom prst="rect">
            <a:avLst/>
          </a:prstGeom>
          <a:solidFill>
            <a:srgbClr val="40E0D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chemeClr val="dk1"/>
              </a:solidFill>
              <a:highlight>
                <a:srgbClr val="40E0D0"/>
              </a:highlight>
            </a:endParaRPr>
          </a:p>
        </p:txBody>
      </p:sp>
      <p:sp>
        <p:nvSpPr>
          <p:cNvPr id="283" name="Google Shape;283;g3c2ccbd064a_0_131"/>
          <p:cNvSpPr txBox="1"/>
          <p:nvPr/>
        </p:nvSpPr>
        <p:spPr>
          <a:xfrm>
            <a:off x="1770082" y="4282638"/>
            <a:ext cx="684300" cy="3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de-DE" sz="800">
                <a:solidFill>
                  <a:schemeClr val="dk1"/>
                </a:solidFill>
                <a:highlight>
                  <a:srgbClr val="40E0D0"/>
                </a:highlight>
              </a:rPr>
              <a:t>1.8%</a:t>
            </a:r>
            <a:endParaRPr b="1" sz="800">
              <a:solidFill>
                <a:schemeClr val="dk1"/>
              </a:solidFill>
              <a:highlight>
                <a:srgbClr val="40E0D0"/>
              </a:highlight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de-DE" sz="800">
                <a:solidFill>
                  <a:schemeClr val="dk1"/>
                </a:solidFill>
                <a:highlight>
                  <a:srgbClr val="40E0D0"/>
                </a:highlight>
              </a:rPr>
              <a:t>7.6</a:t>
            </a:r>
            <a:r>
              <a:rPr b="1" lang="de-DE" sz="800">
                <a:solidFill>
                  <a:schemeClr val="dk1"/>
                </a:solidFill>
                <a:highlight>
                  <a:srgbClr val="40E0D0"/>
                </a:highlight>
              </a:rPr>
              <a:t> TWh</a:t>
            </a:r>
            <a:endParaRPr b="1" sz="800">
              <a:solidFill>
                <a:schemeClr val="dk1"/>
              </a:solidFill>
              <a:highlight>
                <a:srgbClr val="40E0D0"/>
              </a:highlight>
            </a:endParaRPr>
          </a:p>
        </p:txBody>
      </p:sp>
      <p:sp>
        <p:nvSpPr>
          <p:cNvPr id="284" name="Google Shape;284;g3c2ccbd064a_0_131"/>
          <p:cNvSpPr txBox="1"/>
          <p:nvPr/>
        </p:nvSpPr>
        <p:spPr>
          <a:xfrm rot="1593903">
            <a:off x="2225336" y="4046870"/>
            <a:ext cx="83182" cy="327498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chemeClr val="dk1"/>
              </a:solidFill>
              <a:highlight>
                <a:srgbClr val="40E0D0"/>
              </a:highlight>
            </a:endParaRPr>
          </a:p>
        </p:txBody>
      </p:sp>
      <p:sp>
        <p:nvSpPr>
          <p:cNvPr id="285" name="Google Shape;285;g3c2ccbd064a_0_131"/>
          <p:cNvSpPr txBox="1"/>
          <p:nvPr/>
        </p:nvSpPr>
        <p:spPr>
          <a:xfrm rot="2007448">
            <a:off x="1973055" y="4142945"/>
            <a:ext cx="61489" cy="324167"/>
          </a:xfrm>
          <a:prstGeom prst="rect">
            <a:avLst/>
          </a:prstGeom>
          <a:solidFill>
            <a:srgbClr val="A52A2A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chemeClr val="dk1"/>
              </a:solidFill>
              <a:highlight>
                <a:srgbClr val="40E0D0"/>
              </a:highlight>
            </a:endParaRPr>
          </a:p>
        </p:txBody>
      </p:sp>
      <p:sp>
        <p:nvSpPr>
          <p:cNvPr id="286" name="Google Shape;286;g3c2ccbd064a_0_131"/>
          <p:cNvSpPr txBox="1"/>
          <p:nvPr/>
        </p:nvSpPr>
        <p:spPr>
          <a:xfrm rot="2398159">
            <a:off x="1852357" y="4038227"/>
            <a:ext cx="120957" cy="32754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chemeClr val="dk1"/>
              </a:solidFill>
              <a:highlight>
                <a:srgbClr val="40E0D0"/>
              </a:highlight>
            </a:endParaRPr>
          </a:p>
        </p:txBody>
      </p:sp>
      <p:sp>
        <p:nvSpPr>
          <p:cNvPr id="287" name="Google Shape;287;g3c2ccbd064a_0_131"/>
          <p:cNvSpPr txBox="1"/>
          <p:nvPr/>
        </p:nvSpPr>
        <p:spPr>
          <a:xfrm rot="2331765">
            <a:off x="1939754" y="4110631"/>
            <a:ext cx="39684" cy="327687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chemeClr val="dk1"/>
              </a:solidFill>
              <a:highlight>
                <a:srgbClr val="40E0D0"/>
              </a:highlight>
            </a:endParaRPr>
          </a:p>
        </p:txBody>
      </p:sp>
      <p:sp>
        <p:nvSpPr>
          <p:cNvPr id="288" name="Google Shape;288;g3c2ccbd064a_0_131"/>
          <p:cNvSpPr txBox="1"/>
          <p:nvPr/>
        </p:nvSpPr>
        <p:spPr>
          <a:xfrm>
            <a:off x="8977269" y="2062425"/>
            <a:ext cx="684300" cy="3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800">
                <a:solidFill>
                  <a:schemeClr val="dk1"/>
                </a:solidFill>
                <a:highlight>
                  <a:srgbClr val="1E90FF"/>
                </a:highlight>
              </a:rPr>
              <a:t>0.8%</a:t>
            </a:r>
            <a:endParaRPr sz="800">
              <a:solidFill>
                <a:schemeClr val="dk1"/>
              </a:solidFill>
              <a:highlight>
                <a:srgbClr val="1E90FF"/>
              </a:highlight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800">
                <a:solidFill>
                  <a:schemeClr val="dk1"/>
                </a:solidFill>
                <a:highlight>
                  <a:srgbClr val="1E90FF"/>
                </a:highlight>
              </a:rPr>
              <a:t>3.5 TWh</a:t>
            </a:r>
            <a:endParaRPr sz="800">
              <a:solidFill>
                <a:schemeClr val="dk1"/>
              </a:solidFill>
              <a:highlight>
                <a:srgbClr val="1E90FF"/>
              </a:highlight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c2ccbd064a_0_123"/>
          <p:cNvSpPr txBox="1"/>
          <p:nvPr>
            <p:ph idx="3" type="body"/>
          </p:nvPr>
        </p:nvSpPr>
        <p:spPr>
          <a:xfrm>
            <a:off x="555867" y="396545"/>
            <a:ext cx="8311800" cy="717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C40D1E"/>
              </a:buClr>
              <a:buSzPts val="2400"/>
              <a:buNone/>
            </a:pPr>
            <a:r>
              <a:rPr b="1" lang="de-DE"/>
              <a:t>Results - Electricity Generation Mix per Region</a:t>
            </a:r>
            <a:endParaRPr b="1"/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C40D1E"/>
              </a:buClr>
              <a:buSzPts val="2400"/>
              <a:buNone/>
            </a:pPr>
            <a:r>
              <a:t/>
            </a:r>
            <a:endParaRPr b="1"/>
          </a:p>
        </p:txBody>
      </p:sp>
      <p:sp>
        <p:nvSpPr>
          <p:cNvPr id="294" name="Google Shape;294;g3c2ccbd064a_0_123"/>
          <p:cNvSpPr txBox="1"/>
          <p:nvPr/>
        </p:nvSpPr>
        <p:spPr>
          <a:xfrm>
            <a:off x="1577575" y="6340075"/>
            <a:ext cx="5328000" cy="327300"/>
          </a:xfrm>
          <a:prstGeom prst="rect">
            <a:avLst/>
          </a:prstGeom>
          <a:solidFill>
            <a:srgbClr val="C40D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>
                <a:solidFill>
                  <a:schemeClr val="lt1"/>
                </a:solidFill>
              </a:rPr>
              <a:t>Group A | Iran RES Grid Modelling | DSESM | 5th Feb 2026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295" name="Google Shape;295;g3c2ccbd064a_0_123" title="Electricity Mix per Region with CO2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2225" y="1093575"/>
            <a:ext cx="5306354" cy="4670863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" name="Google Shape;296;g3c2ccbd064a_0_123" title="Electricity Mix per Region no CO2 allowed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53432" y="1093587"/>
            <a:ext cx="5306354" cy="46708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c2ccbd064a_0_113"/>
          <p:cNvSpPr txBox="1"/>
          <p:nvPr>
            <p:ph idx="3" type="body"/>
          </p:nvPr>
        </p:nvSpPr>
        <p:spPr>
          <a:xfrm>
            <a:off x="555867" y="396545"/>
            <a:ext cx="8311800" cy="717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C40D1E"/>
              </a:buClr>
              <a:buSzPts val="2400"/>
              <a:buNone/>
            </a:pPr>
            <a:r>
              <a:rPr b="1" lang="de-DE"/>
              <a:t>Results - Power Flow</a:t>
            </a:r>
            <a:endParaRPr b="1"/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C40D1E"/>
              </a:buClr>
              <a:buSzPts val="2400"/>
              <a:buNone/>
            </a:pPr>
            <a:r>
              <a:t/>
            </a:r>
            <a:endParaRPr b="1"/>
          </a:p>
        </p:txBody>
      </p:sp>
      <p:sp>
        <p:nvSpPr>
          <p:cNvPr id="302" name="Google Shape;302;g3c2ccbd064a_0_113"/>
          <p:cNvSpPr txBox="1"/>
          <p:nvPr/>
        </p:nvSpPr>
        <p:spPr>
          <a:xfrm>
            <a:off x="1577575" y="6340075"/>
            <a:ext cx="5328000" cy="327300"/>
          </a:xfrm>
          <a:prstGeom prst="rect">
            <a:avLst/>
          </a:prstGeom>
          <a:solidFill>
            <a:srgbClr val="C40D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>
                <a:solidFill>
                  <a:schemeClr val="lt1"/>
                </a:solidFill>
              </a:rPr>
              <a:t>Group A | Iran RES Grid Modelling | DSESM | 5th Feb 2026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303" name="Google Shape;303;g3c2ccbd064a_0_113" title="Load Flow - model without CO2 Limit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8675" y="1134074"/>
            <a:ext cx="5481000" cy="4249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g3c2ccbd064a_0_113" title="Load Flow - model with CO2 Limit of 0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9675" y="1134064"/>
            <a:ext cx="5481000" cy="4249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c2b2f75b73_0_186"/>
          <p:cNvSpPr txBox="1"/>
          <p:nvPr>
            <p:ph idx="3" type="body"/>
          </p:nvPr>
        </p:nvSpPr>
        <p:spPr>
          <a:xfrm>
            <a:off x="555867" y="396545"/>
            <a:ext cx="8311800" cy="717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C40D1E"/>
              </a:buClr>
              <a:buSzPts val="2400"/>
              <a:buNone/>
            </a:pPr>
            <a:r>
              <a:rPr b="1" lang="de-DE"/>
              <a:t>Results - </a:t>
            </a:r>
            <a:r>
              <a:rPr b="1" lang="de-DE"/>
              <a:t>Average</a:t>
            </a:r>
            <a:r>
              <a:rPr b="1" lang="de-DE"/>
              <a:t> Price per Region</a:t>
            </a:r>
            <a:endParaRPr b="1"/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C40D1E"/>
              </a:buClr>
              <a:buSzPts val="2400"/>
              <a:buNone/>
            </a:pPr>
            <a:r>
              <a:t/>
            </a:r>
            <a:endParaRPr b="1"/>
          </a:p>
        </p:txBody>
      </p:sp>
      <p:sp>
        <p:nvSpPr>
          <p:cNvPr id="310" name="Google Shape;310;g3c2b2f75b73_0_186"/>
          <p:cNvSpPr txBox="1"/>
          <p:nvPr/>
        </p:nvSpPr>
        <p:spPr>
          <a:xfrm>
            <a:off x="1577575" y="6340075"/>
            <a:ext cx="5328000" cy="327300"/>
          </a:xfrm>
          <a:prstGeom prst="rect">
            <a:avLst/>
          </a:prstGeom>
          <a:solidFill>
            <a:srgbClr val="C40D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>
                <a:solidFill>
                  <a:schemeClr val="lt1"/>
                </a:solidFill>
              </a:rPr>
              <a:t>Group A | Iran RES Grid Modelling | DSESM | 5th Feb 2026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311" name="Google Shape;311;g3c2b2f75b73_0_186" title="avg_elec_prices_no_co2.png"/>
          <p:cNvPicPr preferRelativeResize="0"/>
          <p:nvPr/>
        </p:nvPicPr>
        <p:blipFill rotWithShape="1">
          <a:blip r:embed="rId3">
            <a:alphaModFix/>
          </a:blip>
          <a:srcRect b="1361" l="0" r="0" t="1361"/>
          <a:stretch/>
        </p:blipFill>
        <p:spPr>
          <a:xfrm>
            <a:off x="6335087" y="1113850"/>
            <a:ext cx="5342079" cy="4489568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g3c2b2f75b73_0_186" title="avg_elec_prices_with_co2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5885" y="1113850"/>
            <a:ext cx="5231102" cy="4489567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g3c2b2f75b73_0_186"/>
          <p:cNvSpPr txBox="1"/>
          <p:nvPr/>
        </p:nvSpPr>
        <p:spPr>
          <a:xfrm rot="-5400000">
            <a:off x="4185947" y="3230163"/>
            <a:ext cx="3257400" cy="327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de-DE" sz="1000">
                <a:solidFill>
                  <a:schemeClr val="dk1"/>
                </a:solidFill>
              </a:rPr>
              <a:t>Average </a:t>
            </a:r>
            <a:r>
              <a:rPr b="1" lang="de-DE" sz="1000">
                <a:solidFill>
                  <a:schemeClr val="dk1"/>
                </a:solidFill>
              </a:rPr>
              <a:t>Marginal Price</a:t>
            </a:r>
            <a:r>
              <a:rPr b="1" lang="de-DE" sz="1000">
                <a:solidFill>
                  <a:schemeClr val="dk1"/>
                </a:solidFill>
              </a:rPr>
              <a:t>  [€/MWh]</a:t>
            </a:r>
            <a:endParaRPr b="1" sz="1000">
              <a:solidFill>
                <a:schemeClr val="dk1"/>
              </a:solidFill>
            </a:endParaRPr>
          </a:p>
        </p:txBody>
      </p:sp>
      <p:sp>
        <p:nvSpPr>
          <p:cNvPr id="314" name="Google Shape;314;g3c2b2f75b73_0_186"/>
          <p:cNvSpPr txBox="1"/>
          <p:nvPr/>
        </p:nvSpPr>
        <p:spPr>
          <a:xfrm rot="-5400000">
            <a:off x="10079256" y="3230163"/>
            <a:ext cx="3257400" cy="327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de-DE" sz="1000">
                <a:solidFill>
                  <a:schemeClr val="dk1"/>
                </a:solidFill>
              </a:rPr>
              <a:t>Average Marginal Price  [€/MWh]</a:t>
            </a:r>
            <a:endParaRPr b="1" sz="1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9" name="Google Shape;319;g39337298d6a_0_28" title="Price Duration Curves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3925" y="1120556"/>
            <a:ext cx="10344150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g39337298d6a_0_28"/>
          <p:cNvSpPr txBox="1"/>
          <p:nvPr>
            <p:ph idx="3" type="body"/>
          </p:nvPr>
        </p:nvSpPr>
        <p:spPr>
          <a:xfrm>
            <a:off x="555867" y="396545"/>
            <a:ext cx="8311800" cy="717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C40D1E"/>
              </a:buClr>
              <a:buSzPts val="2400"/>
              <a:buNone/>
            </a:pPr>
            <a:r>
              <a:rPr b="1" lang="de-DE"/>
              <a:t>Results - Prices</a:t>
            </a:r>
            <a:endParaRPr b="1"/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C40D1E"/>
              </a:buClr>
              <a:buSzPts val="2400"/>
              <a:buNone/>
            </a:pPr>
            <a:r>
              <a:t/>
            </a:r>
            <a:endParaRPr b="1"/>
          </a:p>
        </p:txBody>
      </p:sp>
      <p:sp>
        <p:nvSpPr>
          <p:cNvPr id="321" name="Google Shape;321;g39337298d6a_0_28"/>
          <p:cNvSpPr txBox="1"/>
          <p:nvPr/>
        </p:nvSpPr>
        <p:spPr>
          <a:xfrm>
            <a:off x="1577575" y="6340075"/>
            <a:ext cx="5328000" cy="327300"/>
          </a:xfrm>
          <a:prstGeom prst="rect">
            <a:avLst/>
          </a:prstGeom>
          <a:solidFill>
            <a:srgbClr val="C40D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>
                <a:solidFill>
                  <a:schemeClr val="lt1"/>
                </a:solidFill>
              </a:rPr>
              <a:t>Group A | Iran RES Grid Modelling | DSESM | 5th Feb 2026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22" name="Google Shape;322;g39337298d6a_0_28"/>
          <p:cNvSpPr txBox="1"/>
          <p:nvPr/>
        </p:nvSpPr>
        <p:spPr>
          <a:xfrm>
            <a:off x="4977000" y="1238336"/>
            <a:ext cx="2238000" cy="413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300">
                <a:solidFill>
                  <a:schemeClr val="dk1"/>
                </a:solidFill>
              </a:rPr>
              <a:t>Price Duration Curve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323" name="Google Shape;323;g39337298d6a_0_28"/>
          <p:cNvSpPr txBox="1"/>
          <p:nvPr/>
        </p:nvSpPr>
        <p:spPr>
          <a:xfrm>
            <a:off x="923925" y="5247125"/>
            <a:ext cx="8547000" cy="413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-DE" sz="1300">
                <a:solidFill>
                  <a:schemeClr val="dk1"/>
                </a:solidFill>
              </a:rPr>
              <a:t>Note: </a:t>
            </a:r>
            <a:r>
              <a:rPr lang="de-DE" sz="1300">
                <a:solidFill>
                  <a:schemeClr val="dk1"/>
                </a:solidFill>
              </a:rPr>
              <a:t>the top 1.5% </a:t>
            </a:r>
            <a:r>
              <a:rPr lang="de-DE" sz="1300">
                <a:solidFill>
                  <a:schemeClr val="dk1"/>
                </a:solidFill>
              </a:rPr>
              <a:t>percent</a:t>
            </a:r>
            <a:r>
              <a:rPr lang="de-DE" sz="1300">
                <a:solidFill>
                  <a:schemeClr val="dk1"/>
                </a:solidFill>
              </a:rPr>
              <a:t> are removed for better visualization (see archive for more detail)</a:t>
            </a:r>
            <a:endParaRPr sz="1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8" name="Google Shape;328;g3c2ccbd064a_0_91" title="Energy Balance week in dec 2025 with co2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5875" y="1430978"/>
            <a:ext cx="6393650" cy="3996035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g3c2ccbd064a_0_91"/>
          <p:cNvSpPr txBox="1"/>
          <p:nvPr>
            <p:ph idx="3" type="body"/>
          </p:nvPr>
        </p:nvSpPr>
        <p:spPr>
          <a:xfrm>
            <a:off x="555867" y="396545"/>
            <a:ext cx="8311800" cy="717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C40D1E"/>
              </a:buClr>
              <a:buSzPts val="2400"/>
              <a:buNone/>
            </a:pPr>
            <a:r>
              <a:rPr b="1" lang="de-DE"/>
              <a:t>Results - Energy Balance</a:t>
            </a:r>
            <a:endParaRPr b="1"/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C40D1E"/>
              </a:buClr>
              <a:buSzPts val="2400"/>
              <a:buNone/>
            </a:pPr>
            <a:r>
              <a:t/>
            </a:r>
            <a:endParaRPr b="1"/>
          </a:p>
        </p:txBody>
      </p:sp>
      <p:sp>
        <p:nvSpPr>
          <p:cNvPr id="330" name="Google Shape;330;g3c2ccbd064a_0_91"/>
          <p:cNvSpPr txBox="1"/>
          <p:nvPr/>
        </p:nvSpPr>
        <p:spPr>
          <a:xfrm>
            <a:off x="1577575" y="6340075"/>
            <a:ext cx="5328000" cy="327300"/>
          </a:xfrm>
          <a:prstGeom prst="rect">
            <a:avLst/>
          </a:prstGeom>
          <a:solidFill>
            <a:srgbClr val="C40D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>
                <a:solidFill>
                  <a:schemeClr val="lt1"/>
                </a:solidFill>
              </a:rPr>
              <a:t>Group A | Iran RES Grid Modelling | DSESM | 5th Feb 2026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31" name="Google Shape;331;g3c2ccbd064a_0_91"/>
          <p:cNvSpPr txBox="1"/>
          <p:nvPr/>
        </p:nvSpPr>
        <p:spPr>
          <a:xfrm rot="-5400000">
            <a:off x="192881" y="3140381"/>
            <a:ext cx="1053300" cy="327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de-DE" sz="800">
                <a:solidFill>
                  <a:schemeClr val="dk1"/>
                </a:solidFill>
              </a:rPr>
              <a:t>Power </a:t>
            </a:r>
            <a:r>
              <a:rPr b="1" lang="de-DE" sz="800">
                <a:solidFill>
                  <a:schemeClr val="dk1"/>
                </a:solidFill>
              </a:rPr>
              <a:t> [MW]</a:t>
            </a:r>
            <a:endParaRPr b="1" sz="800">
              <a:solidFill>
                <a:schemeClr val="dk1"/>
              </a:solidFill>
            </a:endParaRPr>
          </a:p>
        </p:txBody>
      </p:sp>
      <p:sp>
        <p:nvSpPr>
          <p:cNvPr id="332" name="Google Shape;332;g3c2ccbd064a_0_91"/>
          <p:cNvSpPr txBox="1"/>
          <p:nvPr/>
        </p:nvSpPr>
        <p:spPr>
          <a:xfrm>
            <a:off x="1856460" y="1391451"/>
            <a:ext cx="1013400" cy="3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de-DE" sz="1200">
                <a:solidFill>
                  <a:schemeClr val="dk1"/>
                </a:solidFill>
              </a:rPr>
              <a:t>with CO2</a:t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</a:endParaRPr>
          </a:p>
        </p:txBody>
      </p:sp>
      <p:pic>
        <p:nvPicPr>
          <p:cNvPr id="333" name="Google Shape;333;g3c2ccbd064a_0_91" title="Energy Balance week in dec 2025 no co2 limit.png"/>
          <p:cNvPicPr preferRelativeResize="0"/>
          <p:nvPr/>
        </p:nvPicPr>
        <p:blipFill rotWithShape="1">
          <a:blip r:embed="rId4">
            <a:alphaModFix/>
          </a:blip>
          <a:srcRect b="835" l="0" r="0" t="835"/>
          <a:stretch/>
        </p:blipFill>
        <p:spPr>
          <a:xfrm>
            <a:off x="5013700" y="1431000"/>
            <a:ext cx="6502526" cy="3996025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g3c2ccbd064a_0_91"/>
          <p:cNvSpPr txBox="1"/>
          <p:nvPr/>
        </p:nvSpPr>
        <p:spPr>
          <a:xfrm rot="-5400000">
            <a:off x="4688116" y="3140379"/>
            <a:ext cx="1053300" cy="327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de-DE" sz="800">
                <a:solidFill>
                  <a:schemeClr val="dk1"/>
                </a:solidFill>
              </a:rPr>
              <a:t>Power</a:t>
            </a:r>
            <a:r>
              <a:rPr b="1" lang="de-DE" sz="800">
                <a:solidFill>
                  <a:schemeClr val="dk1"/>
                </a:solidFill>
              </a:rPr>
              <a:t> [MW]</a:t>
            </a:r>
            <a:endParaRPr b="1" sz="800">
              <a:solidFill>
                <a:schemeClr val="dk1"/>
              </a:solidFill>
            </a:endParaRPr>
          </a:p>
        </p:txBody>
      </p:sp>
      <p:sp>
        <p:nvSpPr>
          <p:cNvPr id="335" name="Google Shape;335;g3c2ccbd064a_0_91"/>
          <p:cNvSpPr txBox="1"/>
          <p:nvPr/>
        </p:nvSpPr>
        <p:spPr>
          <a:xfrm>
            <a:off x="6305795" y="1359672"/>
            <a:ext cx="1013400" cy="3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de-DE" sz="1200">
                <a:solidFill>
                  <a:schemeClr val="dk1"/>
                </a:solidFill>
              </a:rPr>
              <a:t>no CO2</a:t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</a:endParaRPr>
          </a:p>
        </p:txBody>
      </p:sp>
      <p:sp>
        <p:nvSpPr>
          <p:cNvPr id="336" name="Google Shape;336;g3c2ccbd064a_0_91"/>
          <p:cNvSpPr/>
          <p:nvPr/>
        </p:nvSpPr>
        <p:spPr>
          <a:xfrm>
            <a:off x="5294067" y="1807942"/>
            <a:ext cx="418800" cy="471000"/>
          </a:xfrm>
          <a:prstGeom prst="ellipse">
            <a:avLst/>
          </a:prstGeom>
          <a:solidFill>
            <a:srgbClr val="FFFFFF">
              <a:alpha val="0"/>
            </a:srgbClr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g3c2ccbd064a_0_91"/>
          <p:cNvSpPr/>
          <p:nvPr/>
        </p:nvSpPr>
        <p:spPr>
          <a:xfrm>
            <a:off x="769975" y="1862986"/>
            <a:ext cx="418800" cy="471000"/>
          </a:xfrm>
          <a:prstGeom prst="ellipse">
            <a:avLst/>
          </a:prstGeom>
          <a:solidFill>
            <a:srgbClr val="FFFFFF">
              <a:alpha val="0"/>
            </a:srgbClr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3c2b2f75b73_0_167"/>
          <p:cNvSpPr txBox="1"/>
          <p:nvPr>
            <p:ph idx="3" type="body"/>
          </p:nvPr>
        </p:nvSpPr>
        <p:spPr>
          <a:xfrm>
            <a:off x="555867" y="396545"/>
            <a:ext cx="8311800" cy="717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C40D1E"/>
              </a:buClr>
              <a:buSzPts val="2400"/>
              <a:buNone/>
            </a:pPr>
            <a:r>
              <a:rPr b="1" lang="de-DE"/>
              <a:t>Results - Storages</a:t>
            </a:r>
            <a:endParaRPr b="1"/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C40D1E"/>
              </a:buClr>
              <a:buSzPts val="2400"/>
              <a:buNone/>
            </a:pPr>
            <a:r>
              <a:t/>
            </a:r>
            <a:endParaRPr b="1"/>
          </a:p>
        </p:txBody>
      </p:sp>
      <p:sp>
        <p:nvSpPr>
          <p:cNvPr id="343" name="Google Shape;343;g3c2b2f75b73_0_167"/>
          <p:cNvSpPr txBox="1"/>
          <p:nvPr/>
        </p:nvSpPr>
        <p:spPr>
          <a:xfrm>
            <a:off x="1577575" y="6340075"/>
            <a:ext cx="5328000" cy="327300"/>
          </a:xfrm>
          <a:prstGeom prst="rect">
            <a:avLst/>
          </a:prstGeom>
          <a:solidFill>
            <a:srgbClr val="C40D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>
                <a:solidFill>
                  <a:schemeClr val="lt1"/>
                </a:solidFill>
              </a:rPr>
              <a:t>Group A | Iran RES Grid Modelling | DSESM | 5th Feb 2026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344" name="Google Shape;344;g3c2b2f75b73_0_167" title="SOC_battery_storag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63850" y="1285870"/>
            <a:ext cx="10344150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g3c2b2f75b73_0_167"/>
          <p:cNvSpPr txBox="1"/>
          <p:nvPr/>
        </p:nvSpPr>
        <p:spPr>
          <a:xfrm>
            <a:off x="665850" y="1354850"/>
            <a:ext cx="10860300" cy="4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de-DE">
                <a:solidFill>
                  <a:schemeClr val="dk1"/>
                </a:solidFill>
              </a:rPr>
              <a:t>Battery Storage</a:t>
            </a:r>
            <a:r>
              <a:rPr b="1" lang="de-DE">
                <a:solidFill>
                  <a:schemeClr val="dk1"/>
                </a:solidFill>
              </a:rPr>
              <a:t> - SOC (Daily Mean)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346" name="Google Shape;346;g3c2b2f75b73_0_167"/>
          <p:cNvSpPr txBox="1"/>
          <p:nvPr/>
        </p:nvSpPr>
        <p:spPr>
          <a:xfrm>
            <a:off x="963850" y="5369600"/>
            <a:ext cx="10860300" cy="4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>
                <a:solidFill>
                  <a:schemeClr val="dk1"/>
                </a:solidFill>
              </a:rPr>
              <a:t>100% SOC</a:t>
            </a:r>
            <a:r>
              <a:rPr lang="de-DE">
                <a:solidFill>
                  <a:schemeClr val="dk1"/>
                </a:solidFill>
              </a:rPr>
              <a:t>:	</a:t>
            </a:r>
            <a:r>
              <a:rPr b="1" lang="de-DE">
                <a:solidFill>
                  <a:schemeClr val="dk1"/>
                </a:solidFill>
                <a:highlight>
                  <a:srgbClr val="6C77FA"/>
                </a:highlight>
              </a:rPr>
              <a:t>55.3 GWh (with CO2)</a:t>
            </a:r>
            <a:r>
              <a:rPr lang="de-DE">
                <a:solidFill>
                  <a:schemeClr val="dk1"/>
                </a:solidFill>
                <a:highlight>
                  <a:srgbClr val="6C77FA"/>
                </a:highlight>
              </a:rPr>
              <a:t> </a:t>
            </a:r>
            <a:r>
              <a:rPr lang="de-DE">
                <a:solidFill>
                  <a:schemeClr val="dk1"/>
                </a:solidFill>
              </a:rPr>
              <a:t>			vs.		</a:t>
            </a:r>
            <a:r>
              <a:rPr b="1" lang="de-DE">
                <a:solidFill>
                  <a:schemeClr val="dk1"/>
                </a:solidFill>
                <a:highlight>
                  <a:srgbClr val="EE6D58"/>
                </a:highlight>
              </a:rPr>
              <a:t>562.9 GWh (no CO2)</a:t>
            </a:r>
            <a:endParaRPr b="1">
              <a:solidFill>
                <a:schemeClr val="dk1"/>
              </a:solidFill>
              <a:highlight>
                <a:srgbClr val="EE6D58"/>
              </a:highlight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1" name="Google Shape;351;g3c32c431a11_0_29" title="SOC_H2_storag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3925" y="1285875"/>
            <a:ext cx="10344150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g3c32c431a11_0_29"/>
          <p:cNvSpPr txBox="1"/>
          <p:nvPr>
            <p:ph idx="3" type="body"/>
          </p:nvPr>
        </p:nvSpPr>
        <p:spPr>
          <a:xfrm>
            <a:off x="555867" y="396545"/>
            <a:ext cx="8311800" cy="717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C40D1E"/>
              </a:buClr>
              <a:buSzPts val="2400"/>
              <a:buNone/>
            </a:pPr>
            <a:r>
              <a:rPr b="1" lang="de-DE"/>
              <a:t>Results - Storages</a:t>
            </a:r>
            <a:endParaRPr b="1"/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C40D1E"/>
              </a:buClr>
              <a:buSzPts val="2400"/>
              <a:buNone/>
            </a:pPr>
            <a:r>
              <a:t/>
            </a:r>
            <a:endParaRPr b="1"/>
          </a:p>
        </p:txBody>
      </p:sp>
      <p:sp>
        <p:nvSpPr>
          <p:cNvPr id="353" name="Google Shape;353;g3c32c431a11_0_29"/>
          <p:cNvSpPr txBox="1"/>
          <p:nvPr/>
        </p:nvSpPr>
        <p:spPr>
          <a:xfrm>
            <a:off x="1577575" y="6340075"/>
            <a:ext cx="5328000" cy="327300"/>
          </a:xfrm>
          <a:prstGeom prst="rect">
            <a:avLst/>
          </a:prstGeom>
          <a:solidFill>
            <a:srgbClr val="C40D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>
                <a:solidFill>
                  <a:schemeClr val="lt1"/>
                </a:solidFill>
              </a:rPr>
              <a:t>Group A | Iran RES Grid Modelling | DSESM | 5th Feb 2026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54" name="Google Shape;354;g3c32c431a11_0_29"/>
          <p:cNvSpPr txBox="1"/>
          <p:nvPr/>
        </p:nvSpPr>
        <p:spPr>
          <a:xfrm>
            <a:off x="665850" y="1354850"/>
            <a:ext cx="10860300" cy="4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de-DE">
                <a:solidFill>
                  <a:schemeClr val="dk1"/>
                </a:solidFill>
              </a:rPr>
              <a:t>Hydrogen Storage Underground - SOC (Daily Mean)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355" name="Google Shape;355;g3c32c431a11_0_29"/>
          <p:cNvSpPr txBox="1"/>
          <p:nvPr/>
        </p:nvSpPr>
        <p:spPr>
          <a:xfrm>
            <a:off x="963850" y="5369600"/>
            <a:ext cx="10860300" cy="4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>
                <a:solidFill>
                  <a:schemeClr val="dk1"/>
                </a:solidFill>
              </a:rPr>
              <a:t>100% SOC</a:t>
            </a:r>
            <a:r>
              <a:rPr lang="de-DE">
                <a:solidFill>
                  <a:schemeClr val="dk1"/>
                </a:solidFill>
              </a:rPr>
              <a:t>: </a:t>
            </a:r>
            <a:r>
              <a:rPr b="1" lang="de-DE">
                <a:solidFill>
                  <a:schemeClr val="dk1"/>
                </a:solidFill>
                <a:highlight>
                  <a:srgbClr val="EE6C57"/>
                </a:highlight>
              </a:rPr>
              <a:t>5328.6 GWh (no CO2)</a:t>
            </a:r>
            <a:endParaRPr b="1">
              <a:solidFill>
                <a:schemeClr val="dk1"/>
              </a:solidFill>
              <a:highlight>
                <a:srgbClr val="EE6C57"/>
              </a:highlight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3c32c431a11_0_55"/>
          <p:cNvSpPr txBox="1"/>
          <p:nvPr>
            <p:ph idx="3" type="body"/>
          </p:nvPr>
        </p:nvSpPr>
        <p:spPr>
          <a:xfrm>
            <a:off x="555867" y="396545"/>
            <a:ext cx="8311800" cy="717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C40D1E"/>
              </a:buClr>
              <a:buSzPts val="2400"/>
              <a:buNone/>
            </a:pPr>
            <a:r>
              <a:rPr b="1" lang="de-DE"/>
              <a:t>Results - Rate of Curtailment</a:t>
            </a:r>
            <a:endParaRPr b="1"/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C40D1E"/>
              </a:buClr>
              <a:buSzPts val="2400"/>
              <a:buNone/>
            </a:pPr>
            <a:r>
              <a:t/>
            </a:r>
            <a:endParaRPr b="1"/>
          </a:p>
        </p:txBody>
      </p:sp>
      <p:sp>
        <p:nvSpPr>
          <p:cNvPr id="361" name="Google Shape;361;g3c32c431a11_0_55"/>
          <p:cNvSpPr txBox="1"/>
          <p:nvPr/>
        </p:nvSpPr>
        <p:spPr>
          <a:xfrm>
            <a:off x="1577575" y="6340075"/>
            <a:ext cx="5328000" cy="327300"/>
          </a:xfrm>
          <a:prstGeom prst="rect">
            <a:avLst/>
          </a:prstGeom>
          <a:solidFill>
            <a:srgbClr val="C40D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>
                <a:solidFill>
                  <a:schemeClr val="lt1"/>
                </a:solidFill>
              </a:rPr>
              <a:t>Group A | Iran RES Grid Modelling | DSESM | 5th Feb 2026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362" name="Google Shape;362;g3c32c431a11_0_55" title="Curtailed Energy rat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14625" y="1095370"/>
            <a:ext cx="6562725" cy="4667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3c2b2f75b73_0_181"/>
          <p:cNvSpPr txBox="1"/>
          <p:nvPr>
            <p:ph idx="3" type="body"/>
          </p:nvPr>
        </p:nvSpPr>
        <p:spPr>
          <a:xfrm>
            <a:off x="555867" y="396545"/>
            <a:ext cx="8311800" cy="717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C40D1E"/>
              </a:buClr>
              <a:buSzPts val="2400"/>
              <a:buNone/>
            </a:pPr>
            <a:r>
              <a:rPr b="1" lang="de-DE"/>
              <a:t>Results - CO2 Shadow Prices</a:t>
            </a:r>
            <a:endParaRPr b="1"/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C40D1E"/>
              </a:buClr>
              <a:buSzPts val="2400"/>
              <a:buNone/>
            </a:pPr>
            <a:r>
              <a:t/>
            </a:r>
            <a:endParaRPr b="1"/>
          </a:p>
        </p:txBody>
      </p:sp>
      <p:sp>
        <p:nvSpPr>
          <p:cNvPr id="368" name="Google Shape;368;g3c2b2f75b73_0_181"/>
          <p:cNvSpPr txBox="1"/>
          <p:nvPr/>
        </p:nvSpPr>
        <p:spPr>
          <a:xfrm>
            <a:off x="1577575" y="6340075"/>
            <a:ext cx="5328000" cy="327300"/>
          </a:xfrm>
          <a:prstGeom prst="rect">
            <a:avLst/>
          </a:prstGeom>
          <a:solidFill>
            <a:srgbClr val="C40D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>
                <a:solidFill>
                  <a:schemeClr val="lt1"/>
                </a:solidFill>
              </a:rPr>
              <a:t>Group A | Iran RES Grid Modelling | DSESM | 5th Feb 2026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369" name="Google Shape;369;g3c2b2f75b73_0_181" title="emissions per carrie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5875" y="1552525"/>
            <a:ext cx="5284776" cy="3752950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g3c2b2f75b73_0_181"/>
          <p:cNvSpPr txBox="1"/>
          <p:nvPr/>
        </p:nvSpPr>
        <p:spPr>
          <a:xfrm>
            <a:off x="6657100" y="1113850"/>
            <a:ext cx="4752000" cy="26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de-DE" sz="1600" u="sng"/>
              <a:t>no CO2 Case: </a:t>
            </a:r>
            <a:endParaRPr b="1" sz="1600" u="sng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 u="sng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600"/>
              <a:t>Total emissions: 		0.0			tCO2</a:t>
            </a:r>
            <a:endParaRPr sz="16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600"/>
              <a:t>Carbon shadow price:	15,389.3 		€/tCO2</a:t>
            </a:r>
            <a:endParaRPr sz="16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600"/>
              <a:t>→ Allowing 1 extra tonne of CO2 would reduce total system cost by </a:t>
            </a:r>
            <a:r>
              <a:rPr lang="de-DE"/>
              <a:t>~</a:t>
            </a:r>
            <a:r>
              <a:rPr lang="de-DE" sz="1600"/>
              <a:t>15,000 €</a:t>
            </a:r>
            <a:endParaRPr sz="1600"/>
          </a:p>
        </p:txBody>
      </p:sp>
      <p:sp>
        <p:nvSpPr>
          <p:cNvPr id="371" name="Google Shape;371;g3c2b2f75b73_0_181"/>
          <p:cNvSpPr txBox="1"/>
          <p:nvPr/>
        </p:nvSpPr>
        <p:spPr>
          <a:xfrm>
            <a:off x="1677232" y="1873243"/>
            <a:ext cx="1013400" cy="3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200"/>
              <a:t>25.6</a:t>
            </a:r>
            <a:endParaRPr sz="1200"/>
          </a:p>
        </p:txBody>
      </p:sp>
      <p:sp>
        <p:nvSpPr>
          <p:cNvPr id="372" name="Google Shape;372;g3c2b2f75b73_0_181"/>
          <p:cNvSpPr txBox="1"/>
          <p:nvPr/>
        </p:nvSpPr>
        <p:spPr>
          <a:xfrm>
            <a:off x="4069591" y="4485390"/>
            <a:ext cx="1013400" cy="3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200"/>
              <a:t>1.1</a:t>
            </a:r>
            <a:endParaRPr sz="1200"/>
          </a:p>
        </p:txBody>
      </p:sp>
      <p:sp>
        <p:nvSpPr>
          <p:cNvPr id="373" name="Google Shape;373;g3c2b2f75b73_0_181"/>
          <p:cNvSpPr txBox="1"/>
          <p:nvPr/>
        </p:nvSpPr>
        <p:spPr>
          <a:xfrm>
            <a:off x="555875" y="1113850"/>
            <a:ext cx="1882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de-DE" sz="1600" u="sng"/>
              <a:t>with CO2 Case:</a:t>
            </a:r>
            <a:endParaRPr b="1" sz="16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3c2b2f75b73_0_50"/>
          <p:cNvSpPr txBox="1"/>
          <p:nvPr/>
        </p:nvSpPr>
        <p:spPr>
          <a:xfrm>
            <a:off x="550800" y="3019615"/>
            <a:ext cx="99579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lang="de-DE" sz="4300">
                <a:solidFill>
                  <a:schemeClr val="lt1"/>
                </a:solidFill>
              </a:rPr>
              <a:t>Sensitivity Analysis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g3c2b2f75b73_0_50"/>
          <p:cNvSpPr txBox="1"/>
          <p:nvPr/>
        </p:nvSpPr>
        <p:spPr>
          <a:xfrm>
            <a:off x="550801" y="5723828"/>
            <a:ext cx="11012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de-DE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Group </a:t>
            </a:r>
            <a:r>
              <a:rPr lang="de-DE" sz="1800">
                <a:solidFill>
                  <a:schemeClr val="lt1"/>
                </a:solidFill>
              </a:rPr>
              <a:t>A</a:t>
            </a:r>
            <a:r>
              <a:rPr b="0" i="0" lang="de-DE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| February </a:t>
            </a:r>
            <a:r>
              <a:rPr lang="de-DE" sz="1800">
                <a:solidFill>
                  <a:schemeClr val="lt1"/>
                </a:solidFill>
              </a:rPr>
              <a:t>5</a:t>
            </a:r>
            <a:r>
              <a:rPr b="0" baseline="30000" i="0" lang="de-DE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</a:t>
            </a:r>
            <a:r>
              <a:rPr b="0" i="0" lang="de-DE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, 2026 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g3c2b2f75b73_0_50"/>
          <p:cNvSpPr txBox="1"/>
          <p:nvPr/>
        </p:nvSpPr>
        <p:spPr>
          <a:xfrm>
            <a:off x="550801" y="6159639"/>
            <a:ext cx="11012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de-DE" sz="1800">
                <a:solidFill>
                  <a:schemeClr val="lt1"/>
                </a:solidFill>
              </a:rPr>
              <a:t>Data Science for Energy System Modelling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3c2ccbd064a_0_54"/>
          <p:cNvSpPr txBox="1"/>
          <p:nvPr>
            <p:ph idx="3" type="body"/>
          </p:nvPr>
        </p:nvSpPr>
        <p:spPr>
          <a:xfrm>
            <a:off x="555876" y="396550"/>
            <a:ext cx="9119100" cy="717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C40D1E"/>
              </a:buClr>
              <a:buSzPts val="2400"/>
              <a:buNone/>
            </a:pPr>
            <a:r>
              <a:rPr b="1" lang="de-DE"/>
              <a:t>Sensitivity Analysis - Variation of Onshore Wind Capital Cost</a:t>
            </a:r>
            <a:endParaRPr b="1"/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C40D1E"/>
              </a:buClr>
              <a:buSzPts val="2400"/>
              <a:buNone/>
            </a:pPr>
            <a:r>
              <a:t/>
            </a:r>
            <a:endParaRPr b="1"/>
          </a:p>
        </p:txBody>
      </p:sp>
      <p:sp>
        <p:nvSpPr>
          <p:cNvPr id="387" name="Google Shape;387;g3c2ccbd064a_0_54"/>
          <p:cNvSpPr txBox="1"/>
          <p:nvPr/>
        </p:nvSpPr>
        <p:spPr>
          <a:xfrm>
            <a:off x="1577575" y="6340075"/>
            <a:ext cx="5328000" cy="327300"/>
          </a:xfrm>
          <a:prstGeom prst="rect">
            <a:avLst/>
          </a:prstGeom>
          <a:solidFill>
            <a:srgbClr val="C40D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>
                <a:solidFill>
                  <a:schemeClr val="lt1"/>
                </a:solidFill>
              </a:rPr>
              <a:t>Group A | Iran RES Grid Modelling | DSESM | 5th Feb 2026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388" name="Google Shape;388;g3c2ccbd064a_0_54" title="sens_analysis_windon_1.0-0.25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5875" y="992974"/>
            <a:ext cx="7207451" cy="4334751"/>
          </a:xfrm>
          <a:prstGeom prst="rect">
            <a:avLst/>
          </a:prstGeom>
          <a:noFill/>
          <a:ln>
            <a:noFill/>
          </a:ln>
        </p:spPr>
      </p:pic>
      <p:pic>
        <p:nvPicPr>
          <p:cNvPr id="389" name="Google Shape;389;g3c2ccbd064a_0_54" title="sens_analysis_windon_1.0-0.0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94950" y="2961900"/>
            <a:ext cx="4173051" cy="2512350"/>
          </a:xfrm>
          <a:prstGeom prst="rect">
            <a:avLst/>
          </a:prstGeom>
          <a:noFill/>
          <a:ln>
            <a:noFill/>
          </a:ln>
        </p:spPr>
      </p:pic>
      <p:sp>
        <p:nvSpPr>
          <p:cNvPr id="390" name="Google Shape;390;g3c2ccbd064a_0_54"/>
          <p:cNvSpPr/>
          <p:nvPr/>
        </p:nvSpPr>
        <p:spPr>
          <a:xfrm>
            <a:off x="5694075" y="3956525"/>
            <a:ext cx="2690100" cy="1863300"/>
          </a:xfrm>
          <a:prstGeom prst="ellipse">
            <a:avLst/>
          </a:prstGeom>
          <a:solidFill>
            <a:srgbClr val="FFFFFF">
              <a:alpha val="0"/>
            </a:srgbClr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g3c2ccbd064a_0_54"/>
          <p:cNvSpPr/>
          <p:nvPr/>
        </p:nvSpPr>
        <p:spPr>
          <a:xfrm rot="-6337742">
            <a:off x="5026707" y="4991160"/>
            <a:ext cx="701539" cy="869961"/>
          </a:xfrm>
          <a:prstGeom prst="bentArrow">
            <a:avLst>
              <a:gd fmla="val 25000" name="adj1"/>
              <a:gd fmla="val 25000" name="adj2"/>
              <a:gd fmla="val 25000" name="adj3"/>
              <a:gd fmla="val 43750" name="adj4"/>
            </a:avLst>
          </a:prstGeom>
          <a:solidFill>
            <a:srgbClr val="F4CCCC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g3c2ccbd064a_0_54"/>
          <p:cNvSpPr/>
          <p:nvPr/>
        </p:nvSpPr>
        <p:spPr>
          <a:xfrm>
            <a:off x="8923775" y="2759100"/>
            <a:ext cx="1888800" cy="13398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g3c2ccbd064a_0_54"/>
          <p:cNvSpPr txBox="1"/>
          <p:nvPr/>
        </p:nvSpPr>
        <p:spPr>
          <a:xfrm>
            <a:off x="7630456" y="3581590"/>
            <a:ext cx="1013400" cy="3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200">
                <a:highlight>
                  <a:srgbClr val="1E90FF"/>
                </a:highlight>
              </a:rPr>
              <a:t>2260 GW</a:t>
            </a:r>
            <a:endParaRPr b="1" sz="1200">
              <a:highlight>
                <a:srgbClr val="1E90FF"/>
              </a:highlight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94" name="Google Shape;394;g3c2ccbd064a_0_54"/>
          <p:cNvSpPr txBox="1"/>
          <p:nvPr/>
        </p:nvSpPr>
        <p:spPr>
          <a:xfrm>
            <a:off x="4406966" y="3854729"/>
            <a:ext cx="1013400" cy="3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200"/>
              <a:t>152</a:t>
            </a:r>
            <a:endParaRPr sz="1200"/>
          </a:p>
        </p:txBody>
      </p:sp>
      <p:sp>
        <p:nvSpPr>
          <p:cNvPr id="395" name="Google Shape;395;g3c2ccbd064a_0_54"/>
          <p:cNvSpPr txBox="1"/>
          <p:nvPr/>
        </p:nvSpPr>
        <p:spPr>
          <a:xfrm>
            <a:off x="3287906" y="4386020"/>
            <a:ext cx="1013400" cy="3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200"/>
              <a:t>59</a:t>
            </a:r>
            <a:endParaRPr sz="1200"/>
          </a:p>
        </p:txBody>
      </p:sp>
      <p:sp>
        <p:nvSpPr>
          <p:cNvPr id="396" name="Google Shape;396;g3c2ccbd064a_0_54"/>
          <p:cNvSpPr txBox="1"/>
          <p:nvPr/>
        </p:nvSpPr>
        <p:spPr>
          <a:xfrm>
            <a:off x="1080616" y="3629229"/>
            <a:ext cx="1013400" cy="3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200"/>
              <a:t>238</a:t>
            </a:r>
            <a:endParaRPr sz="1200"/>
          </a:p>
        </p:txBody>
      </p:sp>
      <p:sp>
        <p:nvSpPr>
          <p:cNvPr id="397" name="Google Shape;397;g3c2ccbd064a_0_54"/>
          <p:cNvSpPr txBox="1"/>
          <p:nvPr/>
        </p:nvSpPr>
        <p:spPr>
          <a:xfrm>
            <a:off x="2184254" y="3629229"/>
            <a:ext cx="1013400" cy="3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200"/>
              <a:t>217</a:t>
            </a:r>
            <a:endParaRPr sz="1200"/>
          </a:p>
        </p:txBody>
      </p:sp>
      <p:sp>
        <p:nvSpPr>
          <p:cNvPr id="398" name="Google Shape;398;g3c2ccbd064a_0_54"/>
          <p:cNvSpPr txBox="1"/>
          <p:nvPr/>
        </p:nvSpPr>
        <p:spPr>
          <a:xfrm>
            <a:off x="3287904" y="3443732"/>
            <a:ext cx="1013400" cy="3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200"/>
              <a:t>210</a:t>
            </a:r>
            <a:endParaRPr sz="1200"/>
          </a:p>
        </p:txBody>
      </p:sp>
      <p:sp>
        <p:nvSpPr>
          <p:cNvPr id="399" name="Google Shape;399;g3c2ccbd064a_0_54"/>
          <p:cNvSpPr txBox="1"/>
          <p:nvPr/>
        </p:nvSpPr>
        <p:spPr>
          <a:xfrm>
            <a:off x="4406966" y="2701942"/>
            <a:ext cx="1013400" cy="3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200"/>
              <a:t>184</a:t>
            </a:r>
            <a:endParaRPr sz="1200"/>
          </a:p>
        </p:txBody>
      </p:sp>
      <p:sp>
        <p:nvSpPr>
          <p:cNvPr id="400" name="Google Shape;400;g3c2ccbd064a_0_54"/>
          <p:cNvSpPr txBox="1"/>
          <p:nvPr/>
        </p:nvSpPr>
        <p:spPr>
          <a:xfrm>
            <a:off x="1080616" y="2252954"/>
            <a:ext cx="1013400" cy="3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200"/>
              <a:t>95</a:t>
            </a:r>
            <a:endParaRPr sz="1200"/>
          </a:p>
        </p:txBody>
      </p:sp>
      <p:sp>
        <p:nvSpPr>
          <p:cNvPr id="401" name="Google Shape;401;g3c2ccbd064a_0_54"/>
          <p:cNvSpPr txBox="1"/>
          <p:nvPr/>
        </p:nvSpPr>
        <p:spPr>
          <a:xfrm>
            <a:off x="2205191" y="2252954"/>
            <a:ext cx="1013400" cy="3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200"/>
              <a:t>94</a:t>
            </a:r>
            <a:endParaRPr sz="1200"/>
          </a:p>
        </p:txBody>
      </p:sp>
      <p:sp>
        <p:nvSpPr>
          <p:cNvPr id="402" name="Google Shape;402;g3c2ccbd064a_0_54"/>
          <p:cNvSpPr txBox="1"/>
          <p:nvPr/>
        </p:nvSpPr>
        <p:spPr>
          <a:xfrm>
            <a:off x="3287891" y="2115149"/>
            <a:ext cx="1013400" cy="3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200"/>
              <a:t>93</a:t>
            </a:r>
            <a:endParaRPr sz="1200"/>
          </a:p>
        </p:txBody>
      </p:sp>
      <p:sp>
        <p:nvSpPr>
          <p:cNvPr id="403" name="Google Shape;403;g3c2ccbd064a_0_54"/>
          <p:cNvSpPr txBox="1"/>
          <p:nvPr/>
        </p:nvSpPr>
        <p:spPr>
          <a:xfrm>
            <a:off x="4406966" y="1549142"/>
            <a:ext cx="1013400" cy="3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200"/>
              <a:t>88</a:t>
            </a:r>
            <a:endParaRPr sz="1200"/>
          </a:p>
        </p:txBody>
      </p:sp>
      <p:sp>
        <p:nvSpPr>
          <p:cNvPr id="404" name="Google Shape;404;g3c2ccbd064a_0_54"/>
          <p:cNvSpPr txBox="1"/>
          <p:nvPr/>
        </p:nvSpPr>
        <p:spPr>
          <a:xfrm>
            <a:off x="1080616" y="1772821"/>
            <a:ext cx="1013400" cy="3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200">
                <a:highlight>
                  <a:srgbClr val="FF00FF"/>
                </a:highlight>
              </a:rPr>
              <a:t>7.9</a:t>
            </a:r>
            <a:endParaRPr sz="1200">
              <a:highlight>
                <a:srgbClr val="FF00FF"/>
              </a:highlight>
            </a:endParaRPr>
          </a:p>
        </p:txBody>
      </p:sp>
      <p:sp>
        <p:nvSpPr>
          <p:cNvPr id="405" name="Google Shape;405;g3c2ccbd064a_0_54"/>
          <p:cNvSpPr txBox="1"/>
          <p:nvPr/>
        </p:nvSpPr>
        <p:spPr>
          <a:xfrm>
            <a:off x="2205191" y="1772837"/>
            <a:ext cx="1013400" cy="3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200">
                <a:highlight>
                  <a:srgbClr val="FF00FF"/>
                </a:highlight>
              </a:rPr>
              <a:t>5.7</a:t>
            </a:r>
            <a:endParaRPr sz="1200">
              <a:highlight>
                <a:srgbClr val="FF00FF"/>
              </a:highlight>
            </a:endParaRPr>
          </a:p>
        </p:txBody>
      </p:sp>
      <p:sp>
        <p:nvSpPr>
          <p:cNvPr id="406" name="Google Shape;406;g3c2ccbd064a_0_54"/>
          <p:cNvSpPr txBox="1"/>
          <p:nvPr/>
        </p:nvSpPr>
        <p:spPr>
          <a:xfrm>
            <a:off x="3287891" y="1700064"/>
            <a:ext cx="1013400" cy="3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200">
                <a:highlight>
                  <a:srgbClr val="FF00FF"/>
                </a:highlight>
              </a:rPr>
              <a:t>5.1</a:t>
            </a:r>
            <a:endParaRPr sz="1200">
              <a:highlight>
                <a:srgbClr val="FF00FF"/>
              </a:highlight>
            </a:endParaRPr>
          </a:p>
        </p:txBody>
      </p:sp>
      <p:sp>
        <p:nvSpPr>
          <p:cNvPr id="407" name="Google Shape;407;g3c2ccbd064a_0_54"/>
          <p:cNvSpPr txBox="1"/>
          <p:nvPr/>
        </p:nvSpPr>
        <p:spPr>
          <a:xfrm>
            <a:off x="4406966" y="1201304"/>
            <a:ext cx="1013400" cy="3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200">
                <a:highlight>
                  <a:srgbClr val="FF00FF"/>
                </a:highlight>
              </a:rPr>
              <a:t>5.0</a:t>
            </a:r>
            <a:endParaRPr sz="1200">
              <a:highlight>
                <a:srgbClr val="FF00FF"/>
              </a:highlight>
            </a:endParaRPr>
          </a:p>
        </p:txBody>
      </p:sp>
      <p:sp>
        <p:nvSpPr>
          <p:cNvPr id="408" name="Google Shape;408;g3c2ccbd064a_0_54"/>
          <p:cNvSpPr txBox="1"/>
          <p:nvPr/>
        </p:nvSpPr>
        <p:spPr>
          <a:xfrm>
            <a:off x="7642206" y="3400820"/>
            <a:ext cx="1013400" cy="3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200">
                <a:highlight>
                  <a:srgbClr val="FFD700"/>
                </a:highlight>
              </a:rPr>
              <a:t>64 GW</a:t>
            </a:r>
            <a:endParaRPr sz="1200">
              <a:highlight>
                <a:srgbClr val="FFD700"/>
              </a:highlight>
            </a:endParaRPr>
          </a:p>
        </p:txBody>
      </p:sp>
      <p:sp>
        <p:nvSpPr>
          <p:cNvPr id="409" name="Google Shape;409;g3c2ccbd064a_0_54"/>
          <p:cNvSpPr txBox="1"/>
          <p:nvPr/>
        </p:nvSpPr>
        <p:spPr>
          <a:xfrm>
            <a:off x="7642206" y="3050735"/>
            <a:ext cx="1013400" cy="3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200">
                <a:highlight>
                  <a:srgbClr val="FF00FF"/>
                </a:highlight>
              </a:rPr>
              <a:t>15</a:t>
            </a:r>
            <a:r>
              <a:rPr lang="de-DE" sz="1200">
                <a:highlight>
                  <a:srgbClr val="FF00FF"/>
                </a:highlight>
              </a:rPr>
              <a:t> GW</a:t>
            </a:r>
            <a:endParaRPr sz="1200">
              <a:highlight>
                <a:srgbClr val="FF00FF"/>
              </a:highlight>
            </a:endParaRPr>
          </a:p>
        </p:txBody>
      </p:sp>
      <p:sp>
        <p:nvSpPr>
          <p:cNvPr id="410" name="Google Shape;410;g3c2ccbd064a_0_54"/>
          <p:cNvSpPr txBox="1"/>
          <p:nvPr/>
        </p:nvSpPr>
        <p:spPr>
          <a:xfrm>
            <a:off x="9101900" y="2509975"/>
            <a:ext cx="2800500" cy="301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de-DE" sz="1600"/>
              <a:t>Lower o</a:t>
            </a:r>
            <a:r>
              <a:rPr lang="de-DE" sz="1600"/>
              <a:t>nwind</a:t>
            </a:r>
            <a:r>
              <a:rPr lang="de-DE" sz="1600"/>
              <a:t> capex </a:t>
            </a:r>
            <a:endParaRPr sz="1600"/>
          </a:p>
          <a:p>
            <a:pPr indent="0" lvl="0" marL="4500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600"/>
              <a:t>→  o</a:t>
            </a:r>
            <a:r>
              <a:rPr lang="de-DE" sz="1600"/>
              <a:t>nwind</a:t>
            </a:r>
            <a:r>
              <a:rPr lang="de-DE" sz="1600"/>
              <a:t> will replace solar &amp; the need for storages become less, because the cheaper o</a:t>
            </a:r>
            <a:r>
              <a:rPr lang="de-DE" sz="1600"/>
              <a:t>nwind</a:t>
            </a:r>
            <a:r>
              <a:rPr lang="de-DE" sz="1600"/>
              <a:t> makes </a:t>
            </a:r>
            <a:r>
              <a:rPr lang="de-DE" sz="1600"/>
              <a:t>curtailment</a:t>
            </a:r>
            <a:r>
              <a:rPr lang="de-DE" sz="1600"/>
              <a:t> more cost efficient than storages</a:t>
            </a:r>
            <a:endParaRPr sz="1600"/>
          </a:p>
        </p:txBody>
      </p:sp>
      <p:sp>
        <p:nvSpPr>
          <p:cNvPr id="411" name="Google Shape;411;g3c2ccbd064a_0_54"/>
          <p:cNvSpPr txBox="1"/>
          <p:nvPr/>
        </p:nvSpPr>
        <p:spPr>
          <a:xfrm>
            <a:off x="7642215" y="3233070"/>
            <a:ext cx="1013400" cy="3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200">
                <a:highlight>
                  <a:srgbClr val="9ACD32"/>
                </a:highlight>
              </a:rPr>
              <a:t>44</a:t>
            </a:r>
            <a:r>
              <a:rPr lang="de-DE" sz="1200">
                <a:highlight>
                  <a:srgbClr val="9ACD32"/>
                </a:highlight>
              </a:rPr>
              <a:t> GW</a:t>
            </a:r>
            <a:endParaRPr sz="1200">
              <a:highlight>
                <a:srgbClr val="9ACD32"/>
              </a:highlight>
            </a:endParaRPr>
          </a:p>
        </p:txBody>
      </p:sp>
      <p:sp>
        <p:nvSpPr>
          <p:cNvPr id="412" name="Google Shape;412;g3c2ccbd064a_0_54"/>
          <p:cNvSpPr txBox="1"/>
          <p:nvPr/>
        </p:nvSpPr>
        <p:spPr>
          <a:xfrm>
            <a:off x="1080616" y="4526065"/>
            <a:ext cx="1013400" cy="3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200">
                <a:highlight>
                  <a:srgbClr val="1E90FF"/>
                </a:highlight>
              </a:rPr>
              <a:t>22</a:t>
            </a:r>
            <a:endParaRPr sz="1200">
              <a:highlight>
                <a:srgbClr val="1E90FF"/>
              </a:highlight>
            </a:endParaRPr>
          </a:p>
        </p:txBody>
      </p:sp>
      <p:sp>
        <p:nvSpPr>
          <p:cNvPr id="413" name="Google Shape;413;g3c2ccbd064a_0_54"/>
          <p:cNvSpPr txBox="1"/>
          <p:nvPr/>
        </p:nvSpPr>
        <p:spPr>
          <a:xfrm>
            <a:off x="2205191" y="4458318"/>
            <a:ext cx="1013400" cy="3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200"/>
              <a:t>44</a:t>
            </a:r>
            <a:endParaRPr sz="12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3c2b2f75b73_0_64"/>
          <p:cNvSpPr txBox="1"/>
          <p:nvPr/>
        </p:nvSpPr>
        <p:spPr>
          <a:xfrm>
            <a:off x="550800" y="3019615"/>
            <a:ext cx="99579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lang="de-DE" sz="4300">
                <a:solidFill>
                  <a:schemeClr val="lt1"/>
                </a:solidFill>
              </a:rPr>
              <a:t>Limitations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g3c2b2f75b73_0_64"/>
          <p:cNvSpPr txBox="1"/>
          <p:nvPr/>
        </p:nvSpPr>
        <p:spPr>
          <a:xfrm>
            <a:off x="550801" y="5723828"/>
            <a:ext cx="11012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de-DE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Group </a:t>
            </a:r>
            <a:r>
              <a:rPr lang="de-DE" sz="1800">
                <a:solidFill>
                  <a:schemeClr val="lt1"/>
                </a:solidFill>
              </a:rPr>
              <a:t>A</a:t>
            </a:r>
            <a:r>
              <a:rPr b="0" i="0" lang="de-DE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| February </a:t>
            </a:r>
            <a:r>
              <a:rPr lang="de-DE" sz="1800">
                <a:solidFill>
                  <a:schemeClr val="lt1"/>
                </a:solidFill>
              </a:rPr>
              <a:t>5</a:t>
            </a:r>
            <a:r>
              <a:rPr b="0" baseline="30000" i="0" lang="de-DE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</a:t>
            </a:r>
            <a:r>
              <a:rPr b="0" i="0" lang="de-DE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, 2026 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g3c2b2f75b73_0_64"/>
          <p:cNvSpPr txBox="1"/>
          <p:nvPr/>
        </p:nvSpPr>
        <p:spPr>
          <a:xfrm>
            <a:off x="550801" y="6159639"/>
            <a:ext cx="11012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de-DE" sz="1800">
                <a:solidFill>
                  <a:schemeClr val="lt1"/>
                </a:solidFill>
              </a:rPr>
              <a:t>Data Science for Energy System Modelling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39337298d6a_0_0"/>
          <p:cNvSpPr txBox="1"/>
          <p:nvPr>
            <p:ph idx="3" type="body"/>
          </p:nvPr>
        </p:nvSpPr>
        <p:spPr>
          <a:xfrm>
            <a:off x="555867" y="396545"/>
            <a:ext cx="8311800" cy="717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C40D1E"/>
              </a:buClr>
              <a:buSzPts val="2400"/>
              <a:buNone/>
            </a:pPr>
            <a:r>
              <a:rPr b="1" lang="de-DE"/>
              <a:t>Model Limitations </a:t>
            </a:r>
            <a:endParaRPr b="1"/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C40D1E"/>
              </a:buClr>
              <a:buSzPts val="2400"/>
              <a:buNone/>
            </a:pPr>
            <a:r>
              <a:t/>
            </a:r>
            <a:endParaRPr b="1"/>
          </a:p>
        </p:txBody>
      </p:sp>
      <p:sp>
        <p:nvSpPr>
          <p:cNvPr id="427" name="Google Shape;427;g39337298d6a_0_0"/>
          <p:cNvSpPr txBox="1"/>
          <p:nvPr/>
        </p:nvSpPr>
        <p:spPr>
          <a:xfrm>
            <a:off x="1577575" y="6340075"/>
            <a:ext cx="5328000" cy="327300"/>
          </a:xfrm>
          <a:prstGeom prst="rect">
            <a:avLst/>
          </a:prstGeom>
          <a:solidFill>
            <a:srgbClr val="C40D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>
                <a:solidFill>
                  <a:schemeClr val="lt1"/>
                </a:solidFill>
              </a:rPr>
              <a:t>Group A | Iran RES Grid Modelling | DSESM | 5th Feb 2026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428" name="Google Shape;428;g39337298d6a_0_0"/>
          <p:cNvSpPr txBox="1"/>
          <p:nvPr/>
        </p:nvSpPr>
        <p:spPr>
          <a:xfrm>
            <a:off x="555875" y="1127850"/>
            <a:ext cx="10440300" cy="37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de-DE" sz="1600"/>
              <a:t>Data availability: </a:t>
            </a:r>
            <a:r>
              <a:rPr b="1" lang="de-DE" sz="1600"/>
              <a:t> </a:t>
            </a:r>
            <a:r>
              <a:rPr b="1" lang="de-DE" sz="1600"/>
              <a:t>load data</a:t>
            </a:r>
            <a:r>
              <a:rPr b="1" lang="de-DE" sz="1600"/>
              <a:t> (2013)</a:t>
            </a:r>
            <a:r>
              <a:rPr b="1" lang="de-DE" sz="1600"/>
              <a:t>; Power plant data (2017); Population data (2024)</a:t>
            </a:r>
            <a:endParaRPr b="1" sz="1600"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de-DE" sz="1600"/>
              <a:t>Population distributed load; industry consumption not considered</a:t>
            </a:r>
            <a:endParaRPr b="1" sz="1600"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de-DE" sz="1600"/>
              <a:t>One bus per region &amp; EEZ</a:t>
            </a:r>
            <a:endParaRPr b="1" sz="1600"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de-DE" sz="1600"/>
              <a:t>Energy import/export not considered</a:t>
            </a:r>
            <a:endParaRPr sz="1600"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de-DE" sz="1600"/>
              <a:t>2025 costs forecasted from multiple currency years at fixed discount rate</a:t>
            </a:r>
            <a:endParaRPr sz="1600"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de-DE" sz="1600"/>
              <a:t>One cost per technology (sub-type cost difference not considered)</a:t>
            </a:r>
            <a:endParaRPr sz="1600"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de-DE" sz="1600"/>
              <a:t>Storage technologies limited to H2 &amp; BESS</a:t>
            </a:r>
            <a:endParaRPr sz="1600"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de-DE" sz="1600"/>
              <a:t>3h time resolution </a:t>
            </a:r>
            <a:endParaRPr sz="1600"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de-DE" sz="1600"/>
              <a:t>Dispatchable technology ramping constraints not considered</a:t>
            </a:r>
            <a:endParaRPr sz="1600"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de-DE" sz="1600"/>
              <a:t>Global fuel prices may overestimate costs for Iran (oil/gas producer)</a:t>
            </a:r>
            <a:endParaRPr b="1" sz="16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3c2ccbd064a_1_0"/>
          <p:cNvSpPr txBox="1"/>
          <p:nvPr>
            <p:ph idx="3" type="body"/>
          </p:nvPr>
        </p:nvSpPr>
        <p:spPr>
          <a:xfrm>
            <a:off x="555867" y="396545"/>
            <a:ext cx="8311800" cy="717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C40D1E"/>
              </a:buClr>
              <a:buSzPts val="2400"/>
              <a:buNone/>
            </a:pPr>
            <a:r>
              <a:rPr b="1" lang="de-DE"/>
              <a:t>Improvement Potential</a:t>
            </a:r>
            <a:endParaRPr b="1"/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C40D1E"/>
              </a:buClr>
              <a:buSzPts val="2400"/>
              <a:buNone/>
            </a:pPr>
            <a:r>
              <a:t/>
            </a:r>
            <a:endParaRPr b="1"/>
          </a:p>
        </p:txBody>
      </p:sp>
      <p:sp>
        <p:nvSpPr>
          <p:cNvPr id="434" name="Google Shape;434;g3c2ccbd064a_1_0"/>
          <p:cNvSpPr txBox="1"/>
          <p:nvPr/>
        </p:nvSpPr>
        <p:spPr>
          <a:xfrm>
            <a:off x="1577575" y="6340075"/>
            <a:ext cx="5328000" cy="327300"/>
          </a:xfrm>
          <a:prstGeom prst="rect">
            <a:avLst/>
          </a:prstGeom>
          <a:solidFill>
            <a:srgbClr val="C40D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>
                <a:solidFill>
                  <a:schemeClr val="lt1"/>
                </a:solidFill>
              </a:rPr>
              <a:t>Group A | Iran RES Grid Modelling | DSESM | 5th Feb 2026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435" name="Google Shape;435;g3c2ccbd064a_1_0"/>
          <p:cNvSpPr txBox="1"/>
          <p:nvPr/>
        </p:nvSpPr>
        <p:spPr>
          <a:xfrm>
            <a:off x="555875" y="1127850"/>
            <a:ext cx="10440300" cy="449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de-DE" sz="1600"/>
              <a:t>Update</a:t>
            </a:r>
            <a:r>
              <a:rPr lang="de-DE" sz="1600"/>
              <a:t> load data </a:t>
            </a:r>
            <a:r>
              <a:rPr lang="de-DE" sz="1600"/>
              <a:t>to</a:t>
            </a:r>
            <a:r>
              <a:rPr lang="de-DE" sz="1600"/>
              <a:t> 2025</a:t>
            </a:r>
            <a:endParaRPr sz="1600"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de-DE" sz="1600"/>
              <a:t>Allocate regional load by GDP instead of population</a:t>
            </a:r>
            <a:endParaRPr b="1" sz="1600"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de-DE" sz="1600"/>
              <a:t>Update existing power plant data (Global Energy Monitor)</a:t>
            </a:r>
            <a:endParaRPr sz="1600"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de-DE" sz="1600"/>
              <a:t>Use grid-based network instead of one bus per region</a:t>
            </a:r>
            <a:endParaRPr b="1" sz="1600"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de-DE" sz="1600"/>
              <a:t>Include imports and exports with neighboring countries</a:t>
            </a:r>
            <a:endParaRPr sz="1600"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de-DE" sz="1600"/>
              <a:t>Further subdivide EEZ regions (beyond Caspian &amp; Persian Gulf)</a:t>
            </a:r>
            <a:endParaRPr b="1" sz="1600"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de-DE" sz="1600"/>
              <a:t>Ensure consistent currency year for costs</a:t>
            </a:r>
            <a:endParaRPr sz="1600"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de-DE" sz="1600"/>
              <a:t>Differentiate gas, oil, and nuclear technologies</a:t>
            </a:r>
            <a:endParaRPr sz="1600"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de-DE" sz="1600"/>
              <a:t>Extend storage technologies beyond batteries and hydrogen tanks</a:t>
            </a:r>
            <a:endParaRPr sz="1600"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de-DE" sz="1600"/>
              <a:t>Increase temporal resolution from 3-hourly to hourly</a:t>
            </a:r>
            <a:endParaRPr sz="1600"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de-DE" sz="1600"/>
              <a:t>Add technology-specific ramping constraints and costs</a:t>
            </a:r>
            <a:endParaRPr b="1" sz="1600"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de-DE" sz="1600"/>
              <a:t>Consider domestic extraction costs and export opportunity costs</a:t>
            </a:r>
            <a:endParaRPr sz="160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g3c2b2f75b73_0_43"/>
          <p:cNvSpPr txBox="1"/>
          <p:nvPr/>
        </p:nvSpPr>
        <p:spPr>
          <a:xfrm>
            <a:off x="550800" y="3019615"/>
            <a:ext cx="99579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lang="de-DE" sz="4300">
                <a:solidFill>
                  <a:schemeClr val="lt1"/>
                </a:solidFill>
              </a:rPr>
              <a:t>Thanks. Any Question?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" name="Google Shape;442;g3c2b2f75b73_0_43"/>
          <p:cNvSpPr txBox="1"/>
          <p:nvPr/>
        </p:nvSpPr>
        <p:spPr>
          <a:xfrm>
            <a:off x="550801" y="5723828"/>
            <a:ext cx="11012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de-DE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Group </a:t>
            </a:r>
            <a:r>
              <a:rPr lang="de-DE" sz="1800">
                <a:solidFill>
                  <a:schemeClr val="lt1"/>
                </a:solidFill>
              </a:rPr>
              <a:t>A</a:t>
            </a:r>
            <a:r>
              <a:rPr b="0" i="0" lang="de-DE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| February </a:t>
            </a:r>
            <a:r>
              <a:rPr lang="de-DE" sz="1800">
                <a:solidFill>
                  <a:schemeClr val="lt1"/>
                </a:solidFill>
              </a:rPr>
              <a:t>5</a:t>
            </a:r>
            <a:r>
              <a:rPr b="0" baseline="30000" i="0" lang="de-DE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</a:t>
            </a:r>
            <a:r>
              <a:rPr b="0" i="0" lang="de-DE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, 2026 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g3c2b2f75b73_0_43"/>
          <p:cNvSpPr txBox="1"/>
          <p:nvPr/>
        </p:nvSpPr>
        <p:spPr>
          <a:xfrm>
            <a:off x="550801" y="6159639"/>
            <a:ext cx="11012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de-DE" sz="1800">
                <a:solidFill>
                  <a:schemeClr val="lt1"/>
                </a:solidFill>
              </a:rPr>
              <a:t>Data Science for Energy System Modelling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g3c2ccbd064a_1_19"/>
          <p:cNvSpPr txBox="1"/>
          <p:nvPr>
            <p:ph idx="2" type="body"/>
          </p:nvPr>
        </p:nvSpPr>
        <p:spPr>
          <a:xfrm>
            <a:off x="550800" y="1371600"/>
            <a:ext cx="9721800" cy="152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de-DE" sz="1050">
                <a:solidFill>
                  <a:srgbClr val="000000"/>
                </a:solidFill>
              </a:rPr>
              <a:t>(Bundesamt, 2024)</a:t>
            </a:r>
            <a:endParaRPr b="1" sz="105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050">
                <a:solidFill>
                  <a:srgbClr val="000000"/>
                </a:solidFill>
              </a:rPr>
              <a:t>“Bevölkerung Im Jahr 2024 Um 100 000 Menschen Gewachsen.” </a:t>
            </a:r>
            <a:r>
              <a:rPr i="1" lang="de-DE" sz="1050">
                <a:solidFill>
                  <a:srgbClr val="000000"/>
                </a:solidFill>
              </a:rPr>
              <a:t>Statistisches Bundesamt</a:t>
            </a:r>
            <a:r>
              <a:rPr lang="de-DE" sz="1050">
                <a:solidFill>
                  <a:srgbClr val="000000"/>
                </a:solidFill>
              </a:rPr>
              <a:t>, 2025, www.destatis.de/DE/Presse/Pressemitteilungen/2025/01/PD25_030_124.html. Accessed 02 Feb. 2026.</a:t>
            </a:r>
            <a:endParaRPr sz="105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de-DE" sz="1050">
                <a:solidFill>
                  <a:srgbClr val="000000"/>
                </a:solidFill>
              </a:rPr>
              <a:t>(Statistical Center of Iran, 2024)</a:t>
            </a:r>
            <a:endParaRPr b="1" sz="105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050">
                <a:solidFill>
                  <a:srgbClr val="000000"/>
                </a:solidFill>
              </a:rPr>
              <a:t>iranopendata.org/en/dataset/iod-06124-estimated-population-iran-province-2024/. Accessed 02 Feb. 2026.</a:t>
            </a:r>
            <a:endParaRPr sz="105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de-DE" sz="1050">
                <a:solidFill>
                  <a:srgbClr val="000000"/>
                </a:solidFill>
              </a:rPr>
              <a:t>(Ember Energy, 2025)</a:t>
            </a:r>
            <a:endParaRPr sz="105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050">
                <a:solidFill>
                  <a:srgbClr val="000000"/>
                </a:solidFill>
              </a:rPr>
              <a:t>“Iran.” </a:t>
            </a:r>
            <a:r>
              <a:rPr i="1" lang="de-DE" sz="1050">
                <a:solidFill>
                  <a:srgbClr val="000000"/>
                </a:solidFill>
              </a:rPr>
              <a:t>Ember</a:t>
            </a:r>
            <a:r>
              <a:rPr lang="de-DE" sz="1050">
                <a:solidFill>
                  <a:srgbClr val="000000"/>
                </a:solidFill>
              </a:rPr>
              <a:t>, 10 Apr. 2025, ember-energy.org/countries-and-regions/iran/. Accessed 02 Feb. 2026.</a:t>
            </a:r>
            <a:endParaRPr sz="105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de-DE" sz="1050">
                <a:solidFill>
                  <a:srgbClr val="000000"/>
                </a:solidFill>
              </a:rPr>
              <a:t>(IR Gas Production, 2024) </a:t>
            </a:r>
            <a:endParaRPr sz="105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050">
                <a:solidFill>
                  <a:srgbClr val="000000"/>
                </a:solidFill>
              </a:rPr>
              <a:t>Kgi-Admin. “Iran Natural Gas Production: Data and Insights.” </a:t>
            </a:r>
            <a:r>
              <a:rPr i="1" lang="de-DE" sz="1050">
                <a:solidFill>
                  <a:srgbClr val="000000"/>
                </a:solidFill>
              </a:rPr>
              <a:t>Offshore Technology</a:t>
            </a:r>
            <a:r>
              <a:rPr lang="de-DE" sz="1050">
                <a:solidFill>
                  <a:srgbClr val="000000"/>
                </a:solidFill>
              </a:rPr>
              <a:t>, 11 July 2024, www.offshore-technology.com/data-insights/iran-natural-gas-production/. Accessed 02 Feb. 2026.</a:t>
            </a:r>
            <a:endParaRPr sz="105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de-DE" sz="1050">
                <a:solidFill>
                  <a:srgbClr val="000000"/>
                </a:solidFill>
              </a:rPr>
              <a:t>(IR Oil Production, 2023)</a:t>
            </a:r>
            <a:endParaRPr sz="105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050">
                <a:solidFill>
                  <a:srgbClr val="000000"/>
                </a:solidFill>
              </a:rPr>
              <a:t>LLC, Globalen. “Iran Percent of World Oil Production - Data, Chart.” </a:t>
            </a:r>
            <a:r>
              <a:rPr i="1" lang="de-DE" sz="1050">
                <a:solidFill>
                  <a:srgbClr val="000000"/>
                </a:solidFill>
              </a:rPr>
              <a:t>TheGlobalEconomy.Com</a:t>
            </a:r>
            <a:r>
              <a:rPr lang="de-DE" sz="1050">
                <a:solidFill>
                  <a:srgbClr val="000000"/>
                </a:solidFill>
              </a:rPr>
              <a:t>, www.theglobaleconomy.com/Iran/oil_production_share/. Accessed 02 Feb. 2026.</a:t>
            </a:r>
            <a:endParaRPr sz="105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g3c2ccbd064a_1_19"/>
          <p:cNvSpPr txBox="1"/>
          <p:nvPr>
            <p:ph idx="3" type="body"/>
          </p:nvPr>
        </p:nvSpPr>
        <p:spPr>
          <a:xfrm>
            <a:off x="555867" y="396545"/>
            <a:ext cx="8311800" cy="717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External Dataset References</a:t>
            </a:r>
            <a:endParaRPr/>
          </a:p>
        </p:txBody>
      </p:sp>
      <p:sp>
        <p:nvSpPr>
          <p:cNvPr id="451" name="Google Shape;451;g3c2ccbd064a_1_19"/>
          <p:cNvSpPr txBox="1"/>
          <p:nvPr/>
        </p:nvSpPr>
        <p:spPr>
          <a:xfrm>
            <a:off x="550800" y="5456275"/>
            <a:ext cx="9957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lang="de-DE">
                <a:solidFill>
                  <a:schemeClr val="dk1"/>
                </a:solidFill>
              </a:rPr>
              <a:t>The model can be found in git repository: </a:t>
            </a:r>
            <a:r>
              <a:rPr b="1" lang="de-DE" u="sng">
                <a:solidFill>
                  <a:srgbClr val="2F95EC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Link</a:t>
            </a:r>
            <a:endParaRPr b="1">
              <a:solidFill>
                <a:srgbClr val="2F95EC"/>
              </a:solidFill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g3c2ccbd064a_0_0"/>
          <p:cNvSpPr txBox="1"/>
          <p:nvPr/>
        </p:nvSpPr>
        <p:spPr>
          <a:xfrm>
            <a:off x="550800" y="3019615"/>
            <a:ext cx="99579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lang="de-DE" sz="4300">
                <a:solidFill>
                  <a:schemeClr val="lt1"/>
                </a:solidFill>
              </a:rPr>
              <a:t>Archive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8" name="Google Shape;458;g3c2ccbd064a_0_0"/>
          <p:cNvSpPr txBox="1"/>
          <p:nvPr/>
        </p:nvSpPr>
        <p:spPr>
          <a:xfrm>
            <a:off x="550801" y="5723828"/>
            <a:ext cx="11012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de-DE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Group </a:t>
            </a:r>
            <a:r>
              <a:rPr lang="de-DE" sz="1800">
                <a:solidFill>
                  <a:schemeClr val="lt1"/>
                </a:solidFill>
              </a:rPr>
              <a:t>A</a:t>
            </a:r>
            <a:r>
              <a:rPr b="0" i="0" lang="de-DE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| February </a:t>
            </a:r>
            <a:r>
              <a:rPr lang="de-DE" sz="1800">
                <a:solidFill>
                  <a:schemeClr val="lt1"/>
                </a:solidFill>
              </a:rPr>
              <a:t>5</a:t>
            </a:r>
            <a:r>
              <a:rPr b="0" baseline="30000" i="0" lang="de-DE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</a:t>
            </a:r>
            <a:r>
              <a:rPr b="0" i="0" lang="de-DE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, 2026 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9" name="Google Shape;459;g3c2ccbd064a_0_0"/>
          <p:cNvSpPr txBox="1"/>
          <p:nvPr/>
        </p:nvSpPr>
        <p:spPr>
          <a:xfrm>
            <a:off x="550801" y="6159639"/>
            <a:ext cx="11012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de-DE" sz="1800">
                <a:solidFill>
                  <a:schemeClr val="lt1"/>
                </a:solidFill>
              </a:rPr>
              <a:t>Data Science for Energy System Modelling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0" name="Google Shape;460;g3c2ccbd064a_0_0"/>
          <p:cNvSpPr txBox="1"/>
          <p:nvPr/>
        </p:nvSpPr>
        <p:spPr>
          <a:xfrm>
            <a:off x="550800" y="4221165"/>
            <a:ext cx="9957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lang="de-DE">
                <a:solidFill>
                  <a:schemeClr val="lt1"/>
                </a:solidFill>
              </a:rPr>
              <a:t>The model can be found in git repository: </a:t>
            </a:r>
            <a:r>
              <a:rPr b="1" lang="de-DE" u="sng">
                <a:solidFill>
                  <a:srgbClr val="2F95EC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Link</a:t>
            </a:r>
            <a:endParaRPr b="1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g3c2b2f75b73_0_232"/>
          <p:cNvSpPr txBox="1"/>
          <p:nvPr>
            <p:ph idx="3" type="body"/>
          </p:nvPr>
        </p:nvSpPr>
        <p:spPr>
          <a:xfrm>
            <a:off x="555867" y="396545"/>
            <a:ext cx="8311800" cy="717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C40D1E"/>
              </a:buClr>
              <a:buSzPts val="2400"/>
              <a:buNone/>
            </a:pPr>
            <a:r>
              <a:rPr b="1" lang="de-DE"/>
              <a:t>Inputs - RES Time Series (PV - Monthly Average)</a:t>
            </a:r>
            <a:endParaRPr b="1"/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C40D1E"/>
              </a:buClr>
              <a:buSzPts val="2400"/>
              <a:buNone/>
            </a:pPr>
            <a:r>
              <a:t/>
            </a:r>
            <a:endParaRPr b="1"/>
          </a:p>
        </p:txBody>
      </p:sp>
      <p:sp>
        <p:nvSpPr>
          <p:cNvPr id="466" name="Google Shape;466;g3c2b2f75b73_0_232"/>
          <p:cNvSpPr txBox="1"/>
          <p:nvPr/>
        </p:nvSpPr>
        <p:spPr>
          <a:xfrm>
            <a:off x="1577575" y="6340075"/>
            <a:ext cx="5328000" cy="327300"/>
          </a:xfrm>
          <a:prstGeom prst="rect">
            <a:avLst/>
          </a:prstGeom>
          <a:solidFill>
            <a:srgbClr val="C40D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>
                <a:solidFill>
                  <a:schemeClr val="lt1"/>
                </a:solidFill>
              </a:rPr>
              <a:t>Group A | Iran RES Grid Modelling | DSESM | 5th Feb 2026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467" name="Google Shape;467;g3c2b2f75b73_0_232" title="pv_cf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5876" y="1253100"/>
            <a:ext cx="10663651" cy="4201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g3c2b2f75b73_0_238"/>
          <p:cNvSpPr txBox="1"/>
          <p:nvPr>
            <p:ph idx="3" type="body"/>
          </p:nvPr>
        </p:nvSpPr>
        <p:spPr>
          <a:xfrm>
            <a:off x="555876" y="396550"/>
            <a:ext cx="9478500" cy="717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C40D1E"/>
              </a:buClr>
              <a:buSzPts val="2400"/>
              <a:buNone/>
            </a:pPr>
            <a:r>
              <a:rPr b="1" lang="de-DE"/>
              <a:t>Inputs - RES Time Series (Wind onshore - Monthly Average)</a:t>
            </a:r>
            <a:endParaRPr b="1"/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C40D1E"/>
              </a:buClr>
              <a:buSzPts val="2400"/>
              <a:buNone/>
            </a:pPr>
            <a:r>
              <a:t/>
            </a:r>
            <a:endParaRPr b="1"/>
          </a:p>
        </p:txBody>
      </p:sp>
      <p:sp>
        <p:nvSpPr>
          <p:cNvPr id="473" name="Google Shape;473;g3c2b2f75b73_0_238"/>
          <p:cNvSpPr txBox="1"/>
          <p:nvPr/>
        </p:nvSpPr>
        <p:spPr>
          <a:xfrm>
            <a:off x="1577575" y="6340075"/>
            <a:ext cx="5328000" cy="327300"/>
          </a:xfrm>
          <a:prstGeom prst="rect">
            <a:avLst/>
          </a:prstGeom>
          <a:solidFill>
            <a:srgbClr val="C40D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>
                <a:solidFill>
                  <a:schemeClr val="lt1"/>
                </a:solidFill>
              </a:rPr>
              <a:t>Group A | Iran RES Grid Modelling | DSESM | 5th Feb 2026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474" name="Google Shape;474;g3c2b2f75b73_0_238" title="onwind_cf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5876" y="1113858"/>
            <a:ext cx="10970349" cy="4322800"/>
          </a:xfrm>
          <a:prstGeom prst="rect">
            <a:avLst/>
          </a:prstGeom>
          <a:noFill/>
          <a:ln>
            <a:noFill/>
          </a:ln>
        </p:spPr>
      </p:pic>
      <p:sp>
        <p:nvSpPr>
          <p:cNvPr id="475" name="Google Shape;475;g3c2b2f75b73_0_238"/>
          <p:cNvSpPr txBox="1"/>
          <p:nvPr/>
        </p:nvSpPr>
        <p:spPr>
          <a:xfrm>
            <a:off x="5381500" y="1748475"/>
            <a:ext cx="1602900" cy="3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000">
                <a:highlight>
                  <a:srgbClr val="FA7EA4"/>
                </a:highlight>
              </a:rPr>
              <a:t>South Khorasan</a:t>
            </a:r>
            <a:endParaRPr sz="1000">
              <a:highlight>
                <a:srgbClr val="FA7EA4"/>
              </a:highlight>
            </a:endParaRPr>
          </a:p>
        </p:txBody>
      </p:sp>
      <p:sp>
        <p:nvSpPr>
          <p:cNvPr id="476" name="Google Shape;476;g3c2b2f75b73_0_238"/>
          <p:cNvSpPr txBox="1"/>
          <p:nvPr/>
        </p:nvSpPr>
        <p:spPr>
          <a:xfrm>
            <a:off x="4357150" y="2172875"/>
            <a:ext cx="1602900" cy="3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000">
                <a:highlight>
                  <a:srgbClr val="B57BF9"/>
                </a:highlight>
              </a:rPr>
              <a:t>Razavi Khorasan</a:t>
            </a:r>
            <a:endParaRPr sz="1000">
              <a:highlight>
                <a:srgbClr val="B57BF9"/>
              </a:highlight>
            </a:endParaRPr>
          </a:p>
        </p:txBody>
      </p:sp>
      <p:sp>
        <p:nvSpPr>
          <p:cNvPr id="477" name="Google Shape;477;g3c2b2f75b73_0_238"/>
          <p:cNvSpPr txBox="1"/>
          <p:nvPr/>
        </p:nvSpPr>
        <p:spPr>
          <a:xfrm>
            <a:off x="4357150" y="2781825"/>
            <a:ext cx="1602900" cy="3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000">
                <a:highlight>
                  <a:srgbClr val="F9B07C"/>
                </a:highlight>
              </a:rPr>
              <a:t>Semnan</a:t>
            </a:r>
            <a:endParaRPr sz="1000">
              <a:highlight>
                <a:srgbClr val="F9B07C"/>
              </a:highlight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g3c2b2f75b73_0_218"/>
          <p:cNvSpPr txBox="1"/>
          <p:nvPr>
            <p:ph idx="3" type="body"/>
          </p:nvPr>
        </p:nvSpPr>
        <p:spPr>
          <a:xfrm>
            <a:off x="555876" y="396550"/>
            <a:ext cx="9867000" cy="717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C40D1E"/>
              </a:buClr>
              <a:buSzPts val="2400"/>
              <a:buNone/>
            </a:pPr>
            <a:r>
              <a:rPr b="1" lang="de-DE"/>
              <a:t>Inputs - RES Time Series (Wind offshore - Monthly Average)</a:t>
            </a:r>
            <a:endParaRPr b="1"/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C40D1E"/>
              </a:buClr>
              <a:buSzPts val="2400"/>
              <a:buNone/>
            </a:pPr>
            <a:r>
              <a:t/>
            </a:r>
            <a:endParaRPr b="1"/>
          </a:p>
        </p:txBody>
      </p:sp>
      <p:sp>
        <p:nvSpPr>
          <p:cNvPr id="483" name="Google Shape;483;g3c2b2f75b73_0_218"/>
          <p:cNvSpPr txBox="1"/>
          <p:nvPr/>
        </p:nvSpPr>
        <p:spPr>
          <a:xfrm>
            <a:off x="1577575" y="6340075"/>
            <a:ext cx="5328000" cy="327300"/>
          </a:xfrm>
          <a:prstGeom prst="rect">
            <a:avLst/>
          </a:prstGeom>
          <a:solidFill>
            <a:srgbClr val="C40D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>
                <a:solidFill>
                  <a:schemeClr val="lt1"/>
                </a:solidFill>
              </a:rPr>
              <a:t>Group A | Iran RES Grid Modelling | DSESM | 5th Feb 2026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484" name="Google Shape;484;g3c2b2f75b73_0_218" title="offwind_cf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5875" y="1230650"/>
            <a:ext cx="10877550" cy="428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g3c2b2f75b73_0_225"/>
          <p:cNvSpPr txBox="1"/>
          <p:nvPr>
            <p:ph idx="3" type="body"/>
          </p:nvPr>
        </p:nvSpPr>
        <p:spPr>
          <a:xfrm>
            <a:off x="555876" y="396550"/>
            <a:ext cx="9867000" cy="717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C40D1E"/>
              </a:buClr>
              <a:buSzPts val="2400"/>
              <a:buNone/>
            </a:pPr>
            <a:r>
              <a:rPr b="1" lang="de-DE"/>
              <a:t>Inputs - RES Time Series (Wind offshore - Daily Average)</a:t>
            </a:r>
            <a:endParaRPr b="1"/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C40D1E"/>
              </a:buClr>
              <a:buSzPts val="2400"/>
              <a:buNone/>
            </a:pPr>
            <a:r>
              <a:t/>
            </a:r>
            <a:endParaRPr b="1"/>
          </a:p>
        </p:txBody>
      </p:sp>
      <p:sp>
        <p:nvSpPr>
          <p:cNvPr id="490" name="Google Shape;490;g3c2b2f75b73_0_225"/>
          <p:cNvSpPr txBox="1"/>
          <p:nvPr/>
        </p:nvSpPr>
        <p:spPr>
          <a:xfrm>
            <a:off x="1577575" y="6340075"/>
            <a:ext cx="5328000" cy="327300"/>
          </a:xfrm>
          <a:prstGeom prst="rect">
            <a:avLst/>
          </a:prstGeom>
          <a:solidFill>
            <a:srgbClr val="C40D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>
                <a:solidFill>
                  <a:schemeClr val="lt1"/>
                </a:solidFill>
              </a:rPr>
              <a:t>Group A | Iran RES Grid Modelling | DSESM | 5th Feb 2026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491" name="Google Shape;491;g3c2b2f75b73_0_225" title="offwind_cf_daily_avg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5875" y="1352100"/>
            <a:ext cx="11132276" cy="4153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6" name="Google Shape;496;g3c306ade58d_0_20" title="Price Duration Curves_top 1.5 percent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3925" y="1113850"/>
            <a:ext cx="10344150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97" name="Google Shape;497;g3c306ade58d_0_20"/>
          <p:cNvSpPr txBox="1"/>
          <p:nvPr>
            <p:ph idx="3" type="body"/>
          </p:nvPr>
        </p:nvSpPr>
        <p:spPr>
          <a:xfrm>
            <a:off x="555867" y="396545"/>
            <a:ext cx="8311800" cy="717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C40D1E"/>
              </a:buClr>
              <a:buSzPts val="2400"/>
              <a:buNone/>
            </a:pPr>
            <a:r>
              <a:rPr b="1" lang="de-DE"/>
              <a:t>Results - Prices</a:t>
            </a:r>
            <a:endParaRPr b="1"/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C40D1E"/>
              </a:buClr>
              <a:buSzPts val="2400"/>
              <a:buNone/>
            </a:pPr>
            <a:r>
              <a:t/>
            </a:r>
            <a:endParaRPr b="1"/>
          </a:p>
        </p:txBody>
      </p:sp>
      <p:sp>
        <p:nvSpPr>
          <p:cNvPr id="498" name="Google Shape;498;g3c306ade58d_0_20"/>
          <p:cNvSpPr txBox="1"/>
          <p:nvPr/>
        </p:nvSpPr>
        <p:spPr>
          <a:xfrm>
            <a:off x="1577575" y="6340075"/>
            <a:ext cx="5328000" cy="327300"/>
          </a:xfrm>
          <a:prstGeom prst="rect">
            <a:avLst/>
          </a:prstGeom>
          <a:solidFill>
            <a:srgbClr val="C40D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>
                <a:solidFill>
                  <a:schemeClr val="lt1"/>
                </a:solidFill>
              </a:rPr>
              <a:t>Group A | Iran RES Grid Modelling | DSESM | 5th Feb 2026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499" name="Google Shape;499;g3c306ade58d_0_20"/>
          <p:cNvSpPr txBox="1"/>
          <p:nvPr/>
        </p:nvSpPr>
        <p:spPr>
          <a:xfrm>
            <a:off x="4567800" y="1228600"/>
            <a:ext cx="3056400" cy="413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300">
                <a:solidFill>
                  <a:schemeClr val="dk1"/>
                </a:solidFill>
              </a:rPr>
              <a:t>Price Duration Curve (Top 1.5%)</a:t>
            </a:r>
            <a:endParaRPr sz="1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4" name="Google Shape;504;g3c32c431a11_0_0" title="marginal price time series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3925" y="1120556"/>
            <a:ext cx="10344150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505" name="Google Shape;505;g3c32c431a11_0_0"/>
          <p:cNvSpPr txBox="1"/>
          <p:nvPr>
            <p:ph idx="3" type="body"/>
          </p:nvPr>
        </p:nvSpPr>
        <p:spPr>
          <a:xfrm>
            <a:off x="555867" y="396545"/>
            <a:ext cx="8311800" cy="717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C40D1E"/>
              </a:buClr>
              <a:buSzPts val="2400"/>
              <a:buNone/>
            </a:pPr>
            <a:r>
              <a:rPr b="1" lang="de-DE"/>
              <a:t>Results - Prices</a:t>
            </a:r>
            <a:endParaRPr b="1"/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C40D1E"/>
              </a:buClr>
              <a:buSzPts val="2400"/>
              <a:buNone/>
            </a:pPr>
            <a:r>
              <a:t/>
            </a:r>
            <a:endParaRPr b="1"/>
          </a:p>
        </p:txBody>
      </p:sp>
      <p:sp>
        <p:nvSpPr>
          <p:cNvPr id="506" name="Google Shape;506;g3c32c431a11_0_0"/>
          <p:cNvSpPr txBox="1"/>
          <p:nvPr/>
        </p:nvSpPr>
        <p:spPr>
          <a:xfrm>
            <a:off x="1577575" y="6340075"/>
            <a:ext cx="5328000" cy="327300"/>
          </a:xfrm>
          <a:prstGeom prst="rect">
            <a:avLst/>
          </a:prstGeom>
          <a:solidFill>
            <a:srgbClr val="C40D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>
                <a:solidFill>
                  <a:schemeClr val="lt1"/>
                </a:solidFill>
              </a:rPr>
              <a:t>Group A | Iran RES Grid Modelling | DSESM | 5th Feb 2026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507" name="Google Shape;507;g3c32c431a11_0_0"/>
          <p:cNvSpPr txBox="1"/>
          <p:nvPr/>
        </p:nvSpPr>
        <p:spPr>
          <a:xfrm>
            <a:off x="3827850" y="1228625"/>
            <a:ext cx="4536300" cy="413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300">
                <a:solidFill>
                  <a:schemeClr val="dk1"/>
                </a:solidFill>
              </a:rPr>
              <a:t>Average Marginal Price Time Series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508" name="Google Shape;508;g3c32c431a11_0_0"/>
          <p:cNvSpPr txBox="1"/>
          <p:nvPr/>
        </p:nvSpPr>
        <p:spPr>
          <a:xfrm>
            <a:off x="923925" y="5247125"/>
            <a:ext cx="8547000" cy="413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-DE" sz="1300">
                <a:solidFill>
                  <a:schemeClr val="dk1"/>
                </a:solidFill>
              </a:rPr>
              <a:t>Note: </a:t>
            </a:r>
            <a:r>
              <a:rPr lang="de-DE" sz="1300">
                <a:solidFill>
                  <a:schemeClr val="dk1"/>
                </a:solidFill>
              </a:rPr>
              <a:t>Values greater than 500 €/MWh are clipped at 500/MWh for better visualization</a:t>
            </a:r>
            <a:endParaRPr sz="1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g3c2b2f75b73_0_193"/>
          <p:cNvSpPr txBox="1"/>
          <p:nvPr>
            <p:ph idx="3" type="body"/>
          </p:nvPr>
        </p:nvSpPr>
        <p:spPr>
          <a:xfrm>
            <a:off x="555867" y="396545"/>
            <a:ext cx="8311800" cy="717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C40D1E"/>
              </a:buClr>
              <a:buSzPts val="2400"/>
              <a:buNone/>
            </a:pPr>
            <a:r>
              <a:rPr b="1" lang="de-DE"/>
              <a:t>Results - Curtailed Energy</a:t>
            </a:r>
            <a:endParaRPr b="1"/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C40D1E"/>
              </a:buClr>
              <a:buSzPts val="2400"/>
              <a:buNone/>
            </a:pPr>
            <a:r>
              <a:t/>
            </a:r>
            <a:endParaRPr b="1"/>
          </a:p>
        </p:txBody>
      </p:sp>
      <p:sp>
        <p:nvSpPr>
          <p:cNvPr id="514" name="Google Shape;514;g3c2b2f75b73_0_193"/>
          <p:cNvSpPr txBox="1"/>
          <p:nvPr/>
        </p:nvSpPr>
        <p:spPr>
          <a:xfrm>
            <a:off x="1577575" y="6340075"/>
            <a:ext cx="5328000" cy="327300"/>
          </a:xfrm>
          <a:prstGeom prst="rect">
            <a:avLst/>
          </a:prstGeom>
          <a:solidFill>
            <a:srgbClr val="C40D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>
                <a:solidFill>
                  <a:schemeClr val="lt1"/>
                </a:solidFill>
              </a:rPr>
              <a:t>Group A | Iran RES Grid Modelling | DSESM | 5th Feb 2026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515" name="Google Shape;515;g3c2b2f75b73_0_193" title="Curtailed Energy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38388" y="1095370"/>
            <a:ext cx="7515225" cy="4667250"/>
          </a:xfrm>
          <a:prstGeom prst="rect">
            <a:avLst/>
          </a:prstGeom>
          <a:noFill/>
          <a:ln>
            <a:noFill/>
          </a:ln>
        </p:spPr>
      </p:pic>
      <p:sp>
        <p:nvSpPr>
          <p:cNvPr id="516" name="Google Shape;516;g3c2b2f75b73_0_193"/>
          <p:cNvSpPr txBox="1"/>
          <p:nvPr/>
        </p:nvSpPr>
        <p:spPr>
          <a:xfrm>
            <a:off x="3853025" y="4655254"/>
            <a:ext cx="684300" cy="3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900">
                <a:highlight>
                  <a:srgbClr val="F4D218"/>
                </a:highlight>
              </a:rPr>
              <a:t>4.6</a:t>
            </a:r>
            <a:endParaRPr sz="900">
              <a:highlight>
                <a:srgbClr val="F4D218"/>
              </a:highlight>
            </a:endParaRPr>
          </a:p>
        </p:txBody>
      </p:sp>
      <p:sp>
        <p:nvSpPr>
          <p:cNvPr id="517" name="Google Shape;517;g3c2b2f75b73_0_193"/>
          <p:cNvSpPr txBox="1"/>
          <p:nvPr/>
        </p:nvSpPr>
        <p:spPr>
          <a:xfrm>
            <a:off x="6873375" y="2934054"/>
            <a:ext cx="684300" cy="3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900">
                <a:highlight>
                  <a:srgbClr val="F4D218"/>
                </a:highlight>
              </a:rPr>
              <a:t>140.2</a:t>
            </a:r>
            <a:endParaRPr sz="900">
              <a:highlight>
                <a:srgbClr val="F4D218"/>
              </a:highlight>
            </a:endParaRPr>
          </a:p>
        </p:txBody>
      </p:sp>
      <p:sp>
        <p:nvSpPr>
          <p:cNvPr id="518" name="Google Shape;518;g3c2b2f75b73_0_193"/>
          <p:cNvSpPr txBox="1"/>
          <p:nvPr/>
        </p:nvSpPr>
        <p:spPr>
          <a:xfrm>
            <a:off x="6873375" y="4530904"/>
            <a:ext cx="684300" cy="3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900">
                <a:highlight>
                  <a:srgbClr val="1E90FF"/>
                </a:highlight>
              </a:rPr>
              <a:t>24.5</a:t>
            </a:r>
            <a:endParaRPr sz="900">
              <a:highlight>
                <a:srgbClr val="1E90FF"/>
              </a:highlight>
            </a:endParaRPr>
          </a:p>
        </p:txBody>
      </p:sp>
      <p:sp>
        <p:nvSpPr>
          <p:cNvPr id="519" name="Google Shape;519;g3c2b2f75b73_0_193"/>
          <p:cNvSpPr txBox="1"/>
          <p:nvPr/>
        </p:nvSpPr>
        <p:spPr>
          <a:xfrm>
            <a:off x="4429950" y="4819382"/>
            <a:ext cx="684300" cy="3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900">
                <a:highlight>
                  <a:srgbClr val="1E90FF"/>
                </a:highlight>
              </a:rPr>
              <a:t>0.3</a:t>
            </a:r>
            <a:endParaRPr sz="900">
              <a:highlight>
                <a:srgbClr val="1E90FF"/>
              </a:highlight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g3c32c431a11_0_116"/>
          <p:cNvSpPr txBox="1"/>
          <p:nvPr>
            <p:ph idx="3" type="body"/>
          </p:nvPr>
        </p:nvSpPr>
        <p:spPr>
          <a:xfrm>
            <a:off x="555867" y="396545"/>
            <a:ext cx="8311800" cy="717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C40D1E"/>
              </a:buClr>
              <a:buSzPts val="2400"/>
              <a:buNone/>
            </a:pPr>
            <a:r>
              <a:rPr b="1" lang="de-DE"/>
              <a:t>Inputs - Land Eligibility Analysis - Wind Onshore</a:t>
            </a:r>
            <a:endParaRPr b="1"/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C40D1E"/>
              </a:buClr>
              <a:buSzPts val="2400"/>
              <a:buNone/>
            </a:pPr>
            <a:r>
              <a:t/>
            </a:r>
            <a:endParaRPr b="1"/>
          </a:p>
        </p:txBody>
      </p:sp>
      <p:sp>
        <p:nvSpPr>
          <p:cNvPr id="525" name="Google Shape;525;g3c32c431a11_0_116"/>
          <p:cNvSpPr txBox="1"/>
          <p:nvPr/>
        </p:nvSpPr>
        <p:spPr>
          <a:xfrm>
            <a:off x="1577575" y="6340075"/>
            <a:ext cx="5328000" cy="327300"/>
          </a:xfrm>
          <a:prstGeom prst="rect">
            <a:avLst/>
          </a:prstGeom>
          <a:solidFill>
            <a:srgbClr val="C40D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>
                <a:solidFill>
                  <a:schemeClr val="lt1"/>
                </a:solidFill>
              </a:rPr>
              <a:t>Group A | Iran RES Grid Modelling | DSESM | 5th Feb 2026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526" name="Google Shape;526;g3c32c431a11_0_116"/>
          <p:cNvSpPr txBox="1"/>
          <p:nvPr/>
        </p:nvSpPr>
        <p:spPr>
          <a:xfrm>
            <a:off x="4716038" y="1315625"/>
            <a:ext cx="30000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E3E3E3"/>
              </a:solidFill>
              <a:highlight>
                <a:srgbClr val="282A2C"/>
              </a:highlight>
            </a:endParaRPr>
          </a:p>
        </p:txBody>
      </p:sp>
      <p:sp>
        <p:nvSpPr>
          <p:cNvPr id="527" name="Google Shape;527;g3c32c431a11_0_116"/>
          <p:cNvSpPr txBox="1"/>
          <p:nvPr/>
        </p:nvSpPr>
        <p:spPr>
          <a:xfrm>
            <a:off x="351807" y="4455793"/>
            <a:ext cx="2673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100"/>
              <a:t>Exclusion of airports (10 km distance)</a:t>
            </a:r>
            <a:endParaRPr sz="1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100"/>
              <a:t>&amp; Roads (300 m distance)</a:t>
            </a:r>
            <a:endParaRPr sz="1100"/>
          </a:p>
        </p:txBody>
      </p:sp>
      <p:sp>
        <p:nvSpPr>
          <p:cNvPr id="528" name="Google Shape;528;g3c32c431a11_0_116"/>
          <p:cNvSpPr txBox="1"/>
          <p:nvPr/>
        </p:nvSpPr>
        <p:spPr>
          <a:xfrm>
            <a:off x="83725" y="5304082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de-DE" sz="1000"/>
              <a:t>EXCLUDE: </a:t>
            </a:r>
            <a:r>
              <a:rPr lang="de-DE" sz="1000"/>
              <a:t>codes 100: Moss &amp; Lichen, 90: Wetlands, 200: Open sea, 80: water bodies, 70: snow &amp; ice, 111, 112, 113, 114, 115, 116: closed forrest</a:t>
            </a:r>
            <a:endParaRPr sz="10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de-DE" sz="1000"/>
              <a:t>INCLUDE: </a:t>
            </a:r>
            <a:r>
              <a:rPr lang="de-DE" sz="1000"/>
              <a:t>codes 60: Bare / sparse vegetation, 20: Shrubs, 30: Herbaceous vegetation</a:t>
            </a:r>
            <a:endParaRPr sz="1000"/>
          </a:p>
        </p:txBody>
      </p:sp>
      <p:pic>
        <p:nvPicPr>
          <p:cNvPr id="529" name="Google Shape;529;g3c32c431a11_0_1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8798" y="1587767"/>
            <a:ext cx="2979599" cy="2807702"/>
          </a:xfrm>
          <a:prstGeom prst="rect">
            <a:avLst/>
          </a:prstGeom>
          <a:noFill/>
          <a:ln>
            <a:noFill/>
          </a:ln>
        </p:spPr>
      </p:pic>
      <p:pic>
        <p:nvPicPr>
          <p:cNvPr id="530" name="Google Shape;530;g3c32c431a11_0_1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53232" y="1580952"/>
            <a:ext cx="2979599" cy="2807708"/>
          </a:xfrm>
          <a:prstGeom prst="rect">
            <a:avLst/>
          </a:prstGeom>
          <a:noFill/>
          <a:ln>
            <a:noFill/>
          </a:ln>
        </p:spPr>
      </p:pic>
      <p:pic>
        <p:nvPicPr>
          <p:cNvPr id="531" name="Google Shape;531;g3c32c431a11_0_1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90964" y="1580943"/>
            <a:ext cx="2979600" cy="2802784"/>
          </a:xfrm>
          <a:prstGeom prst="rect">
            <a:avLst/>
          </a:prstGeom>
          <a:noFill/>
          <a:ln>
            <a:noFill/>
          </a:ln>
        </p:spPr>
      </p:pic>
      <p:sp>
        <p:nvSpPr>
          <p:cNvPr id="532" name="Google Shape;532;g3c32c431a11_0_116"/>
          <p:cNvSpPr txBox="1"/>
          <p:nvPr/>
        </p:nvSpPr>
        <p:spPr>
          <a:xfrm>
            <a:off x="3306232" y="4455793"/>
            <a:ext cx="2673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100"/>
              <a:t>Exclusion of World protected area</a:t>
            </a:r>
            <a:endParaRPr sz="1100"/>
          </a:p>
        </p:txBody>
      </p:sp>
      <p:sp>
        <p:nvSpPr>
          <p:cNvPr id="533" name="Google Shape;533;g3c32c431a11_0_116"/>
          <p:cNvSpPr txBox="1"/>
          <p:nvPr/>
        </p:nvSpPr>
        <p:spPr>
          <a:xfrm>
            <a:off x="6201507" y="4455793"/>
            <a:ext cx="2758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100"/>
              <a:t>Exclusion of more than 2000 m Elevation </a:t>
            </a:r>
            <a:endParaRPr sz="1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100"/>
              <a:t>&amp; built up areas (1 km distance)</a:t>
            </a:r>
            <a:endParaRPr sz="1100"/>
          </a:p>
        </p:txBody>
      </p:sp>
      <p:pic>
        <p:nvPicPr>
          <p:cNvPr id="534" name="Google Shape;534;g3c32c431a11_0_1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013613" y="1577458"/>
            <a:ext cx="2979601" cy="2807405"/>
          </a:xfrm>
          <a:prstGeom prst="rect">
            <a:avLst/>
          </a:prstGeom>
          <a:noFill/>
          <a:ln>
            <a:noFill/>
          </a:ln>
        </p:spPr>
      </p:pic>
      <p:sp>
        <p:nvSpPr>
          <p:cNvPr id="535" name="Google Shape;535;g3c32c431a11_0_116"/>
          <p:cNvSpPr txBox="1"/>
          <p:nvPr/>
        </p:nvSpPr>
        <p:spPr>
          <a:xfrm>
            <a:off x="9124157" y="4455793"/>
            <a:ext cx="2758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100"/>
              <a:t>Considering the land classification</a:t>
            </a:r>
            <a:endParaRPr sz="110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g3c32c431a11_0_131"/>
          <p:cNvSpPr txBox="1"/>
          <p:nvPr>
            <p:ph idx="3" type="body"/>
          </p:nvPr>
        </p:nvSpPr>
        <p:spPr>
          <a:xfrm>
            <a:off x="555867" y="396545"/>
            <a:ext cx="8311800" cy="717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C40D1E"/>
              </a:buClr>
              <a:buSzPts val="2400"/>
              <a:buNone/>
            </a:pPr>
            <a:r>
              <a:rPr b="1" lang="de-DE"/>
              <a:t>Inputs - Land Eligibility Analysis - PV</a:t>
            </a:r>
            <a:endParaRPr b="1"/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C40D1E"/>
              </a:buClr>
              <a:buSzPts val="2400"/>
              <a:buNone/>
            </a:pPr>
            <a:r>
              <a:t/>
            </a:r>
            <a:endParaRPr b="1"/>
          </a:p>
        </p:txBody>
      </p:sp>
      <p:sp>
        <p:nvSpPr>
          <p:cNvPr id="541" name="Google Shape;541;g3c32c431a11_0_131"/>
          <p:cNvSpPr txBox="1"/>
          <p:nvPr/>
        </p:nvSpPr>
        <p:spPr>
          <a:xfrm>
            <a:off x="1577575" y="6340075"/>
            <a:ext cx="5328000" cy="327300"/>
          </a:xfrm>
          <a:prstGeom prst="rect">
            <a:avLst/>
          </a:prstGeom>
          <a:solidFill>
            <a:srgbClr val="C40D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>
                <a:solidFill>
                  <a:schemeClr val="lt1"/>
                </a:solidFill>
              </a:rPr>
              <a:t>Group A | Iran RES Grid Modelling | DSESM | 5th Feb 2026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542" name="Google Shape;542;g3c32c431a11_0_131"/>
          <p:cNvSpPr txBox="1"/>
          <p:nvPr/>
        </p:nvSpPr>
        <p:spPr>
          <a:xfrm>
            <a:off x="4627775" y="921025"/>
            <a:ext cx="30000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E3E3E3"/>
              </a:solidFill>
              <a:highlight>
                <a:srgbClr val="282A2C"/>
              </a:highlight>
            </a:endParaRPr>
          </a:p>
        </p:txBody>
      </p:sp>
      <p:pic>
        <p:nvPicPr>
          <p:cNvPr id="543" name="Google Shape;543;g3c32c431a11_0_1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14000" y="1164538"/>
            <a:ext cx="3968450" cy="3732974"/>
          </a:xfrm>
          <a:prstGeom prst="rect">
            <a:avLst/>
          </a:prstGeom>
          <a:noFill/>
          <a:ln>
            <a:noFill/>
          </a:ln>
        </p:spPr>
      </p:pic>
      <p:sp>
        <p:nvSpPr>
          <p:cNvPr id="544" name="Google Shape;544;g3c32c431a11_0_131"/>
          <p:cNvSpPr txBox="1"/>
          <p:nvPr/>
        </p:nvSpPr>
        <p:spPr>
          <a:xfrm>
            <a:off x="1834788" y="4846225"/>
            <a:ext cx="29796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Exclusion of World Protected Areas</a:t>
            </a:r>
            <a:endParaRPr/>
          </a:p>
        </p:txBody>
      </p:sp>
      <p:pic>
        <p:nvPicPr>
          <p:cNvPr id="545" name="Google Shape;545;g3c32c431a11_0_131"/>
          <p:cNvPicPr preferRelativeResize="0"/>
          <p:nvPr/>
        </p:nvPicPr>
        <p:blipFill rotWithShape="1">
          <a:blip r:embed="rId4">
            <a:alphaModFix/>
          </a:blip>
          <a:srcRect b="1293" l="1555" r="0" t="0"/>
          <a:stretch/>
        </p:blipFill>
        <p:spPr>
          <a:xfrm>
            <a:off x="1371175" y="1167775"/>
            <a:ext cx="3906825" cy="3678451"/>
          </a:xfrm>
          <a:prstGeom prst="rect">
            <a:avLst/>
          </a:prstGeom>
          <a:noFill/>
          <a:ln>
            <a:noFill/>
          </a:ln>
        </p:spPr>
      </p:pic>
      <p:sp>
        <p:nvSpPr>
          <p:cNvPr id="546" name="Google Shape;546;g3c32c431a11_0_131"/>
          <p:cNvSpPr txBox="1"/>
          <p:nvPr/>
        </p:nvSpPr>
        <p:spPr>
          <a:xfrm>
            <a:off x="7408425" y="4846225"/>
            <a:ext cx="29796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Considering the Land Classification</a:t>
            </a:r>
            <a:endParaRPr/>
          </a:p>
        </p:txBody>
      </p:sp>
      <p:sp>
        <p:nvSpPr>
          <p:cNvPr id="547" name="Google Shape;547;g3c32c431a11_0_131"/>
          <p:cNvSpPr txBox="1"/>
          <p:nvPr/>
        </p:nvSpPr>
        <p:spPr>
          <a:xfrm>
            <a:off x="83725" y="5304082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de-DE" sz="1000"/>
              <a:t>EXCLUDE: codes 100: Moss &amp; Lichen, 90: Wetlands, 200: Open sea, 80: water bodies, 70: snow &amp; ice, 111, 112, 113, 114, 115, 116: closed forrest</a:t>
            </a:r>
            <a:endParaRPr sz="10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de-DE" sz="1000"/>
              <a:t>INCLUDE: rooftop in Built up areas (50), and utility in Shrubs (20), Herbaceous vegetation (30), Bare / sparse vegetation (60)</a:t>
            </a:r>
            <a:endParaRPr sz="100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g3c32c431a11_0_93"/>
          <p:cNvSpPr txBox="1"/>
          <p:nvPr>
            <p:ph idx="3" type="body"/>
          </p:nvPr>
        </p:nvSpPr>
        <p:spPr>
          <a:xfrm>
            <a:off x="555867" y="396545"/>
            <a:ext cx="8311800" cy="717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C40D1E"/>
              </a:buClr>
              <a:buSzPts val="2400"/>
              <a:buNone/>
            </a:pPr>
            <a:r>
              <a:rPr b="1" lang="de-DE"/>
              <a:t>Inputs - Land Eligibility Analysis - Wind Offshore</a:t>
            </a:r>
            <a:endParaRPr b="1"/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C40D1E"/>
              </a:buClr>
              <a:buSzPts val="2400"/>
              <a:buNone/>
            </a:pPr>
            <a:r>
              <a:t/>
            </a:r>
            <a:endParaRPr b="1"/>
          </a:p>
        </p:txBody>
      </p:sp>
      <p:sp>
        <p:nvSpPr>
          <p:cNvPr id="553" name="Google Shape;553;g3c32c431a11_0_93"/>
          <p:cNvSpPr txBox="1"/>
          <p:nvPr/>
        </p:nvSpPr>
        <p:spPr>
          <a:xfrm>
            <a:off x="1577575" y="6340075"/>
            <a:ext cx="5328000" cy="327300"/>
          </a:xfrm>
          <a:prstGeom prst="rect">
            <a:avLst/>
          </a:prstGeom>
          <a:solidFill>
            <a:srgbClr val="C40D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>
                <a:solidFill>
                  <a:schemeClr val="lt1"/>
                </a:solidFill>
              </a:rPr>
              <a:t>Group A | Iran RES Grid Modelling | DSESM | 5th Feb 2026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554" name="Google Shape;554;g3c32c431a11_0_93"/>
          <p:cNvSpPr txBox="1"/>
          <p:nvPr/>
        </p:nvSpPr>
        <p:spPr>
          <a:xfrm>
            <a:off x="4627775" y="921025"/>
            <a:ext cx="30000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E3E3E3"/>
              </a:solidFill>
              <a:highlight>
                <a:srgbClr val="282A2C"/>
              </a:highlight>
            </a:endParaRPr>
          </a:p>
        </p:txBody>
      </p:sp>
      <p:sp>
        <p:nvSpPr>
          <p:cNvPr id="555" name="Google Shape;555;g3c32c431a11_0_93"/>
          <p:cNvSpPr txBox="1"/>
          <p:nvPr/>
        </p:nvSpPr>
        <p:spPr>
          <a:xfrm>
            <a:off x="1803975" y="4997350"/>
            <a:ext cx="29796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Exclusion of World Protected Areas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&amp; distance to shore (10 km)</a:t>
            </a:r>
            <a:endParaRPr/>
          </a:p>
        </p:txBody>
      </p:sp>
      <p:sp>
        <p:nvSpPr>
          <p:cNvPr id="556" name="Google Shape;556;g3c32c431a11_0_93"/>
          <p:cNvSpPr txBox="1"/>
          <p:nvPr/>
        </p:nvSpPr>
        <p:spPr>
          <a:xfrm>
            <a:off x="7408425" y="4997350"/>
            <a:ext cx="29796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Water depth (inclusion up to 50 m)</a:t>
            </a:r>
            <a:endParaRPr/>
          </a:p>
        </p:txBody>
      </p:sp>
      <p:pic>
        <p:nvPicPr>
          <p:cNvPr id="557" name="Google Shape;557;g3c32c431a11_0_9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84004" y="1113850"/>
            <a:ext cx="3019533" cy="3802861"/>
          </a:xfrm>
          <a:prstGeom prst="rect">
            <a:avLst/>
          </a:prstGeom>
          <a:noFill/>
          <a:ln>
            <a:noFill/>
          </a:ln>
        </p:spPr>
      </p:pic>
      <p:pic>
        <p:nvPicPr>
          <p:cNvPr id="558" name="Google Shape;558;g3c32c431a11_0_9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28957" y="877326"/>
            <a:ext cx="4338535" cy="41200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itelfolien zur Auswahl">
  <a:themeElements>
    <a:clrScheme name="TU Berlin">
      <a:dk1>
        <a:srgbClr val="434343"/>
      </a:dk1>
      <a:lt1>
        <a:srgbClr val="FFFFFF"/>
      </a:lt1>
      <a:dk2>
        <a:srgbClr val="434343"/>
      </a:dk2>
      <a:lt2>
        <a:srgbClr val="E7E6E6"/>
      </a:lt2>
      <a:accent1>
        <a:srgbClr val="C30D1E"/>
      </a:accent1>
      <a:accent2>
        <a:srgbClr val="B2B2B2"/>
      </a:accent2>
      <a:accent3>
        <a:srgbClr val="FF6C00"/>
      </a:accent3>
      <a:accent4>
        <a:srgbClr val="1F90CC"/>
      </a:accent4>
      <a:accent5>
        <a:srgbClr val="9013FE"/>
      </a:accent5>
      <a:accent6>
        <a:srgbClr val="49CB40"/>
      </a:accent6>
      <a:hlink>
        <a:srgbClr val="C30D1E"/>
      </a:hlink>
      <a:folHlink>
        <a:srgbClr val="C30D1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Master für Folgeseiten">
  <a:themeElements>
    <a:clrScheme name="TU Berlin ">
      <a:dk1>
        <a:srgbClr val="434343"/>
      </a:dk1>
      <a:lt1>
        <a:srgbClr val="FFFFFF"/>
      </a:lt1>
      <a:dk2>
        <a:srgbClr val="434343"/>
      </a:dk2>
      <a:lt2>
        <a:srgbClr val="E7E6E6"/>
      </a:lt2>
      <a:accent1>
        <a:srgbClr val="C30D1E"/>
      </a:accent1>
      <a:accent2>
        <a:srgbClr val="B2B2B2"/>
      </a:accent2>
      <a:accent3>
        <a:srgbClr val="FF6C00"/>
      </a:accent3>
      <a:accent4>
        <a:srgbClr val="1F90CC"/>
      </a:accent4>
      <a:accent5>
        <a:srgbClr val="9013FE"/>
      </a:accent5>
      <a:accent6>
        <a:srgbClr val="49CB40"/>
      </a:accent6>
      <a:hlink>
        <a:srgbClr val="C30D1E"/>
      </a:hlink>
      <a:folHlink>
        <a:srgbClr val="C30D1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2023-04-20T08:54:03Z</dcterms:created>
  <dc:creator>Rülicke-Ahrens, Janine</dc:creator>
</cp:coreProperties>
</file>