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1" r:id="rId2"/>
  </p:sldMasterIdLst>
  <p:notesMasterIdLst>
    <p:notesMasterId r:id="rId5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ArSzjRRxJoiIF/PwvwemyXCc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AEA6CC-E7D5-4600-B254-B4CE0C2B7D87}">
  <a:tblStyle styleId="{95AEA6CC-E7D5-4600-B254-B4CE0C2B7D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41"/>
  </p:normalViewPr>
  <p:slideViewPr>
    <p:cSldViewPr snapToGrid="0">
      <p:cViewPr varScale="1">
        <p:scale>
          <a:sx n="108" d="100"/>
          <a:sy n="108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-Pseudonym 17281442811011116638102512442" userId="a5a051ca-54ce-432c-86ad-765cf445dc8f" providerId="ADAL" clId="{ACBCD8BF-F143-5994-AA78-D000C036BA04}"/>
    <pc:docChg chg="modSld">
      <pc:chgData name="TU-Pseudonym 17281442811011116638102512442" userId="a5a051ca-54ce-432c-86ad-765cf445dc8f" providerId="ADAL" clId="{ACBCD8BF-F143-5994-AA78-D000C036BA04}" dt="2026-02-04T23:05:55.724" v="14" actId="14100"/>
      <pc:docMkLst>
        <pc:docMk/>
      </pc:docMkLst>
      <pc:sldChg chg="modSp mod">
        <pc:chgData name="TU-Pseudonym 17281442811011116638102512442" userId="a5a051ca-54ce-432c-86ad-765cf445dc8f" providerId="ADAL" clId="{ACBCD8BF-F143-5994-AA78-D000C036BA04}" dt="2026-02-04T23:05:40.606" v="13" actId="14100"/>
        <pc:sldMkLst>
          <pc:docMk/>
          <pc:sldMk cId="0" sldId="271"/>
        </pc:sldMkLst>
        <pc:spChg chg="mod">
          <ac:chgData name="TU-Pseudonym 17281442811011116638102512442" userId="a5a051ca-54ce-432c-86ad-765cf445dc8f" providerId="ADAL" clId="{ACBCD8BF-F143-5994-AA78-D000C036BA04}" dt="2026-02-04T23:05:40.606" v="13" actId="14100"/>
          <ac:spMkLst>
            <pc:docMk/>
            <pc:sldMk cId="0" sldId="271"/>
            <ac:spMk id="191" creationId="{00000000-0000-0000-0000-000000000000}"/>
          </ac:spMkLst>
        </pc:spChg>
      </pc:sldChg>
      <pc:sldChg chg="modSp mod">
        <pc:chgData name="TU-Pseudonym 17281442811011116638102512442" userId="a5a051ca-54ce-432c-86ad-765cf445dc8f" providerId="ADAL" clId="{ACBCD8BF-F143-5994-AA78-D000C036BA04}" dt="2026-02-04T23:05:55.724" v="14" actId="14100"/>
        <pc:sldMkLst>
          <pc:docMk/>
          <pc:sldMk cId="0" sldId="285"/>
        </pc:sldMkLst>
        <pc:spChg chg="mod">
          <ac:chgData name="TU-Pseudonym 17281442811011116638102512442" userId="a5a051ca-54ce-432c-86ad-765cf445dc8f" providerId="ADAL" clId="{ACBCD8BF-F143-5994-AA78-D000C036BA04}" dt="2026-02-04T23:05:55.724" v="14" actId="14100"/>
          <ac:spMkLst>
            <pc:docMk/>
            <pc:sldMk cId="0" sldId="285"/>
            <ac:spMk id="3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Harry - Slides 4-8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Rebecca - 9-14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Siqe - 15-21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Mori - 22 - end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337298d6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39337298d6a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9337298d6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332517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33251713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Other Fossil = Oil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Electricity mix is attributed to large production of gas &amp; oil in Iran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World’s 3rd largest producer, accounting for 7% of global gas supply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Additionally accounted for 4.4% of global oil supply in 2023</a:t>
            </a:r>
            <a:endParaRPr/>
          </a:p>
        </p:txBody>
      </p:sp>
      <p:sp>
        <p:nvSpPr>
          <p:cNvPr id="64" name="Google Shape;64;g3933251713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Shapes of regions based on provided geojson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Mention No. of states and EEZs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4.6 times the area of Germany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Roughly the same population as DE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Population used to aggregate available national load data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2023 population data used as region-specific data was the most accurate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2b2f75b7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c2b2f75b73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c2b2f75b73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25cd92e60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Based on the provided powerplant data from the dataset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powerplant mix is dominated by gas; large concentration of generators around Tehran, ports &amp; bordering nations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Minimal existing Solar or Wind; makes exclusion for RES modelling quite accurate to actual situation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Hydro is also concentrated along the Zagros mountain range which runs from northwest to southeast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Powerplants were aggregated by technology and region with geometry reset to the regional representative point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Examining the regional electricity mix in the aggregated model;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colour indicated the regional share, size indicates the comparable regional generation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most of the east is almost purely powered by gas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oil takes a comparable share to gas in the central north &amp; south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Hydro dominates Khuzistan; the highest generating region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Some Smaller regions neighbouring the Zagros mountains run completely on hydro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c25cd92e6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147c73f1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Solar &amp; wind have quite similar land area eligibility; solar being slightly higher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3 excluded regions in east/right hand-side are world protected areas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Main Differentiation is the zagros mountain region in the central west/left-hand side; where large areas exceed the 2000m elevation constraint; additionally the northern coast is quite mountainous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be147c73f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5cd92e60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CF of up to 0.9 for all the regions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Stable for month (summer)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chosen arbitrarily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c25cd92e6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2b2f75b73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 volatility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c2b2f75b7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ccbd064a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 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c2ccbd06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2b2f75b73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c2b2f75b7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5cd92e60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Is this for given hour? or max potential at any time?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25cd92e6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2b2f75b7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c2b2f75b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25cd92e60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100" b="1"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de-DE" sz="1100">
                <a:latin typeface="Arial"/>
                <a:ea typeface="Arial"/>
                <a:cs typeface="Arial"/>
                <a:sym typeface="Arial"/>
              </a:rPr>
              <a:t> National electricity demand profile (daily, 2025 weather-year snapshots), used as temporal load shape for the optimisation.  </a:t>
            </a:r>
            <a:r>
              <a:rPr lang="de-DE" sz="1100" b="1">
                <a:latin typeface="Arial"/>
                <a:ea typeface="Arial"/>
                <a:cs typeface="Arial"/>
                <a:sym typeface="Arial"/>
              </a:rPr>
              <a:t>Interpretation:</a:t>
            </a:r>
            <a:r>
              <a:rPr lang="de-DE" sz="1100">
                <a:latin typeface="Arial"/>
                <a:ea typeface="Arial"/>
                <a:cs typeface="Arial"/>
                <a:sym typeface="Arial"/>
              </a:rPr>
              <a:t> “Seasonality + short-term fluctuations drive storage and dispatch needs.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c25cd92e6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b2f75b73_0_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c2b2f75b7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b2f75b7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c2b2f75b73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c2b2f75b73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33251713c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933251713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337298d6a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337298d6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2abf05fc0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Highest Generation in south vs load in north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c2abf05fc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2ccbd064a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Slight increase in Power Generation (more than load)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Due to storage Losses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c2ccbd064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2ccbd064a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Slight increase in Power Generation (more than load)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Due to storage Losses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c2ccbd064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2ccbd064a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In no CO2 scenario, we require higher capacity lines to send generation from south to load in the north. High transmission loading in Persian gulf to transport inside the country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Limitation of one bus per region model shows higher link loading compared to real-life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c2ccbd064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2b2f75b73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c2b2f75b73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337298d6a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9337298d6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2ccbd064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CO2 case, gas and battery to fill load, charge during solar peak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no CO2 case, use H2 generated in peak generation season for high load season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December is most challenging week to provide from RES sources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c2ccbd064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2b2f75b73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c2b2f75b7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32c431a11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c32c431a1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32c431a11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c32c431a1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2b2f75b73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c2b2f75b7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2b2f75b7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g3c2b2f75b73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g3c2b2f75b73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2ccbd064a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c2ccbd064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2b2f75b7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c2b2f75b73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g3c2b2f75b73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337298d6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nuclear only used for some hours then shut-down; ramping constraints ignored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global fuel prices for Iran; prices would be cheaper as Iran is a prime gas and oil producer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9337298d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2ccbd064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nuclear only used for some hours then shut-down; ramping constraints ignored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global fuel prices for Iran; prices would be cheaper as Iran is a prime gas and oil producer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c2ccbd064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2b2f75b7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c2b2f75b73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g3c2b2f75b73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2ccbd064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2ccbd064a_1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g3c2ccbd064a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2ccbd06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c2ccbd064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c2ccbd064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2b2f75b73_0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c2b2f75b7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2b2f75b73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c2b2f75b7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2b2f75b73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c2b2f75b73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2b2f75b73_0_2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c2b2f75b7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306ade58d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c306ade58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32c431a1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c32c431a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2b2f75b73_0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c2b2f75b73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32c431a11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c32c431a1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32c431a11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c32c431a1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32c431a11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c32c431a1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el - Text ">
  <p:cSld name="2_Titel - Text 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/>
        </p:nvSpPr>
        <p:spPr>
          <a:xfrm>
            <a:off x="9903" y="-313433"/>
            <a:ext cx="17036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V2: Titelfolie ohne Bild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- Text und Bild">
  <p:cSld name="1_Titel - Text und Bil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>
            <a:spLocks noGrp="1"/>
          </p:cNvSpPr>
          <p:nvPr>
            <p:ph type="pic" idx="2"/>
          </p:nvPr>
        </p:nvSpPr>
        <p:spPr>
          <a:xfrm>
            <a:off x="-6479" y="1260572"/>
            <a:ext cx="8885359" cy="3273604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17" name="Google Shape;17;p17"/>
          <p:cNvSpPr txBox="1"/>
          <p:nvPr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Platzhalterbild ersetzen:</a:t>
            </a:r>
            <a:b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löschen und durch neues Bild ersetzen &gt; über Bildformat &gt; Zuschneiden im Rahmen ggf. nachpositionieren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Copyrightangabe: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Korrektes Copyright angeben (in der Regel Name des*der Fotograf*in), Textfarbe je nach Hintergrund weiß oder schwarz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9903" y="-313433"/>
            <a:ext cx="17036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V1: Titelfolie mit Bild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nhalt - Text und Stichpunkte">
  <p:cSld name="3_Inhalt - Text und Stichpunkt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550800" y="3175200"/>
            <a:ext cx="9721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marR="0" lvl="0" indent="-3429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2"/>
          </p:nvPr>
        </p:nvSpPr>
        <p:spPr>
          <a:xfrm>
            <a:off x="550800" y="1371600"/>
            <a:ext cx="9721800" cy="1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nhalt - Bild und Text">
  <p:cSld name="4_Inhalt - Bild u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6519600" y="1382400"/>
            <a:ext cx="3982800" cy="4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8"/>
          <p:cNvSpPr>
            <a:spLocks noGrp="1"/>
          </p:cNvSpPr>
          <p:nvPr>
            <p:ph type="pic" idx="2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3" name="Google Shape;33;p18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Inhalt - Bild und Stichpunkte">
  <p:cSld name="5_Inhalt - Bild und Stichpunk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>
            <a:spLocks noGrp="1"/>
          </p:cNvSpPr>
          <p:nvPr>
            <p:ph type="pic" idx="2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7" name="Google Shape;37;p19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1668462"/>
            <a:ext cx="12192000" cy="5189537"/>
          </a:xfrm>
          <a:custGeom>
            <a:avLst/>
            <a:gdLst/>
            <a:ahLst/>
            <a:cxnLst/>
            <a:rect l="l" t="t" r="r" b="b"/>
            <a:pathLst>
              <a:path w="12192000" h="5189537" extrusionOk="0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 txBox="1"/>
          <p:nvPr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Titelseiten – Platzhalter für Sublogo ändern: </a:t>
            </a: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Direkt auf dieser Folie &gt; Bild anklicken &gt; Rechtsklick &gt; Bild einfügen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pos="1232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orient="horz" pos="1003">
          <p15:clr>
            <a:srgbClr val="F26B43"/>
          </p15:clr>
        </p15:guide>
        <p15:guide id="8" orient="horz" pos="1321">
          <p15:clr>
            <a:srgbClr val="F26B43"/>
          </p15:clr>
        </p15:guide>
        <p15:guide id="9" orient="horz" pos="1661">
          <p15:clr>
            <a:srgbClr val="F26B43"/>
          </p15:clr>
        </p15:guide>
        <p15:guide id="10" orient="horz" pos="2001">
          <p15:clr>
            <a:srgbClr val="F26B43"/>
          </p15:clr>
        </p15:guide>
        <p15:guide id="11" orient="horz" pos="3339">
          <p15:clr>
            <a:srgbClr val="F26B43"/>
          </p15:clr>
        </p15:guide>
        <p15:guide id="12" orient="horz" pos="2319">
          <p15:clr>
            <a:srgbClr val="F26B43"/>
          </p15:clr>
        </p15:guide>
        <p15:guide id="13" orient="horz" pos="2999">
          <p15:clr>
            <a:srgbClr val="F26B43"/>
          </p15:clr>
        </p15:guide>
        <p15:guide id="14" orient="horz" pos="3657">
          <p15:clr>
            <a:srgbClr val="F26B43"/>
          </p15:clr>
        </p15:guide>
        <p15:guide id="15" orient="horz" pos="2659">
          <p15:clr>
            <a:srgbClr val="F26B43"/>
          </p15:clr>
        </p15:guide>
        <p15:guide id="16" pos="2094">
          <p15:clr>
            <a:srgbClr val="F26B43"/>
          </p15:clr>
        </p15:guide>
        <p15:guide id="17" pos="2978">
          <p15:clr>
            <a:srgbClr val="F26B43"/>
          </p15:clr>
        </p15:guide>
        <p15:guide id="18" pos="3840">
          <p15:clr>
            <a:srgbClr val="F26B43"/>
          </p15:clr>
        </p15:guide>
        <p15:guide id="19" pos="4725">
          <p15:clr>
            <a:srgbClr val="F26B43"/>
          </p15:clr>
        </p15:guide>
        <p15:guide id="20" pos="5586">
          <p15:clr>
            <a:srgbClr val="F26B43"/>
          </p15:clr>
        </p15:guide>
        <p15:guide id="21" pos="647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/>
          <p:nvPr/>
        </p:nvSpPr>
        <p:spPr>
          <a:xfrm>
            <a:off x="0" y="5748124"/>
            <a:ext cx="12195175" cy="1109875"/>
          </a:xfrm>
          <a:custGeom>
            <a:avLst/>
            <a:gdLst/>
            <a:ahLst/>
            <a:cxnLst/>
            <a:rect l="l" t="t" r="r" b="b"/>
            <a:pathLst>
              <a:path w="12195175" h="1109875" extrusionOk="0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14598" y="378000"/>
            <a:ext cx="1004400" cy="7660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5"/>
          <p:cNvSpPr txBox="1"/>
          <p:nvPr/>
        </p:nvSpPr>
        <p:spPr>
          <a:xfrm>
            <a:off x="12292755" y="5612990"/>
            <a:ext cx="31023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Folgeseiten – Platzhalter für Sublogo ändern: </a:t>
            </a: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 &gt; Bild anklicken &gt; Rechtsklick &gt; Bild einfügen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5"/>
          <p:cNvSpPr txBox="1"/>
          <p:nvPr/>
        </p:nvSpPr>
        <p:spPr>
          <a:xfrm>
            <a:off x="-2243920" y="6474756"/>
            <a:ext cx="22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de-DE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Informationen in Fußzeile ändern:</a:t>
            </a:r>
            <a:b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 txBox="1"/>
          <p:nvPr/>
        </p:nvSpPr>
        <p:spPr>
          <a:xfrm>
            <a:off x="550800" y="6399924"/>
            <a:ext cx="1074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de-DE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fld id="{00000000-1234-1234-1234-123412341234}" type="slidenum">
              <a:rPr lang="de-DE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5"/>
          <p:cNvSpPr txBox="1"/>
          <p:nvPr/>
        </p:nvSpPr>
        <p:spPr>
          <a:xfrm>
            <a:off x="1625599" y="6399924"/>
            <a:ext cx="100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de-DE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H | Off-grid Energy Storage | SEST | Feb. 4</a:t>
            </a:r>
            <a:r>
              <a:rPr lang="de-DE" sz="12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rteezzaa/iran-renewable-system-analysi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rteezzaa/iran-renewable-system-analysi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550801" y="4621518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3600" b="1">
                <a:solidFill>
                  <a:schemeClr val="lt1"/>
                </a:solidFill>
              </a:rPr>
              <a:t>Iran Renewable System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Outline</a:t>
            </a:r>
            <a:endParaRPr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graphicFrame>
        <p:nvGraphicFramePr>
          <p:cNvPr id="51" name="Google Shape;51;p2"/>
          <p:cNvGraphicFramePr/>
          <p:nvPr/>
        </p:nvGraphicFramePr>
        <p:xfrm>
          <a:off x="550800" y="1579033"/>
          <a:ext cx="9983850" cy="3494950"/>
        </p:xfrm>
        <a:graphic>
          <a:graphicData uri="http://schemas.openxmlformats.org/drawingml/2006/table">
            <a:tbl>
              <a:tblPr firstRow="1" bandRow="1">
                <a:noFill/>
                <a:tableStyleId>{95AEA6CC-E7D5-4600-B254-B4CE0C2B7D87}</a:tableStyleId>
              </a:tblPr>
              <a:tblGrid>
                <a:gridCol w="55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 u="none" strike="noStrike" cap="non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 u="none" strike="noStrike" cap="non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1" u="none" strike="noStrike" cap="non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Model Inputs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 u="none" strike="noStrike" cap="non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Results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 u="none" strike="noStrike" cap="non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Sensitivity Analysis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 u="none" strike="noStrike" cap="non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Google Shape;52;p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37298d6a_0_7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Introduction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9337298d6a_0_7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9337298d6a_0_7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933251713c_0_0" title="ember-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113850"/>
            <a:ext cx="10106774" cy="4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933251713c_0_0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Context - Current State of Electricity System in Iran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68" name="Google Shape;68;g3933251713c_0_0"/>
          <p:cNvSpPr txBox="1"/>
          <p:nvPr/>
        </p:nvSpPr>
        <p:spPr>
          <a:xfrm>
            <a:off x="9576861" y="3872783"/>
            <a:ext cx="8073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(Oil)</a:t>
            </a:r>
            <a:endParaRPr sz="1000"/>
          </a:p>
        </p:txBody>
      </p:sp>
      <p:sp>
        <p:nvSpPr>
          <p:cNvPr id="69" name="Google Shape;69;g3933251713c_0_0"/>
          <p:cNvSpPr/>
          <p:nvPr/>
        </p:nvSpPr>
        <p:spPr>
          <a:xfrm>
            <a:off x="10672600" y="1193500"/>
            <a:ext cx="1377000" cy="421590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F5F7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933251713c_0_0"/>
          <p:cNvSpPr txBox="1"/>
          <p:nvPr/>
        </p:nvSpPr>
        <p:spPr>
          <a:xfrm>
            <a:off x="10057276" y="2562825"/>
            <a:ext cx="2238000" cy="869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69CF76"/>
                </a:solidFill>
              </a:rPr>
              <a:t>0.2% (2023)</a:t>
            </a:r>
            <a:endParaRPr b="1">
              <a:solidFill>
                <a:srgbClr val="69CF76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316739"/>
                </a:solidFill>
              </a:rPr>
              <a:t>0.3% (2023)</a:t>
            </a:r>
            <a:endParaRPr b="1">
              <a:solidFill>
                <a:srgbClr val="316739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40E0D0"/>
                </a:solidFill>
              </a:rPr>
              <a:t>2.1% (2022)</a:t>
            </a:r>
            <a:endParaRPr b="1">
              <a:solidFill>
                <a:srgbClr val="40E0D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1E609D"/>
                </a:solidFill>
              </a:rPr>
              <a:t>&lt;0.1% (2023)</a:t>
            </a:r>
            <a:endParaRPr b="1">
              <a:solidFill>
                <a:srgbClr val="1E609D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203772"/>
                </a:solidFill>
              </a:rPr>
              <a:t>1.9% (2020)</a:t>
            </a:r>
            <a:endParaRPr b="1">
              <a:solidFill>
                <a:srgbClr val="203772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71" name="Google Shape;71;g3933251713c_0_0"/>
          <p:cNvSpPr txBox="1"/>
          <p:nvPr/>
        </p:nvSpPr>
        <p:spPr>
          <a:xfrm>
            <a:off x="9676275" y="31599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867572"/>
                </a:solidFill>
              </a:rPr>
              <a:t>86.6% (2023)</a:t>
            </a:r>
            <a:endParaRPr b="1">
              <a:solidFill>
                <a:srgbClr val="867572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563F3A"/>
                </a:solidFill>
              </a:rPr>
              <a:t>0.2% (2023)</a:t>
            </a:r>
            <a:endParaRPr b="1">
              <a:solidFill>
                <a:srgbClr val="563F3A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rgbClr val="A52A2A"/>
                </a:solidFill>
              </a:rPr>
              <a:t>7% (2023)</a:t>
            </a:r>
            <a:endParaRPr sz="1600" b="1">
              <a:solidFill>
                <a:srgbClr val="A52A2A"/>
              </a:solidFill>
            </a:endParaRPr>
          </a:p>
        </p:txBody>
      </p:sp>
      <p:sp>
        <p:nvSpPr>
          <p:cNvPr id="72" name="Google Shape;72;g3933251713c_0_0"/>
          <p:cNvSpPr txBox="1"/>
          <p:nvPr/>
        </p:nvSpPr>
        <p:spPr>
          <a:xfrm>
            <a:off x="555875" y="5527900"/>
            <a:ext cx="479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Fact Sources:</a:t>
            </a:r>
            <a:r>
              <a:rPr lang="de-DE" b="1">
                <a:solidFill>
                  <a:schemeClr val="dk1"/>
                </a:solidFill>
              </a:rPr>
              <a:t> </a:t>
            </a:r>
            <a:r>
              <a:rPr lang="de-DE" sz="1050" b="1"/>
              <a:t>(IR Gas Production, 2024), (IR Oil Production, 2023)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Context - Model Considerations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78" name="Google Shape;78;p4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71325" y="1224175"/>
            <a:ext cx="9582900" cy="4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sz="1700"/>
              <a:t>Area: 1.648 million km²    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/>
              <a:t>(vs. Germany: 0.357 million</a:t>
            </a:r>
            <a:r>
              <a:rPr lang="de-DE" b="1"/>
              <a:t> </a:t>
            </a:r>
            <a:r>
              <a:rPr lang="de-DE" sz="1700"/>
              <a:t>km²)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chemeClr val="lt1"/>
                </a:highlight>
              </a:rPr>
              <a:t>Population (2024): ~85,961,000</a:t>
            </a:r>
            <a:endParaRPr sz="1700"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>
                <a:highlight>
                  <a:schemeClr val="lt1"/>
                </a:highlight>
              </a:rPr>
              <a:t>(vs. Germany ~83,600,000)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System costs sourced from various currency years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Cost projection year: 2025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Discount Rate: 7%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highlight>
                <a:srgbClr val="FFFFFF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31 States + 2 exclusive economic zones (EEZ)</a:t>
            </a:r>
            <a:endParaRPr sz="1700">
              <a:highlight>
                <a:srgbClr val="FFFFFF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rgbClr val="FFFFFF"/>
                </a:highlight>
              </a:rPr>
              <a:t>1 Bus per state/EEZ</a:t>
            </a:r>
            <a:endParaRPr sz="1700">
              <a:highlight>
                <a:srgbClr val="FFFFFF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rgbClr val="FFFFFF"/>
                </a:highlight>
              </a:rPr>
              <a:t>Buses set at regional representative point</a:t>
            </a:r>
            <a:endParaRPr sz="170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FFF"/>
                </a:highlight>
              </a:rPr>
              <a:t>Sources: </a:t>
            </a:r>
            <a:r>
              <a:rPr lang="de-DE" sz="1050" b="1"/>
              <a:t>(Bundesamt, 2024)</a:t>
            </a:r>
            <a:r>
              <a:rPr lang="de-DE" sz="1050"/>
              <a:t>, </a:t>
            </a:r>
            <a:r>
              <a:rPr lang="de-DE" sz="1050" b="1"/>
              <a:t>(Statistical Center of Iran, 2024)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80" name="Google Shape;80;p4" title="representative points of 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700" y="946300"/>
            <a:ext cx="4557949" cy="46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7825825" y="21369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E6B8AF"/>
                </a:highlight>
              </a:rPr>
              <a:t>Tehran</a:t>
            </a:r>
            <a:endParaRPr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b2f75b73_0_78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Model Inputs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c2b2f75b73_0_78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c2b2f75b73_0_78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25cd92e60_0_7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Power Plant Capacities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95" name="Google Shape;95;g3c25cd92e60_0_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6" name="Google Shape;96;g3c25cd92e60_0_7" title="Location of existing Power Pla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73200"/>
            <a:ext cx="4506522" cy="47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c25cd92e60_0_7" title="Location of existing Power Plants per Reg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4050" y="1103138"/>
            <a:ext cx="5284625" cy="46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c25cd92e60_0_7"/>
          <p:cNvSpPr/>
          <p:nvPr/>
        </p:nvSpPr>
        <p:spPr>
          <a:xfrm>
            <a:off x="5062400" y="3212150"/>
            <a:ext cx="2468400" cy="2100900"/>
          </a:xfrm>
          <a:prstGeom prst="rightArrow">
            <a:avLst>
              <a:gd name="adj1" fmla="val 50000"/>
              <a:gd name="adj2" fmla="val 4934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c25cd92e60_0_7"/>
          <p:cNvSpPr txBox="1"/>
          <p:nvPr/>
        </p:nvSpPr>
        <p:spPr>
          <a:xfrm>
            <a:off x="5096900" y="3684050"/>
            <a:ext cx="2686800" cy="145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8415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Regional Aggregation</a:t>
            </a:r>
            <a:endParaRPr/>
          </a:p>
          <a:p>
            <a:pPr marL="179999" lvl="0" indent="-18415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RES Exclusion</a:t>
            </a:r>
            <a:endParaRPr/>
          </a:p>
          <a:p>
            <a:pPr marL="179999" lvl="0" indent="-18415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Links between neighbor regions</a:t>
            </a:r>
            <a:endParaRPr/>
          </a:p>
        </p:txBody>
      </p:sp>
      <p:sp>
        <p:nvSpPr>
          <p:cNvPr id="100" name="Google Shape;100;g3c25cd92e60_0_7"/>
          <p:cNvSpPr/>
          <p:nvPr/>
        </p:nvSpPr>
        <p:spPr>
          <a:xfrm>
            <a:off x="1824375" y="3561025"/>
            <a:ext cx="699900" cy="14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/>
              <a:t>Zagros</a:t>
            </a:r>
            <a:endParaRPr sz="1300"/>
          </a:p>
        </p:txBody>
      </p:sp>
      <p:sp>
        <p:nvSpPr>
          <p:cNvPr id="101" name="Google Shape;101;g3c25cd92e60_0_7"/>
          <p:cNvSpPr txBox="1"/>
          <p:nvPr/>
        </p:nvSpPr>
        <p:spPr>
          <a:xfrm>
            <a:off x="6712151" y="3393275"/>
            <a:ext cx="9195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lt1"/>
                </a:solidFill>
                <a:highlight>
                  <a:srgbClr val="4C1130"/>
                </a:highlight>
              </a:rPr>
              <a:t>Khuzistan</a:t>
            </a:r>
            <a:endParaRPr sz="12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  <p:sp>
        <p:nvSpPr>
          <p:cNvPr id="102" name="Google Shape;102;g3c25cd92e60_0_7"/>
          <p:cNvSpPr txBox="1"/>
          <p:nvPr/>
        </p:nvSpPr>
        <p:spPr>
          <a:xfrm>
            <a:off x="2132892" y="24652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lt1"/>
                </a:solidFill>
                <a:highlight>
                  <a:srgbClr val="4C1130"/>
                </a:highlight>
              </a:rPr>
              <a:t>Tehran</a:t>
            </a:r>
            <a:endParaRPr sz="13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147c73f1_0_33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Land Eligibility Analysis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08" name="Google Shape;108;g3be147c73f1_0_3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9" name="Google Shape;109;g3be147c73f1_0_33" title="pv eligable land large 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050" y="1356483"/>
            <a:ext cx="3645900" cy="29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be147c73f1_0_33" title="wind-off-shore eligable land large gri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3733" y="1356496"/>
            <a:ext cx="3645904" cy="29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e147c73f1_0_33" title="wind-on-shore eligable land large gr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63" y="1268414"/>
            <a:ext cx="3645900" cy="30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e147c73f1_0_33"/>
          <p:cNvSpPr txBox="1"/>
          <p:nvPr/>
        </p:nvSpPr>
        <p:spPr>
          <a:xfrm>
            <a:off x="1666413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onwind</a:t>
            </a:r>
            <a:endParaRPr sz="1500"/>
          </a:p>
        </p:txBody>
      </p:sp>
      <p:sp>
        <p:nvSpPr>
          <p:cNvPr id="113" name="Google Shape;113;g3be147c73f1_0_33"/>
          <p:cNvSpPr txBox="1"/>
          <p:nvPr/>
        </p:nvSpPr>
        <p:spPr>
          <a:xfrm>
            <a:off x="5447075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solar</a:t>
            </a:r>
            <a:endParaRPr sz="1500"/>
          </a:p>
        </p:txBody>
      </p:sp>
      <p:sp>
        <p:nvSpPr>
          <p:cNvPr id="114" name="Google Shape;114;g3be147c73f1_0_33"/>
          <p:cNvSpPr txBox="1"/>
          <p:nvPr/>
        </p:nvSpPr>
        <p:spPr>
          <a:xfrm>
            <a:off x="9227763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offwind</a:t>
            </a:r>
            <a:endParaRPr sz="1500"/>
          </a:p>
        </p:txBody>
      </p:sp>
      <p:sp>
        <p:nvSpPr>
          <p:cNvPr id="115" name="Google Shape;115;g3be147c73f1_0_33"/>
          <p:cNvSpPr txBox="1"/>
          <p:nvPr/>
        </p:nvSpPr>
        <p:spPr>
          <a:xfrm>
            <a:off x="555875" y="4304400"/>
            <a:ext cx="111438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Considered criteria: </a:t>
            </a:r>
            <a:endParaRPr sz="1700">
              <a:highlight>
                <a:srgbClr val="FFFF00"/>
              </a:highlight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Elevation data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Distance from airports, major roads, built up areas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Exclusion of world protected areas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Exclusive Economic Zones (for wind offshore)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Land classification</a:t>
            </a:r>
            <a:endParaRPr sz="1700"/>
          </a:p>
        </p:txBody>
      </p:sp>
      <p:sp>
        <p:nvSpPr>
          <p:cNvPr id="116" name="Google Shape;116;g3be147c73f1_0_33"/>
          <p:cNvSpPr txBox="1"/>
          <p:nvPr/>
        </p:nvSpPr>
        <p:spPr>
          <a:xfrm>
            <a:off x="82552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73.33%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be147c73f1_0_33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118" name="Google Shape;118;g3be147c73f1_0_33"/>
          <p:cNvSpPr txBox="1"/>
          <p:nvPr/>
        </p:nvSpPr>
        <p:spPr>
          <a:xfrm>
            <a:off x="463797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77.41%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be147c73f1_0_33"/>
          <p:cNvSpPr txBox="1"/>
          <p:nvPr/>
        </p:nvSpPr>
        <p:spPr>
          <a:xfrm>
            <a:off x="845042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14.96%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5cd92e60_0_22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(PV - May - 2025)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25" name="Google Shape;125;g3c25cd92e60_0_2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6" name="Google Shape;126;g3c25cd92e60_0_22" title="pv_cf_may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85875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c2b2f75b73_0_17" title="onwind_cf_august_2025_daily_a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152350"/>
            <a:ext cx="11087775" cy="43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c2b2f75b73_0_17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(Wind onshore - August 2025)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33" name="Google Shape;133;g3c2b2f75b73_0_1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g3c2b2f75b73_0_17"/>
          <p:cNvSpPr txBox="1"/>
          <p:nvPr/>
        </p:nvSpPr>
        <p:spPr>
          <a:xfrm>
            <a:off x="4242050" y="19265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135" name="Google Shape;135;g3c2b2f75b73_0_17"/>
          <p:cNvSpPr txBox="1"/>
          <p:nvPr/>
        </p:nvSpPr>
        <p:spPr>
          <a:xfrm>
            <a:off x="1962550" y="3173238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136" name="Google Shape;136;g3c2b2f75b73_0_17"/>
          <p:cNvSpPr txBox="1"/>
          <p:nvPr/>
        </p:nvSpPr>
        <p:spPr>
          <a:xfrm>
            <a:off x="4116800" y="2710400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2ccbd064a_0_9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Elevation Data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42" name="Google Shape;142;g3c2ccbd064a_0_9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g3c2ccbd064a_0_9" title="elevation map of ir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900" y="780550"/>
            <a:ext cx="6748191" cy="49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c2ccbd064a_0_9"/>
          <p:cNvSpPr txBox="1"/>
          <p:nvPr/>
        </p:nvSpPr>
        <p:spPr>
          <a:xfrm>
            <a:off x="6223700" y="27230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145" name="Google Shape;145;g3c2ccbd064a_0_9"/>
          <p:cNvSpPr txBox="1"/>
          <p:nvPr/>
        </p:nvSpPr>
        <p:spPr>
          <a:xfrm>
            <a:off x="6518350" y="1968688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146" name="Google Shape;146;g3c2ccbd064a_0_9"/>
          <p:cNvSpPr txBox="1"/>
          <p:nvPr/>
        </p:nvSpPr>
        <p:spPr>
          <a:xfrm>
            <a:off x="5449975" y="21470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2b2f75b73_0_25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(Wind offshore - May 2025)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52" name="Google Shape;152;g3c2b2f75b73_0_2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3" name="Google Shape;153;g3c2b2f75b73_0_25" title="offwind_cf_May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85875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c25cd92e60_0_17" title="Location of existing Power Plants per R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050" y="1103138"/>
            <a:ext cx="5284625" cy="46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c25cd92e60_0_1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g3c25cd92e60_0_17" title="Renewables Potential Map (same scale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75" y="968287"/>
            <a:ext cx="5590999" cy="492143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c25cd92e60_0_17"/>
          <p:cNvSpPr txBox="1">
            <a:spLocks noGrp="1"/>
          </p:cNvSpPr>
          <p:nvPr>
            <p:ph type="body" idx="3"/>
          </p:nvPr>
        </p:nvSpPr>
        <p:spPr>
          <a:xfrm>
            <a:off x="555877" y="396550"/>
            <a:ext cx="99837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sz="2300" b="1"/>
              <a:t>Inputs - RES Available Capacity (same scale of existing power plants)</a:t>
            </a:r>
            <a:endParaRPr sz="2300"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62" name="Google Shape;162;g3c25cd92e60_0_17"/>
          <p:cNvSpPr txBox="1"/>
          <p:nvPr/>
        </p:nvSpPr>
        <p:spPr>
          <a:xfrm>
            <a:off x="6299275" y="5181260"/>
            <a:ext cx="4729500" cy="57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The potentials are in the same scale as the previous plot, showing existing power plants!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c25cd92e60_0_17"/>
          <p:cNvSpPr txBox="1"/>
          <p:nvPr/>
        </p:nvSpPr>
        <p:spPr>
          <a:xfrm>
            <a:off x="3248775" y="830025"/>
            <a:ext cx="240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2b2f75b73_0_0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1197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Available Capacity (scaled down by factor 10)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69" name="Google Shape;169;g3c2b2f75b73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0" name="Google Shape;170;g3c2b2f75b73_0_0" title="Renewables Potential 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68300"/>
            <a:ext cx="5590999" cy="492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c2b2f75b73_0_0"/>
          <p:cNvSpPr txBox="1"/>
          <p:nvPr/>
        </p:nvSpPr>
        <p:spPr>
          <a:xfrm>
            <a:off x="6146875" y="1784275"/>
            <a:ext cx="4729500" cy="41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Base: Land Eligibility Analysis and 2025 weather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 Potential of Solar and Wind Capacities, especially in the center and east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538CE9"/>
                </a:highlight>
              </a:rPr>
              <a:t>Sistan and Baluchestan:</a:t>
            </a:r>
            <a:endParaRPr>
              <a:highlight>
                <a:srgbClr val="538CE9"/>
              </a:highlight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~380 GW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~350 GW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E6B8AF"/>
                </a:highlight>
              </a:rPr>
              <a:t>Kerman:</a:t>
            </a:r>
            <a:endParaRPr>
              <a:highlight>
                <a:srgbClr val="E6B8AF"/>
              </a:highlight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~390 GW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~270 GW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F6B26B"/>
                </a:highlight>
              </a:rPr>
              <a:t>Mazandaran:</a:t>
            </a:r>
            <a:endParaRPr>
              <a:highlight>
                <a:srgbClr val="F6B26B"/>
              </a:highlight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 ~21 GW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~0.8 GW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7FFFD4"/>
                </a:highlight>
              </a:rPr>
              <a:t>Persian Gulf:</a:t>
            </a:r>
            <a:endParaRPr>
              <a:highlight>
                <a:srgbClr val="7FFFD4"/>
              </a:highlight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offshore: ~92 GW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7FFFD4"/>
                </a:highlight>
              </a:rPr>
              <a:t>Caspian Sea:</a:t>
            </a:r>
            <a:endParaRPr>
              <a:highlight>
                <a:srgbClr val="7FFFD4"/>
              </a:highlight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offshore: ~6 GW</a:t>
            </a:r>
            <a:endParaRPr/>
          </a:p>
        </p:txBody>
      </p:sp>
      <p:sp>
        <p:nvSpPr>
          <p:cNvPr id="172" name="Google Shape;172;g3c2b2f75b73_0_0"/>
          <p:cNvSpPr txBox="1"/>
          <p:nvPr/>
        </p:nvSpPr>
        <p:spPr>
          <a:xfrm>
            <a:off x="4629125" y="50481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A86E8"/>
                </a:highlight>
              </a:rPr>
              <a:t>Sistan and Baluchestan</a:t>
            </a:r>
            <a:endParaRPr sz="900">
              <a:highlight>
                <a:srgbClr val="4A86E8"/>
              </a:highlight>
            </a:endParaRPr>
          </a:p>
        </p:txBody>
      </p:sp>
      <p:sp>
        <p:nvSpPr>
          <p:cNvPr id="173" name="Google Shape;173;g3c2b2f75b73_0_0"/>
          <p:cNvSpPr txBox="1"/>
          <p:nvPr/>
        </p:nvSpPr>
        <p:spPr>
          <a:xfrm>
            <a:off x="2489075" y="21115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6B26B"/>
                </a:highlight>
              </a:rPr>
              <a:t>Mazandaran</a:t>
            </a:r>
            <a:endParaRPr sz="900">
              <a:highlight>
                <a:srgbClr val="F6B26B"/>
              </a:highlight>
            </a:endParaRPr>
          </a:p>
        </p:txBody>
      </p:sp>
      <p:sp>
        <p:nvSpPr>
          <p:cNvPr id="174" name="Google Shape;174;g3c2b2f75b73_0_0"/>
          <p:cNvSpPr txBox="1"/>
          <p:nvPr/>
        </p:nvSpPr>
        <p:spPr>
          <a:xfrm>
            <a:off x="3954950" y="38145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E6B8AF"/>
                </a:highlight>
              </a:rPr>
              <a:t>Kerman</a:t>
            </a:r>
            <a:endParaRPr sz="900">
              <a:highlight>
                <a:srgbClr val="E6B8AF"/>
              </a:highlight>
            </a:endParaRPr>
          </a:p>
        </p:txBody>
      </p:sp>
      <p:sp>
        <p:nvSpPr>
          <p:cNvPr id="175" name="Google Shape;175;g3c2b2f75b73_0_0"/>
          <p:cNvSpPr txBox="1"/>
          <p:nvPr/>
        </p:nvSpPr>
        <p:spPr>
          <a:xfrm>
            <a:off x="1828500" y="47208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7FFFD4"/>
                </a:highlight>
              </a:rPr>
              <a:t>Persian Gulf</a:t>
            </a:r>
            <a:endParaRPr sz="900">
              <a:highlight>
                <a:srgbClr val="7FFFD4"/>
              </a:highlight>
            </a:endParaRPr>
          </a:p>
        </p:txBody>
      </p:sp>
      <p:sp>
        <p:nvSpPr>
          <p:cNvPr id="176" name="Google Shape;176;g3c2b2f75b73_0_0"/>
          <p:cNvSpPr txBox="1"/>
          <p:nvPr/>
        </p:nvSpPr>
        <p:spPr>
          <a:xfrm>
            <a:off x="2146050" y="17842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7FFFD4"/>
                </a:highlight>
              </a:rPr>
              <a:t>Caspian Sea</a:t>
            </a:r>
            <a:endParaRPr sz="900">
              <a:highlight>
                <a:srgbClr val="7FFFD4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5cd92e60_0_12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Load Time Series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82" name="Google Shape;182;g3c25cd92e60_0_1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3" name="Google Shape;183;g3c25cd92e60_0_12" title="Load Time Series Daily.png"/>
          <p:cNvPicPr preferRelativeResize="0"/>
          <p:nvPr/>
        </p:nvPicPr>
        <p:blipFill rotWithShape="1">
          <a:blip r:embed="rId3">
            <a:alphaModFix/>
          </a:blip>
          <a:srcRect r="6384"/>
          <a:stretch/>
        </p:blipFill>
        <p:spPr>
          <a:xfrm>
            <a:off x="555876" y="1285875"/>
            <a:ext cx="111396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b2f75b73_0_156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Regional Load Distribution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189" name="Google Shape;189;g3c2b2f75b73_0_15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0" name="Google Shape;190;g3c2b2f75b73_0_156" title="Yearly Load 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26463"/>
            <a:ext cx="5591000" cy="500507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c2b2f75b73_0_156"/>
          <p:cNvSpPr txBox="1"/>
          <p:nvPr/>
        </p:nvSpPr>
        <p:spPr>
          <a:xfrm>
            <a:off x="6146875" y="1784275"/>
            <a:ext cx="4944678" cy="41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Load time </a:t>
            </a:r>
            <a:r>
              <a:rPr lang="de-DE" dirty="0" err="1"/>
              <a:t>series</a:t>
            </a:r>
            <a:r>
              <a:rPr lang="de-DE" dirty="0"/>
              <a:t> (</a:t>
            </a:r>
            <a:r>
              <a:rPr lang="de-DE" dirty="0" err="1"/>
              <a:t>from</a:t>
            </a:r>
            <a:r>
              <a:rPr lang="de-DE" dirty="0"/>
              <a:t> 2013 </a:t>
            </a:r>
            <a:r>
              <a:rPr lang="de-DE" dirty="0" err="1"/>
              <a:t>projected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2030)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 err="1"/>
              <a:t>Electricity</a:t>
            </a:r>
            <a:r>
              <a:rPr lang="de-DE" dirty="0"/>
              <a:t> </a:t>
            </a:r>
            <a:r>
              <a:rPr lang="de-DE" dirty="0" err="1"/>
              <a:t>demand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~424 TWh/a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 err="1"/>
              <a:t>Assumption</a:t>
            </a:r>
            <a:r>
              <a:rPr lang="de-DE" dirty="0"/>
              <a:t>: Distributed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,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population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Load per Region </a:t>
            </a:r>
            <a:r>
              <a:rPr lang="de-DE" dirty="0" err="1"/>
              <a:t>ranges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dirty="0" err="1">
                <a:solidFill>
                  <a:srgbClr val="FFFFFF"/>
                </a:solidFill>
                <a:highlight>
                  <a:srgbClr val="980000"/>
                </a:highlight>
              </a:rPr>
              <a:t>Tehran</a:t>
            </a:r>
            <a:r>
              <a:rPr lang="de-DE" dirty="0">
                <a:solidFill>
                  <a:srgbClr val="FFFFFF"/>
                </a:solidFill>
                <a:highlight>
                  <a:srgbClr val="980000"/>
                </a:highlight>
              </a:rPr>
              <a:t>:</a:t>
            </a:r>
            <a:r>
              <a:rPr lang="de-DE" dirty="0">
                <a:solidFill>
                  <a:srgbClr val="FFFFFF"/>
                </a:solidFill>
              </a:rPr>
              <a:t> 			</a:t>
            </a:r>
            <a:r>
              <a:rPr lang="de-DE" dirty="0"/>
              <a:t>~71 TWh/a</a:t>
            </a:r>
            <a:endParaRPr sz="10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dirty="0"/>
              <a:t>…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dirty="0">
                <a:solidFill>
                  <a:srgbClr val="FFFFFF"/>
                </a:solidFill>
                <a:highlight>
                  <a:srgbClr val="274E13"/>
                </a:highlight>
              </a:rPr>
              <a:t>Sistan and </a:t>
            </a:r>
            <a:r>
              <a:rPr lang="de-DE" dirty="0" err="1">
                <a:solidFill>
                  <a:srgbClr val="FFFFFF"/>
                </a:solidFill>
                <a:highlight>
                  <a:srgbClr val="274E13"/>
                </a:highlight>
              </a:rPr>
              <a:t>Baluchestan</a:t>
            </a:r>
            <a:r>
              <a:rPr lang="de-DE" dirty="0">
                <a:solidFill>
                  <a:srgbClr val="FFFFFF"/>
                </a:solidFill>
                <a:highlight>
                  <a:srgbClr val="274E13"/>
                </a:highlight>
              </a:rPr>
              <a:t>:</a:t>
            </a:r>
            <a:r>
              <a:rPr lang="de-DE" dirty="0"/>
              <a:t>	~16 TWh/a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dirty="0"/>
              <a:t>…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dirty="0" err="1">
                <a:solidFill>
                  <a:srgbClr val="FFFFFF"/>
                </a:solidFill>
                <a:highlight>
                  <a:srgbClr val="4C1130"/>
                </a:highlight>
              </a:rPr>
              <a:t>Ilam</a:t>
            </a:r>
            <a:r>
              <a:rPr lang="de-DE" dirty="0">
                <a:solidFill>
                  <a:srgbClr val="FFFFFF"/>
                </a:solidFill>
                <a:highlight>
                  <a:srgbClr val="4C1130"/>
                </a:highlight>
              </a:rPr>
              <a:t>: </a:t>
            </a:r>
            <a:r>
              <a:rPr lang="de-DE" dirty="0"/>
              <a:t>			~3 TWh/a</a:t>
            </a:r>
            <a:endParaRPr sz="1000" dirty="0"/>
          </a:p>
        </p:txBody>
      </p:sp>
      <p:sp>
        <p:nvSpPr>
          <p:cNvPr id="192" name="Google Shape;192;g3c2b2f75b73_0_156"/>
          <p:cNvSpPr txBox="1"/>
          <p:nvPr/>
        </p:nvSpPr>
        <p:spPr>
          <a:xfrm>
            <a:off x="2576500" y="257412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980000"/>
                </a:highlight>
              </a:rPr>
              <a:t>Tehran</a:t>
            </a:r>
            <a:endParaRPr sz="1000">
              <a:solidFill>
                <a:schemeClr val="lt1"/>
              </a:solidFill>
              <a:highlight>
                <a:srgbClr val="980000"/>
              </a:highlight>
            </a:endParaRPr>
          </a:p>
        </p:txBody>
      </p:sp>
      <p:sp>
        <p:nvSpPr>
          <p:cNvPr id="193" name="Google Shape;193;g3c2b2f75b73_0_156"/>
          <p:cNvSpPr txBox="1"/>
          <p:nvPr/>
        </p:nvSpPr>
        <p:spPr>
          <a:xfrm>
            <a:off x="764017" y="3265350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4C1130"/>
                </a:highlight>
              </a:rPr>
              <a:t>Ilam</a:t>
            </a:r>
            <a:endParaRPr sz="10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  <p:sp>
        <p:nvSpPr>
          <p:cNvPr id="194" name="Google Shape;194;g3c2b2f75b73_0_156"/>
          <p:cNvSpPr txBox="1"/>
          <p:nvPr/>
        </p:nvSpPr>
        <p:spPr>
          <a:xfrm>
            <a:off x="4370225" y="4727625"/>
            <a:ext cx="1671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274E13"/>
                </a:highlight>
              </a:rPr>
              <a:t>Sistan and Baluchestan</a:t>
            </a:r>
            <a:endParaRPr sz="1000">
              <a:solidFill>
                <a:schemeClr val="lt1"/>
              </a:solidFill>
              <a:highlight>
                <a:srgbClr val="274E13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2b2f75b73_0_57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Model Results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c2b2f75b73_0_57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c2b2f75b73_0_57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33251713c_1_2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Total System Costs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208" name="Google Shape;208;g3933251713c_1_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9" name="Google Shape;209;g3933251713c_1_2" title="Total System Co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117" y="968275"/>
            <a:ext cx="8151325" cy="487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933251713c_1_2"/>
          <p:cNvSpPr txBox="1"/>
          <p:nvPr/>
        </p:nvSpPr>
        <p:spPr>
          <a:xfrm>
            <a:off x="6478175" y="3263052"/>
            <a:ext cx="4729500" cy="22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 opex of CCGT in base case (with CO2)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Existing Capacities (CCGT, Oil, Nuclear) always built, but no dispatch of CCGT and Oil in “No CO2”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Higher RE capacities require more grid investment, and also more storages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onshore wind technology only required with CO2 Limitations</a:t>
            </a:r>
            <a:endParaRPr/>
          </a:p>
        </p:txBody>
      </p:sp>
      <p:sp>
        <p:nvSpPr>
          <p:cNvPr id="211" name="Google Shape;211;g3933251713c_1_2"/>
          <p:cNvSpPr txBox="1"/>
          <p:nvPr/>
        </p:nvSpPr>
        <p:spPr>
          <a:xfrm>
            <a:off x="2194275" y="4001869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4.71</a:t>
            </a:r>
            <a:endParaRPr sz="900"/>
          </a:p>
        </p:txBody>
      </p:sp>
      <p:sp>
        <p:nvSpPr>
          <p:cNvPr id="212" name="Google Shape;212;g3933251713c_1_2"/>
          <p:cNvSpPr txBox="1"/>
          <p:nvPr/>
        </p:nvSpPr>
        <p:spPr>
          <a:xfrm>
            <a:off x="2194275" y="367980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9ACD32"/>
                </a:highlight>
              </a:rPr>
              <a:t>1.31</a:t>
            </a:r>
            <a:endParaRPr sz="900">
              <a:highlight>
                <a:srgbClr val="9ACD32"/>
              </a:highlight>
            </a:endParaRPr>
          </a:p>
        </p:txBody>
      </p:sp>
      <p:sp>
        <p:nvSpPr>
          <p:cNvPr id="213" name="Google Shape;213;g3933251713c_1_2"/>
          <p:cNvSpPr txBox="1"/>
          <p:nvPr/>
        </p:nvSpPr>
        <p:spPr>
          <a:xfrm>
            <a:off x="2194275" y="523632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4.07</a:t>
            </a:r>
            <a:endParaRPr sz="900"/>
          </a:p>
        </p:txBody>
      </p:sp>
      <p:sp>
        <p:nvSpPr>
          <p:cNvPr id="214" name="Google Shape;214;g3933251713c_1_2"/>
          <p:cNvSpPr txBox="1"/>
          <p:nvPr/>
        </p:nvSpPr>
        <p:spPr>
          <a:xfrm>
            <a:off x="4467650" y="523632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4.07</a:t>
            </a:r>
            <a:endParaRPr sz="900"/>
          </a:p>
        </p:txBody>
      </p:sp>
      <p:sp>
        <p:nvSpPr>
          <p:cNvPr id="215" name="Google Shape;215;g3933251713c_1_2"/>
          <p:cNvSpPr txBox="1"/>
          <p:nvPr/>
        </p:nvSpPr>
        <p:spPr>
          <a:xfrm>
            <a:off x="1837424" y="4685188"/>
            <a:ext cx="1398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10.54 (CCGT Opex)</a:t>
            </a:r>
            <a:endParaRPr sz="900"/>
          </a:p>
        </p:txBody>
      </p:sp>
      <p:sp>
        <p:nvSpPr>
          <p:cNvPr id="216" name="Google Shape;216;g3933251713c_1_2"/>
          <p:cNvSpPr txBox="1"/>
          <p:nvPr/>
        </p:nvSpPr>
        <p:spPr>
          <a:xfrm>
            <a:off x="4467650" y="42783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15.02</a:t>
            </a:r>
            <a:endParaRPr sz="900"/>
          </a:p>
        </p:txBody>
      </p:sp>
      <p:sp>
        <p:nvSpPr>
          <p:cNvPr id="217" name="Google Shape;217;g3933251713c_1_2"/>
          <p:cNvSpPr txBox="1"/>
          <p:nvPr/>
        </p:nvSpPr>
        <p:spPr>
          <a:xfrm>
            <a:off x="4467650" y="492028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2.36</a:t>
            </a:r>
            <a:endParaRPr sz="900"/>
          </a:p>
        </p:txBody>
      </p:sp>
      <p:sp>
        <p:nvSpPr>
          <p:cNvPr id="218" name="Google Shape;218;g3933251713c_1_2"/>
          <p:cNvSpPr txBox="1"/>
          <p:nvPr/>
        </p:nvSpPr>
        <p:spPr>
          <a:xfrm>
            <a:off x="4467650" y="358425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3.11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19" name="Google Shape;219;g3933251713c_1_2"/>
          <p:cNvSpPr txBox="1"/>
          <p:nvPr/>
        </p:nvSpPr>
        <p:spPr>
          <a:xfrm>
            <a:off x="4134050" y="1985975"/>
            <a:ext cx="1351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43.7 bn€/a</a:t>
            </a:r>
            <a:endParaRPr sz="1100" b="1"/>
          </a:p>
        </p:txBody>
      </p:sp>
      <p:sp>
        <p:nvSpPr>
          <p:cNvPr id="220" name="Google Shape;220;g3933251713c_1_2"/>
          <p:cNvSpPr txBox="1"/>
          <p:nvPr/>
        </p:nvSpPr>
        <p:spPr>
          <a:xfrm>
            <a:off x="1884525" y="3391819"/>
            <a:ext cx="13038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23.4 bn€/a</a:t>
            </a:r>
            <a:endParaRPr sz="1100" b="1"/>
          </a:p>
        </p:txBody>
      </p:sp>
      <p:cxnSp>
        <p:nvCxnSpPr>
          <p:cNvPr id="221" name="Google Shape;221;g3933251713c_1_2"/>
          <p:cNvCxnSpPr/>
          <p:nvPr/>
        </p:nvCxnSpPr>
        <p:spPr>
          <a:xfrm rot="10800000">
            <a:off x="3516800" y="2313282"/>
            <a:ext cx="3600" cy="1509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g3933251713c_1_2"/>
          <p:cNvSpPr txBox="1"/>
          <p:nvPr/>
        </p:nvSpPr>
        <p:spPr>
          <a:xfrm>
            <a:off x="1577573" y="2302549"/>
            <a:ext cx="20106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-148899" algn="ctr" rtl="0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 b="1">
                <a:highlight>
                  <a:schemeClr val="lt2"/>
                </a:highlight>
              </a:rPr>
              <a:t>20.3 bn€/a</a:t>
            </a:r>
            <a:endParaRPr b="1">
              <a:highlight>
                <a:schemeClr val="lt2"/>
              </a:highlight>
            </a:endParaRPr>
          </a:p>
        </p:txBody>
      </p:sp>
      <p:sp>
        <p:nvSpPr>
          <p:cNvPr id="223" name="Google Shape;223;g3933251713c_1_2"/>
          <p:cNvSpPr txBox="1"/>
          <p:nvPr/>
        </p:nvSpPr>
        <p:spPr>
          <a:xfrm>
            <a:off x="2194275" y="381851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  <a:highlight>
                  <a:srgbClr val="000000"/>
                </a:highlight>
              </a:rPr>
              <a:t>0.63</a:t>
            </a:r>
            <a:endParaRPr sz="900">
              <a:solidFill>
                <a:schemeClr val="lt1"/>
              </a:solidFill>
              <a:highlight>
                <a:srgbClr val="000000"/>
              </a:highlight>
            </a:endParaRPr>
          </a:p>
        </p:txBody>
      </p:sp>
      <p:sp>
        <p:nvSpPr>
          <p:cNvPr id="224" name="Google Shape;224;g3933251713c_1_2"/>
          <p:cNvSpPr txBox="1"/>
          <p:nvPr/>
        </p:nvSpPr>
        <p:spPr>
          <a:xfrm>
            <a:off x="7207225" y="2603086"/>
            <a:ext cx="9468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(Grid Cost)</a:t>
            </a:r>
            <a:endParaRPr sz="900"/>
          </a:p>
        </p:txBody>
      </p:sp>
      <p:sp>
        <p:nvSpPr>
          <p:cNvPr id="225" name="Google Shape;225;g3933251713c_1_2"/>
          <p:cNvSpPr txBox="1"/>
          <p:nvPr/>
        </p:nvSpPr>
        <p:spPr>
          <a:xfrm>
            <a:off x="4467650" y="303351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13.17</a:t>
            </a:r>
            <a:endParaRPr sz="900"/>
          </a:p>
        </p:txBody>
      </p:sp>
      <p:sp>
        <p:nvSpPr>
          <p:cNvPr id="226" name="Google Shape;226;g3933251713c_1_2"/>
          <p:cNvSpPr txBox="1"/>
          <p:nvPr/>
        </p:nvSpPr>
        <p:spPr>
          <a:xfrm>
            <a:off x="4467650" y="231301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4.73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9337298d6a_0_21" title="Capacities Built per Technolog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875" y="975421"/>
            <a:ext cx="8180174" cy="4894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337298d6a_0_21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Optimal Generation Capacity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233" name="Google Shape;233;g39337298d6a_0_2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4" name="Google Shape;234;g39337298d6a_0_21"/>
          <p:cNvSpPr txBox="1"/>
          <p:nvPr/>
        </p:nvSpPr>
        <p:spPr>
          <a:xfrm>
            <a:off x="2073456" y="379835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146.4 GW</a:t>
            </a:r>
            <a:endParaRPr sz="1100" b="1"/>
          </a:p>
        </p:txBody>
      </p:sp>
      <p:sp>
        <p:nvSpPr>
          <p:cNvPr id="235" name="Google Shape;235;g39337298d6a_0_21"/>
          <p:cNvSpPr txBox="1"/>
          <p:nvPr/>
        </p:nvSpPr>
        <p:spPr>
          <a:xfrm>
            <a:off x="4319170" y="117246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423.7 GW</a:t>
            </a:r>
            <a:endParaRPr sz="1100" b="1"/>
          </a:p>
        </p:txBody>
      </p:sp>
      <p:sp>
        <p:nvSpPr>
          <p:cNvPr id="236" name="Google Shape;236;g39337298d6a_0_21"/>
          <p:cNvSpPr txBox="1"/>
          <p:nvPr/>
        </p:nvSpPr>
        <p:spPr>
          <a:xfrm>
            <a:off x="2237988" y="45296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74.6</a:t>
            </a:r>
            <a:endParaRPr sz="900"/>
          </a:p>
        </p:txBody>
      </p:sp>
      <p:sp>
        <p:nvSpPr>
          <p:cNvPr id="237" name="Google Shape;237;g39337298d6a_0_21"/>
          <p:cNvSpPr txBox="1"/>
          <p:nvPr/>
        </p:nvSpPr>
        <p:spPr>
          <a:xfrm>
            <a:off x="2237988" y="416399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2F95EC"/>
                </a:highlight>
              </a:rPr>
              <a:t>1.1</a:t>
            </a:r>
            <a:endParaRPr sz="900">
              <a:highlight>
                <a:srgbClr val="2F95EC"/>
              </a:highlight>
            </a:endParaRPr>
          </a:p>
        </p:txBody>
      </p:sp>
      <p:sp>
        <p:nvSpPr>
          <p:cNvPr id="238" name="Google Shape;238;g39337298d6a_0_21"/>
          <p:cNvSpPr txBox="1"/>
          <p:nvPr/>
        </p:nvSpPr>
        <p:spPr>
          <a:xfrm>
            <a:off x="2237988" y="522309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37.7</a:t>
            </a:r>
            <a:endParaRPr sz="900"/>
          </a:p>
        </p:txBody>
      </p:sp>
      <p:sp>
        <p:nvSpPr>
          <p:cNvPr id="239" name="Google Shape;239;g39337298d6a_0_21"/>
          <p:cNvSpPr txBox="1"/>
          <p:nvPr/>
        </p:nvSpPr>
        <p:spPr>
          <a:xfrm>
            <a:off x="2237988" y="500263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11.3</a:t>
            </a:r>
            <a:endParaRPr sz="900"/>
          </a:p>
        </p:txBody>
      </p:sp>
      <p:sp>
        <p:nvSpPr>
          <p:cNvPr id="240" name="Google Shape;240;g39337298d6a_0_21"/>
          <p:cNvSpPr txBox="1"/>
          <p:nvPr/>
        </p:nvSpPr>
        <p:spPr>
          <a:xfrm>
            <a:off x="4483735" y="40768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238</a:t>
            </a:r>
            <a:endParaRPr sz="900"/>
          </a:p>
        </p:txBody>
      </p:sp>
      <p:sp>
        <p:nvSpPr>
          <p:cNvPr id="241" name="Google Shape;241;g39337298d6a_0_21"/>
          <p:cNvSpPr txBox="1"/>
          <p:nvPr/>
        </p:nvSpPr>
        <p:spPr>
          <a:xfrm>
            <a:off x="4483735" y="239497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22</a:t>
            </a:r>
            <a:endParaRPr sz="900"/>
          </a:p>
        </p:txBody>
      </p:sp>
      <p:sp>
        <p:nvSpPr>
          <p:cNvPr id="242" name="Google Shape;242;g39337298d6a_0_21"/>
          <p:cNvSpPr txBox="1"/>
          <p:nvPr/>
        </p:nvSpPr>
        <p:spPr>
          <a:xfrm>
            <a:off x="4483735" y="133810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7.9</a:t>
            </a:r>
            <a:endParaRPr sz="900"/>
          </a:p>
        </p:txBody>
      </p:sp>
      <p:sp>
        <p:nvSpPr>
          <p:cNvPr id="243" name="Google Shape;243;g39337298d6a_0_21"/>
          <p:cNvSpPr txBox="1"/>
          <p:nvPr/>
        </p:nvSpPr>
        <p:spPr>
          <a:xfrm>
            <a:off x="6478175" y="3089025"/>
            <a:ext cx="4729500" cy="26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Existing power plants (CCGT, oil, nuclear and hydro) are the same in both cases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No dispatch of oil, and CCGT in “no CO2” case, therefore more renewable capacities, mostly solar and wind onshore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As renewable capacity increases, there is more need for Storage (Battery and Hydrogen)</a:t>
            </a:r>
            <a:endParaRPr/>
          </a:p>
        </p:txBody>
      </p:sp>
      <p:sp>
        <p:nvSpPr>
          <p:cNvPr id="244" name="Google Shape;244;g39337298d6a_0_21"/>
          <p:cNvSpPr txBox="1"/>
          <p:nvPr/>
        </p:nvSpPr>
        <p:spPr>
          <a:xfrm>
            <a:off x="2237988" y="487638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10.7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45" name="Google Shape;245;g39337298d6a_0_21"/>
          <p:cNvSpPr txBox="1"/>
          <p:nvPr/>
        </p:nvSpPr>
        <p:spPr>
          <a:xfrm>
            <a:off x="4483735" y="520999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37.7</a:t>
            </a:r>
            <a:endParaRPr sz="900"/>
          </a:p>
        </p:txBody>
      </p:sp>
      <p:sp>
        <p:nvSpPr>
          <p:cNvPr id="246" name="Google Shape;246;g39337298d6a_0_21"/>
          <p:cNvSpPr txBox="1"/>
          <p:nvPr/>
        </p:nvSpPr>
        <p:spPr>
          <a:xfrm>
            <a:off x="4483735" y="5007511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11.3</a:t>
            </a:r>
            <a:endParaRPr sz="900"/>
          </a:p>
        </p:txBody>
      </p:sp>
      <p:sp>
        <p:nvSpPr>
          <p:cNvPr id="247" name="Google Shape;247;g39337298d6a_0_21"/>
          <p:cNvSpPr txBox="1"/>
          <p:nvPr/>
        </p:nvSpPr>
        <p:spPr>
          <a:xfrm>
            <a:off x="4483735" y="488125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10.7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48" name="Google Shape;248;g39337298d6a_0_21"/>
          <p:cNvSpPr txBox="1"/>
          <p:nvPr/>
        </p:nvSpPr>
        <p:spPr>
          <a:xfrm>
            <a:off x="2237988" y="404224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9.8</a:t>
            </a:r>
            <a:endParaRPr sz="900"/>
          </a:p>
        </p:txBody>
      </p:sp>
      <p:sp>
        <p:nvSpPr>
          <p:cNvPr id="249" name="Google Shape;249;g39337298d6a_0_21"/>
          <p:cNvSpPr txBox="1"/>
          <p:nvPr/>
        </p:nvSpPr>
        <p:spPr>
          <a:xfrm>
            <a:off x="4483735" y="181363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95.1</a:t>
            </a:r>
            <a:endParaRPr sz="900"/>
          </a:p>
        </p:txBody>
      </p:sp>
      <p:sp>
        <p:nvSpPr>
          <p:cNvPr id="250" name="Google Shape;250;g39337298d6a_0_21"/>
          <p:cNvSpPr txBox="1"/>
          <p:nvPr/>
        </p:nvSpPr>
        <p:spPr>
          <a:xfrm>
            <a:off x="2567013" y="493944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0E0D0"/>
                </a:highlight>
              </a:rPr>
              <a:t>1</a:t>
            </a:r>
            <a:endParaRPr sz="900">
              <a:highlight>
                <a:srgbClr val="40E0D0"/>
              </a:highlight>
            </a:endParaRPr>
          </a:p>
        </p:txBody>
      </p:sp>
      <p:sp>
        <p:nvSpPr>
          <p:cNvPr id="251" name="Google Shape;251;g39337298d6a_0_21"/>
          <p:cNvSpPr txBox="1"/>
          <p:nvPr/>
        </p:nvSpPr>
        <p:spPr>
          <a:xfrm>
            <a:off x="4763176" y="494090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0E0D0"/>
                </a:highlight>
              </a:rPr>
              <a:t>1</a:t>
            </a:r>
            <a:endParaRPr sz="900">
              <a:highlight>
                <a:srgbClr val="40E0D0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2abf05fc0_0_16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Optimal Generation Capacity per Region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257" name="Google Shape;257;g3c2abf05fc0_0_1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8" name="Google Shape;258;g3c2abf05fc0_0_16" title="Optimal Generation Capacity with co2 limit of 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6900" y="968270"/>
            <a:ext cx="5591012" cy="492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c2abf05fc0_0_16" title="Optimal Generation Capacity without co2 limi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87" y="968283"/>
            <a:ext cx="5591012" cy="49214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32;g3c2ccbd064a_0_91">
            <a:extLst>
              <a:ext uri="{FF2B5EF4-FFF2-40B4-BE49-F238E27FC236}">
                <a16:creationId xmlns:a16="http://schemas.microsoft.com/office/drawing/2014/main" id="{FB4B7746-59B4-F645-7BCE-5950117A2223}"/>
              </a:ext>
            </a:extLst>
          </p:cNvPr>
          <p:cNvSpPr txBox="1"/>
          <p:nvPr/>
        </p:nvSpPr>
        <p:spPr>
          <a:xfrm>
            <a:off x="3938739" y="875792"/>
            <a:ext cx="1134302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with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3" name="Google Shape;335;g3c2ccbd064a_0_91">
            <a:extLst>
              <a:ext uri="{FF2B5EF4-FFF2-40B4-BE49-F238E27FC236}">
                <a16:creationId xmlns:a16="http://schemas.microsoft.com/office/drawing/2014/main" id="{FF05DF0F-8655-FD02-8633-01F16F390091}"/>
              </a:ext>
            </a:extLst>
          </p:cNvPr>
          <p:cNvSpPr txBox="1"/>
          <p:nvPr/>
        </p:nvSpPr>
        <p:spPr>
          <a:xfrm>
            <a:off x="9610030" y="875792"/>
            <a:ext cx="1154950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no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2ccbd064a_0_131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Electricity Mix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265" name="Google Shape;265;g3c2ccbd064a_0_13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6" name="Google Shape;266;g3c2ccbd064a_0_131" title="outpu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1850" y="1258904"/>
            <a:ext cx="4957149" cy="4340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c2ccbd064a_0_131" title="Electricity Mix with CO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75" y="1327013"/>
            <a:ext cx="4801574" cy="4203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c2ccbd064a_0_131"/>
          <p:cNvSpPr txBox="1"/>
          <p:nvPr/>
        </p:nvSpPr>
        <p:spPr>
          <a:xfrm>
            <a:off x="8983185" y="16556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43DCD3"/>
                </a:highlight>
              </a:rPr>
              <a:t>0.2%</a:t>
            </a:r>
            <a:endParaRPr sz="800">
              <a:solidFill>
                <a:schemeClr val="dk1"/>
              </a:solidFill>
              <a:highlight>
                <a:srgbClr val="43DCD3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43DCD3"/>
                </a:highlight>
              </a:rPr>
              <a:t>1 TWh</a:t>
            </a:r>
            <a:endParaRPr sz="800">
              <a:solidFill>
                <a:schemeClr val="dk1"/>
              </a:solidFill>
              <a:highlight>
                <a:srgbClr val="43DCD3"/>
              </a:highlight>
            </a:endParaRPr>
          </a:p>
        </p:txBody>
      </p:sp>
      <p:sp>
        <p:nvSpPr>
          <p:cNvPr id="269" name="Google Shape;269;g3c2ccbd064a_0_131"/>
          <p:cNvSpPr txBox="1"/>
          <p:nvPr/>
        </p:nvSpPr>
        <p:spPr>
          <a:xfrm>
            <a:off x="8519635" y="202137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</a:rPr>
              <a:t>5.4%</a:t>
            </a:r>
            <a:endParaRPr sz="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</a:rPr>
              <a:t>24 TWh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70" name="Google Shape;270;g3c2ccbd064a_0_131"/>
          <p:cNvSpPr txBox="1"/>
          <p:nvPr/>
        </p:nvSpPr>
        <p:spPr>
          <a:xfrm>
            <a:off x="2168825" y="4356900"/>
            <a:ext cx="260700" cy="1788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lt1"/>
              </a:solidFill>
            </a:endParaRPr>
          </a:p>
        </p:txBody>
      </p:sp>
      <p:sp>
        <p:nvSpPr>
          <p:cNvPr id="271" name="Google Shape;271;g3c2ccbd064a_0_131"/>
          <p:cNvSpPr txBox="1"/>
          <p:nvPr/>
        </p:nvSpPr>
        <p:spPr>
          <a:xfrm>
            <a:off x="2082986" y="506754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~</a:t>
            </a:r>
            <a:r>
              <a:rPr lang="de-DE" sz="1200" b="1"/>
              <a:t>426 TWh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2" name="Google Shape;272;g3c2ccbd064a_0_131"/>
          <p:cNvSpPr txBox="1"/>
          <p:nvPr/>
        </p:nvSpPr>
        <p:spPr>
          <a:xfrm>
            <a:off x="8134292" y="511586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~</a:t>
            </a:r>
            <a:r>
              <a:rPr lang="de-DE" sz="1200" b="1"/>
              <a:t>452 TWh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3" name="Google Shape;273;g3c2ccbd064a_0_131"/>
          <p:cNvSpPr txBox="1"/>
          <p:nvPr/>
        </p:nvSpPr>
        <p:spPr>
          <a:xfrm>
            <a:off x="3137507" y="338058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0000"/>
                </a:highlight>
              </a:rPr>
              <a:t>51.9%</a:t>
            </a:r>
            <a:endParaRPr sz="800" b="1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0000"/>
                </a:highlight>
              </a:rPr>
              <a:t>221 TWh</a:t>
            </a:r>
            <a:endParaRPr sz="800" b="1">
              <a:solidFill>
                <a:schemeClr val="dk1"/>
              </a:solidFill>
              <a:highlight>
                <a:srgbClr val="FF0000"/>
              </a:highlight>
            </a:endParaRPr>
          </a:p>
        </p:txBody>
      </p:sp>
      <p:sp>
        <p:nvSpPr>
          <p:cNvPr id="274" name="Google Shape;274;g3c2ccbd064a_0_131"/>
          <p:cNvSpPr txBox="1"/>
          <p:nvPr/>
        </p:nvSpPr>
        <p:spPr>
          <a:xfrm>
            <a:off x="8007988" y="428264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D700"/>
                </a:highlight>
              </a:rPr>
              <a:t>93.6%</a:t>
            </a:r>
            <a:endParaRPr sz="800" b="1">
              <a:solidFill>
                <a:schemeClr val="dk1"/>
              </a:solidFill>
              <a:highlight>
                <a:srgbClr val="FFD7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D700"/>
                </a:highlight>
              </a:rPr>
              <a:t>423 TWh</a:t>
            </a:r>
            <a:endParaRPr sz="800" b="1">
              <a:solidFill>
                <a:schemeClr val="dk1"/>
              </a:solidFill>
              <a:highlight>
                <a:srgbClr val="FFD700"/>
              </a:highlight>
            </a:endParaRPr>
          </a:p>
        </p:txBody>
      </p:sp>
      <p:sp>
        <p:nvSpPr>
          <p:cNvPr id="275" name="Google Shape;275;g3c2ccbd064a_0_131"/>
          <p:cNvSpPr txBox="1"/>
          <p:nvPr/>
        </p:nvSpPr>
        <p:spPr>
          <a:xfrm>
            <a:off x="8669800" y="2457275"/>
            <a:ext cx="251100" cy="1788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lt1"/>
              </a:solidFill>
            </a:endParaRPr>
          </a:p>
        </p:txBody>
      </p:sp>
      <p:sp>
        <p:nvSpPr>
          <p:cNvPr id="276" name="Google Shape;276;g3c2ccbd064a_0_131"/>
          <p:cNvSpPr txBox="1"/>
          <p:nvPr/>
        </p:nvSpPr>
        <p:spPr>
          <a:xfrm>
            <a:off x="555875" y="5531003"/>
            <a:ext cx="99201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More generation than load mostly because of the losses in Storages</a:t>
            </a:r>
            <a:endParaRPr/>
          </a:p>
        </p:txBody>
      </p:sp>
      <p:sp>
        <p:nvSpPr>
          <p:cNvPr id="277" name="Google Shape;277;g3c2ccbd064a_0_131"/>
          <p:cNvSpPr txBox="1"/>
          <p:nvPr/>
        </p:nvSpPr>
        <p:spPr>
          <a:xfrm>
            <a:off x="1863942" y="464054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</a:rPr>
              <a:t>5.7%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78" name="Google Shape;278;g3c2ccbd064a_0_131"/>
          <p:cNvSpPr txBox="1"/>
          <p:nvPr/>
        </p:nvSpPr>
        <p:spPr>
          <a:xfrm>
            <a:off x="1863942" y="475554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</a:rPr>
              <a:t>24 TWh</a:t>
            </a:r>
            <a:endParaRPr sz="800" b="1">
              <a:solidFill>
                <a:schemeClr val="lt1"/>
              </a:solidFill>
            </a:endParaRPr>
          </a:p>
        </p:txBody>
      </p:sp>
      <p:sp>
        <p:nvSpPr>
          <p:cNvPr id="279" name="Google Shape;279;g3c2ccbd064a_0_131"/>
          <p:cNvSpPr txBox="1"/>
          <p:nvPr/>
        </p:nvSpPr>
        <p:spPr>
          <a:xfrm>
            <a:off x="1179646" y="467251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  <a:highlight>
                  <a:srgbClr val="A52A2A"/>
                </a:highlight>
              </a:rPr>
              <a:t>1.1%</a:t>
            </a:r>
            <a:endParaRPr sz="800" b="1">
              <a:solidFill>
                <a:schemeClr val="lt1"/>
              </a:solidFill>
              <a:highlight>
                <a:srgbClr val="A52A2A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lt1"/>
                </a:solidFill>
                <a:highlight>
                  <a:srgbClr val="A52A2A"/>
                </a:highlight>
              </a:rPr>
              <a:t>4.6 TWh</a:t>
            </a:r>
            <a:endParaRPr sz="800" b="1">
              <a:solidFill>
                <a:schemeClr val="lt1"/>
              </a:solidFill>
              <a:highlight>
                <a:srgbClr val="A52A2A"/>
              </a:highlight>
            </a:endParaRPr>
          </a:p>
        </p:txBody>
      </p:sp>
      <p:sp>
        <p:nvSpPr>
          <p:cNvPr id="280" name="Google Shape;280;g3c2ccbd064a_0_131"/>
          <p:cNvSpPr txBox="1"/>
          <p:nvPr/>
        </p:nvSpPr>
        <p:spPr>
          <a:xfrm>
            <a:off x="1245691" y="42305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1E90FF"/>
                </a:highlight>
              </a:rPr>
              <a:t>0.5%</a:t>
            </a:r>
            <a:endParaRPr sz="800" b="1">
              <a:solidFill>
                <a:schemeClr val="dk1"/>
              </a:solidFill>
              <a:highlight>
                <a:srgbClr val="1E90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1E90FF"/>
                </a:highlight>
              </a:rPr>
              <a:t>2.3 TWh</a:t>
            </a:r>
            <a:endParaRPr sz="800" b="1">
              <a:solidFill>
                <a:schemeClr val="dk1"/>
              </a:solidFill>
              <a:highlight>
                <a:srgbClr val="1E90FF"/>
              </a:highlight>
            </a:endParaRPr>
          </a:p>
        </p:txBody>
      </p:sp>
      <p:sp>
        <p:nvSpPr>
          <p:cNvPr id="281" name="Google Shape;281;g3c2ccbd064a_0_131"/>
          <p:cNvSpPr txBox="1"/>
          <p:nvPr/>
        </p:nvSpPr>
        <p:spPr>
          <a:xfrm>
            <a:off x="1356351" y="302814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D700"/>
                </a:highlight>
              </a:rPr>
              <a:t>38.9%</a:t>
            </a:r>
            <a:endParaRPr sz="800" b="1">
              <a:solidFill>
                <a:schemeClr val="dk1"/>
              </a:solidFill>
              <a:highlight>
                <a:srgbClr val="FFD7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FFD700"/>
                </a:highlight>
              </a:rPr>
              <a:t>166 TWh</a:t>
            </a:r>
            <a:endParaRPr sz="800" b="1">
              <a:solidFill>
                <a:schemeClr val="dk1"/>
              </a:solidFill>
              <a:highlight>
                <a:srgbClr val="FFD700"/>
              </a:highlight>
            </a:endParaRPr>
          </a:p>
        </p:txBody>
      </p:sp>
      <p:sp>
        <p:nvSpPr>
          <p:cNvPr id="282" name="Google Shape;282;g3c2ccbd064a_0_131"/>
          <p:cNvSpPr txBox="1"/>
          <p:nvPr/>
        </p:nvSpPr>
        <p:spPr>
          <a:xfrm rot="1842254">
            <a:off x="2039717" y="4190468"/>
            <a:ext cx="102231" cy="256014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3" name="Google Shape;283;g3c2ccbd064a_0_131"/>
          <p:cNvSpPr txBox="1"/>
          <p:nvPr/>
        </p:nvSpPr>
        <p:spPr>
          <a:xfrm>
            <a:off x="1770082" y="428263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40E0D0"/>
                </a:highlight>
              </a:rPr>
              <a:t>1.8%</a:t>
            </a: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  <a:highlight>
                  <a:srgbClr val="40E0D0"/>
                </a:highlight>
              </a:rPr>
              <a:t>7.6 TWh</a:t>
            </a: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4" name="Google Shape;284;g3c2ccbd064a_0_131"/>
          <p:cNvSpPr txBox="1"/>
          <p:nvPr/>
        </p:nvSpPr>
        <p:spPr>
          <a:xfrm rot="1593903">
            <a:off x="2225336" y="4046870"/>
            <a:ext cx="83182" cy="32749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5" name="Google Shape;285;g3c2ccbd064a_0_131"/>
          <p:cNvSpPr txBox="1"/>
          <p:nvPr/>
        </p:nvSpPr>
        <p:spPr>
          <a:xfrm rot="2007448">
            <a:off x="1973055" y="4142945"/>
            <a:ext cx="61489" cy="324167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6" name="Google Shape;286;g3c2ccbd064a_0_131"/>
          <p:cNvSpPr txBox="1"/>
          <p:nvPr/>
        </p:nvSpPr>
        <p:spPr>
          <a:xfrm rot="2398159">
            <a:off x="1852357" y="4038227"/>
            <a:ext cx="120957" cy="32754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7" name="Google Shape;287;g3c2ccbd064a_0_131"/>
          <p:cNvSpPr txBox="1"/>
          <p:nvPr/>
        </p:nvSpPr>
        <p:spPr>
          <a:xfrm rot="2331765">
            <a:off x="1939754" y="4110631"/>
            <a:ext cx="39684" cy="327687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8" name="Google Shape;288;g3c2ccbd064a_0_131"/>
          <p:cNvSpPr txBox="1"/>
          <p:nvPr/>
        </p:nvSpPr>
        <p:spPr>
          <a:xfrm>
            <a:off x="8977269" y="20624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1E90FF"/>
                </a:highlight>
              </a:rPr>
              <a:t>0.8%</a:t>
            </a:r>
            <a:endParaRPr sz="800">
              <a:solidFill>
                <a:schemeClr val="dk1"/>
              </a:solidFill>
              <a:highlight>
                <a:srgbClr val="1E90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1E90FF"/>
                </a:highlight>
              </a:rPr>
              <a:t>3.5 TWh</a:t>
            </a:r>
            <a:endParaRPr sz="800">
              <a:solidFill>
                <a:schemeClr val="dk1"/>
              </a:solidFill>
              <a:highlight>
                <a:srgbClr val="1E90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2ccbd064a_0_123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Electricity Generation Mix per Region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294" name="Google Shape;294;g3c2ccbd064a_0_12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5" name="Google Shape;295;g3c2ccbd064a_0_123" title="Electricity Mix per Region with CO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225" y="1093575"/>
            <a:ext cx="5306354" cy="467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c2ccbd064a_0_123" title="Electricity Mix per Region no CO2 allow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3432" y="1093587"/>
            <a:ext cx="5306354" cy="46708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32;g3c2ccbd064a_0_91">
            <a:extLst>
              <a:ext uri="{FF2B5EF4-FFF2-40B4-BE49-F238E27FC236}">
                <a16:creationId xmlns:a16="http://schemas.microsoft.com/office/drawing/2014/main" id="{4F5B0A62-BA4E-4FF7-7C85-E72BF8B9A305}"/>
              </a:ext>
            </a:extLst>
          </p:cNvPr>
          <p:cNvSpPr txBox="1"/>
          <p:nvPr/>
        </p:nvSpPr>
        <p:spPr>
          <a:xfrm>
            <a:off x="3562959" y="950195"/>
            <a:ext cx="1134302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with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3" name="Google Shape;335;g3c2ccbd064a_0_91">
            <a:extLst>
              <a:ext uri="{FF2B5EF4-FFF2-40B4-BE49-F238E27FC236}">
                <a16:creationId xmlns:a16="http://schemas.microsoft.com/office/drawing/2014/main" id="{0B4D3E26-96C8-F664-DAFE-5ABB927CC8FF}"/>
              </a:ext>
            </a:extLst>
          </p:cNvPr>
          <p:cNvSpPr txBox="1"/>
          <p:nvPr/>
        </p:nvSpPr>
        <p:spPr>
          <a:xfrm>
            <a:off x="9044025" y="950195"/>
            <a:ext cx="1154950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no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2ccbd064a_0_113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Power Flow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02" name="Google Shape;302;g3c2ccbd064a_0_11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3" name="Google Shape;303;g3c2ccbd064a_0_113" title="Load Flow - model without CO2 Limi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675" y="1134074"/>
            <a:ext cx="5481000" cy="424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c2ccbd064a_0_113" title="Load Flow - model with CO2 Limit of 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9675" y="1134064"/>
            <a:ext cx="5481000" cy="42498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32;g3c2ccbd064a_0_91">
            <a:extLst>
              <a:ext uri="{FF2B5EF4-FFF2-40B4-BE49-F238E27FC236}">
                <a16:creationId xmlns:a16="http://schemas.microsoft.com/office/drawing/2014/main" id="{D607FACB-5870-4840-0295-4E57CD35143C}"/>
              </a:ext>
            </a:extLst>
          </p:cNvPr>
          <p:cNvSpPr txBox="1"/>
          <p:nvPr/>
        </p:nvSpPr>
        <p:spPr>
          <a:xfrm>
            <a:off x="3988843" y="1100951"/>
            <a:ext cx="1134302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with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3" name="Google Shape;335;g3c2ccbd064a_0_91">
            <a:extLst>
              <a:ext uri="{FF2B5EF4-FFF2-40B4-BE49-F238E27FC236}">
                <a16:creationId xmlns:a16="http://schemas.microsoft.com/office/drawing/2014/main" id="{C7995C45-A90B-9E67-3B18-A9B89838E58D}"/>
              </a:ext>
            </a:extLst>
          </p:cNvPr>
          <p:cNvSpPr txBox="1"/>
          <p:nvPr/>
        </p:nvSpPr>
        <p:spPr>
          <a:xfrm>
            <a:off x="9209197" y="1128260"/>
            <a:ext cx="1500556" cy="32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no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2b2f75b73_0_186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Average Price per Region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10" name="Google Shape;310;g3c2b2f75b73_0_18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1" name="Google Shape;311;g3c2b2f75b73_0_186" title="avg_elec_prices_no_co2.png"/>
          <p:cNvPicPr preferRelativeResize="0"/>
          <p:nvPr/>
        </p:nvPicPr>
        <p:blipFill rotWithShape="1">
          <a:blip r:embed="rId3">
            <a:alphaModFix/>
          </a:blip>
          <a:srcRect t="1361" b="1361"/>
          <a:stretch/>
        </p:blipFill>
        <p:spPr>
          <a:xfrm>
            <a:off x="6335087" y="1113850"/>
            <a:ext cx="5342079" cy="448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2b2f75b73_0_186" title="avg_elec_prices_with_co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85" y="1113850"/>
            <a:ext cx="5231102" cy="448956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c2b2f75b73_0_186"/>
          <p:cNvSpPr txBox="1"/>
          <p:nvPr/>
        </p:nvSpPr>
        <p:spPr>
          <a:xfrm rot="-5400000">
            <a:off x="4185947" y="3230163"/>
            <a:ext cx="32574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1">
                <a:solidFill>
                  <a:schemeClr val="dk1"/>
                </a:solidFill>
              </a:rPr>
              <a:t>Average Marginal Price  [€/MWh]</a:t>
            </a:r>
            <a:endParaRPr sz="1000" b="1">
              <a:solidFill>
                <a:schemeClr val="dk1"/>
              </a:solidFill>
            </a:endParaRPr>
          </a:p>
        </p:txBody>
      </p:sp>
      <p:sp>
        <p:nvSpPr>
          <p:cNvPr id="314" name="Google Shape;314;g3c2b2f75b73_0_186"/>
          <p:cNvSpPr txBox="1"/>
          <p:nvPr/>
        </p:nvSpPr>
        <p:spPr>
          <a:xfrm rot="-5400000">
            <a:off x="10079256" y="3230163"/>
            <a:ext cx="32574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1">
                <a:solidFill>
                  <a:schemeClr val="dk1"/>
                </a:solidFill>
              </a:rPr>
              <a:t>Average Marginal Price  [€/MWh]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9337298d6a_0_28" title="Price Duration Curv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1120556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9337298d6a_0_28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Prices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21" name="Google Shape;321;g39337298d6a_0_2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2" name="Google Shape;322;g39337298d6a_0_28"/>
          <p:cNvSpPr txBox="1"/>
          <p:nvPr/>
        </p:nvSpPr>
        <p:spPr>
          <a:xfrm>
            <a:off x="4977000" y="1238336"/>
            <a:ext cx="2238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Price Duration Curve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3" name="Google Shape;323;g39337298d6a_0_28"/>
          <p:cNvSpPr txBox="1"/>
          <p:nvPr/>
        </p:nvSpPr>
        <p:spPr>
          <a:xfrm>
            <a:off x="923925" y="5247125"/>
            <a:ext cx="8547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Note: </a:t>
            </a:r>
            <a:r>
              <a:rPr lang="de-DE" sz="1300">
                <a:solidFill>
                  <a:schemeClr val="dk1"/>
                </a:solidFill>
              </a:rPr>
              <a:t>the top 1.5% percent are removed for better visualization (see archive for more detail)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3c2ccbd064a_0_91" title="Energy Balance week in dec 2025 with co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875" y="1430978"/>
            <a:ext cx="6393650" cy="399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c2ccbd064a_0_91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Energy Balance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30" name="Google Shape;330;g3c2ccbd064a_0_9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g3c2ccbd064a_0_91"/>
          <p:cNvSpPr txBox="1"/>
          <p:nvPr/>
        </p:nvSpPr>
        <p:spPr>
          <a:xfrm rot="-5400000">
            <a:off x="192881" y="3140381"/>
            <a:ext cx="105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</a:rPr>
              <a:t>Power  [MW]</a:t>
            </a:r>
            <a:endParaRPr sz="800" b="1">
              <a:solidFill>
                <a:schemeClr val="dk1"/>
              </a:solidFill>
            </a:endParaRPr>
          </a:p>
        </p:txBody>
      </p:sp>
      <p:sp>
        <p:nvSpPr>
          <p:cNvPr id="332" name="Google Shape;332;g3c2ccbd064a_0_91"/>
          <p:cNvSpPr txBox="1"/>
          <p:nvPr/>
        </p:nvSpPr>
        <p:spPr>
          <a:xfrm>
            <a:off x="1856460" y="139145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dirty="0" err="1">
                <a:solidFill>
                  <a:schemeClr val="dk1"/>
                </a:solidFill>
              </a:rPr>
              <a:t>with</a:t>
            </a:r>
            <a:r>
              <a:rPr lang="de-DE" sz="1200" b="1" dirty="0">
                <a:solidFill>
                  <a:schemeClr val="dk1"/>
                </a:solidFill>
              </a:rPr>
              <a:t> CO2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pic>
        <p:nvPicPr>
          <p:cNvPr id="333" name="Google Shape;333;g3c2ccbd064a_0_91" title="Energy Balance week in dec 2025 no co2 limit.png"/>
          <p:cNvPicPr preferRelativeResize="0"/>
          <p:nvPr/>
        </p:nvPicPr>
        <p:blipFill rotWithShape="1">
          <a:blip r:embed="rId4">
            <a:alphaModFix/>
          </a:blip>
          <a:srcRect t="835" b="835"/>
          <a:stretch/>
        </p:blipFill>
        <p:spPr>
          <a:xfrm>
            <a:off x="5013700" y="1431000"/>
            <a:ext cx="6502526" cy="39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c2ccbd064a_0_91"/>
          <p:cNvSpPr txBox="1"/>
          <p:nvPr/>
        </p:nvSpPr>
        <p:spPr>
          <a:xfrm rot="-5400000">
            <a:off x="4688116" y="3140379"/>
            <a:ext cx="105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>
                <a:solidFill>
                  <a:schemeClr val="dk1"/>
                </a:solidFill>
              </a:rPr>
              <a:t>Power [MW]</a:t>
            </a:r>
            <a:endParaRPr sz="800" b="1">
              <a:solidFill>
                <a:schemeClr val="dk1"/>
              </a:solidFill>
            </a:endParaRPr>
          </a:p>
        </p:txBody>
      </p:sp>
      <p:sp>
        <p:nvSpPr>
          <p:cNvPr id="335" name="Google Shape;335;g3c2ccbd064a_0_91"/>
          <p:cNvSpPr txBox="1"/>
          <p:nvPr/>
        </p:nvSpPr>
        <p:spPr>
          <a:xfrm>
            <a:off x="6305795" y="135967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>
                <a:solidFill>
                  <a:schemeClr val="dk1"/>
                </a:solidFill>
              </a:rPr>
              <a:t>no CO2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sp>
        <p:nvSpPr>
          <p:cNvPr id="336" name="Google Shape;336;g3c2ccbd064a_0_91"/>
          <p:cNvSpPr/>
          <p:nvPr/>
        </p:nvSpPr>
        <p:spPr>
          <a:xfrm>
            <a:off x="5294067" y="1807942"/>
            <a:ext cx="418800" cy="471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c2ccbd064a_0_91"/>
          <p:cNvSpPr/>
          <p:nvPr/>
        </p:nvSpPr>
        <p:spPr>
          <a:xfrm>
            <a:off x="769975" y="1862986"/>
            <a:ext cx="418800" cy="471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2b2f75b73_0_167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Storages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43" name="Google Shape;343;g3c2b2f75b73_0_16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4" name="Google Shape;344;g3c2b2f75b73_0_167" title="SOC_battery_sto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850" y="1285870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c2b2f75b73_0_167"/>
          <p:cNvSpPr txBox="1"/>
          <p:nvPr/>
        </p:nvSpPr>
        <p:spPr>
          <a:xfrm>
            <a:off x="665850" y="135485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chemeClr val="dk1"/>
                </a:solidFill>
              </a:rPr>
              <a:t>Battery Storage - SOC (Daily Mean)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46" name="Google Shape;346;g3c2b2f75b73_0_167"/>
          <p:cNvSpPr txBox="1"/>
          <p:nvPr/>
        </p:nvSpPr>
        <p:spPr>
          <a:xfrm>
            <a:off x="963850" y="536960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100% SOC:	</a:t>
            </a:r>
            <a:r>
              <a:rPr lang="de-DE" b="1">
                <a:solidFill>
                  <a:schemeClr val="dk1"/>
                </a:solidFill>
                <a:highlight>
                  <a:srgbClr val="6C77FA"/>
                </a:highlight>
              </a:rPr>
              <a:t>55.3 GWh (with CO2)</a:t>
            </a:r>
            <a:r>
              <a:rPr lang="de-DE">
                <a:solidFill>
                  <a:schemeClr val="dk1"/>
                </a:solidFill>
                <a:highlight>
                  <a:srgbClr val="6C77FA"/>
                </a:highlight>
              </a:rPr>
              <a:t> </a:t>
            </a:r>
            <a:r>
              <a:rPr lang="de-DE">
                <a:solidFill>
                  <a:schemeClr val="dk1"/>
                </a:solidFill>
              </a:rPr>
              <a:t>			vs.		</a:t>
            </a:r>
            <a:r>
              <a:rPr lang="de-DE" b="1">
                <a:solidFill>
                  <a:schemeClr val="dk1"/>
                </a:solidFill>
                <a:highlight>
                  <a:srgbClr val="EE6D58"/>
                </a:highlight>
              </a:rPr>
              <a:t>562.9 GWh (no CO2)</a:t>
            </a:r>
            <a:endParaRPr b="1">
              <a:solidFill>
                <a:schemeClr val="dk1"/>
              </a:solidFill>
              <a:highlight>
                <a:srgbClr val="EE6D58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3c32c431a11_0_29" title="SOC_H2_sto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285875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c32c431a11_0_29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Storages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53" name="Google Shape;353;g3c32c431a11_0_29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g3c32c431a11_0_29"/>
          <p:cNvSpPr txBox="1"/>
          <p:nvPr/>
        </p:nvSpPr>
        <p:spPr>
          <a:xfrm>
            <a:off x="665850" y="135485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chemeClr val="dk1"/>
                </a:solidFill>
              </a:rPr>
              <a:t>Hydrogen Storage Underground - SOC (Daily Mean)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55" name="Google Shape;355;g3c32c431a11_0_29"/>
          <p:cNvSpPr txBox="1"/>
          <p:nvPr/>
        </p:nvSpPr>
        <p:spPr>
          <a:xfrm>
            <a:off x="963850" y="536960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100% SOC: </a:t>
            </a:r>
            <a:r>
              <a:rPr lang="de-DE" b="1">
                <a:solidFill>
                  <a:schemeClr val="dk1"/>
                </a:solidFill>
                <a:highlight>
                  <a:srgbClr val="EE6C57"/>
                </a:highlight>
              </a:rPr>
              <a:t>5328.6 GWh (no CO2)</a:t>
            </a:r>
            <a:endParaRPr b="1">
              <a:solidFill>
                <a:schemeClr val="dk1"/>
              </a:solidFill>
              <a:highlight>
                <a:srgbClr val="EE6C57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32c431a11_0_55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Rate of Curtailment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61" name="Google Shape;361;g3c32c431a11_0_5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2" name="Google Shape;362;g3c32c431a11_0_55" title="Curtailed Energy 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625" y="1095370"/>
            <a:ext cx="656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2b2f75b73_0_181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CO2 Shadow Prices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68" name="Google Shape;368;g3c2b2f75b73_0_18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9" name="Google Shape;369;g3c2b2f75b73_0_181" title="emissions per carri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552525"/>
            <a:ext cx="5284776" cy="37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c2b2f75b73_0_181"/>
          <p:cNvSpPr txBox="1"/>
          <p:nvPr/>
        </p:nvSpPr>
        <p:spPr>
          <a:xfrm>
            <a:off x="6657099" y="1113850"/>
            <a:ext cx="4979026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u="sng" dirty="0" err="1"/>
              <a:t>no</a:t>
            </a:r>
            <a:r>
              <a:rPr lang="de-DE" sz="1600" b="1" u="sng" dirty="0"/>
              <a:t> CO2 Case: </a:t>
            </a:r>
            <a:endParaRPr sz="1600" b="1" u="sng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u="sng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/>
              <a:t>Total </a:t>
            </a:r>
            <a:r>
              <a:rPr lang="de-DE" sz="1600" dirty="0" err="1"/>
              <a:t>emissions</a:t>
            </a:r>
            <a:r>
              <a:rPr lang="de-DE" sz="1600" dirty="0"/>
              <a:t>: 		0.0	tCO2</a:t>
            </a: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/>
              <a:t>Carbon </a:t>
            </a:r>
            <a:r>
              <a:rPr lang="de-DE" sz="1600" dirty="0" err="1"/>
              <a:t>shadow</a:t>
            </a:r>
            <a:r>
              <a:rPr lang="de-DE" sz="1600" dirty="0"/>
              <a:t> </a:t>
            </a:r>
            <a:r>
              <a:rPr lang="de-DE" sz="1600" dirty="0" err="1"/>
              <a:t>price</a:t>
            </a:r>
            <a:r>
              <a:rPr lang="de-DE" sz="1600" dirty="0"/>
              <a:t>:	15,389.3 	€/tCO2</a:t>
            </a: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/>
              <a:t>→ </a:t>
            </a:r>
            <a:r>
              <a:rPr lang="de-DE" sz="1600" dirty="0" err="1"/>
              <a:t>Allowing</a:t>
            </a:r>
            <a:r>
              <a:rPr lang="de-DE" sz="1600" dirty="0"/>
              <a:t> 1 extra tonne </a:t>
            </a:r>
            <a:r>
              <a:rPr lang="de-DE" sz="1600" dirty="0" err="1"/>
              <a:t>of</a:t>
            </a:r>
            <a:r>
              <a:rPr lang="de-DE" sz="1600" dirty="0"/>
              <a:t> CO2 </a:t>
            </a:r>
            <a:r>
              <a:rPr lang="de-DE" sz="1600" dirty="0" err="1"/>
              <a:t>would</a:t>
            </a:r>
            <a:r>
              <a:rPr lang="de-DE" sz="1600" dirty="0"/>
              <a:t> </a:t>
            </a:r>
            <a:r>
              <a:rPr lang="de-DE" sz="1600" dirty="0" err="1"/>
              <a:t>reduce</a:t>
            </a:r>
            <a:r>
              <a:rPr lang="de-DE" sz="1600" dirty="0"/>
              <a:t> total </a:t>
            </a:r>
            <a:r>
              <a:rPr lang="de-DE" sz="1600" dirty="0" err="1"/>
              <a:t>system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dirty="0"/>
              <a:t>~</a:t>
            </a:r>
            <a:r>
              <a:rPr lang="de-DE" sz="1600" dirty="0"/>
              <a:t>15,000 €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/>
              <a:t>(</a:t>
            </a:r>
            <a:r>
              <a:rPr lang="de-DE" sz="1600" dirty="0" err="1"/>
              <a:t>Comparison</a:t>
            </a:r>
            <a:r>
              <a:rPr lang="de-DE" sz="1600" dirty="0"/>
              <a:t>: ETS Price: 60-80 €/tCO2)</a:t>
            </a:r>
            <a:endParaRPr sz="1600" dirty="0"/>
          </a:p>
        </p:txBody>
      </p:sp>
      <p:sp>
        <p:nvSpPr>
          <p:cNvPr id="371" name="Google Shape;371;g3c2b2f75b73_0_181"/>
          <p:cNvSpPr txBox="1"/>
          <p:nvPr/>
        </p:nvSpPr>
        <p:spPr>
          <a:xfrm>
            <a:off x="1677232" y="1873243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25.6</a:t>
            </a:r>
            <a:endParaRPr sz="1200"/>
          </a:p>
        </p:txBody>
      </p:sp>
      <p:sp>
        <p:nvSpPr>
          <p:cNvPr id="372" name="Google Shape;372;g3c2b2f75b73_0_181"/>
          <p:cNvSpPr txBox="1"/>
          <p:nvPr/>
        </p:nvSpPr>
        <p:spPr>
          <a:xfrm>
            <a:off x="4069591" y="448539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1.1</a:t>
            </a:r>
            <a:endParaRPr sz="1200"/>
          </a:p>
        </p:txBody>
      </p:sp>
      <p:sp>
        <p:nvSpPr>
          <p:cNvPr id="373" name="Google Shape;373;g3c2b2f75b73_0_181"/>
          <p:cNvSpPr txBox="1"/>
          <p:nvPr/>
        </p:nvSpPr>
        <p:spPr>
          <a:xfrm>
            <a:off x="555875" y="1113850"/>
            <a:ext cx="188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u="sng"/>
              <a:t>with CO2 Case:</a:t>
            </a:r>
            <a:endParaRPr sz="16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2b2f75b73_0_50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Sensitivity Analysis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c2b2f75b73_0_50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2b2f75b73_0_50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2ccbd064a_0_54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1191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Sensitivity Analysis - Variation of Onshore Wind Capital Cost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387" name="Google Shape;387;g3c2ccbd064a_0_54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8" name="Google Shape;388;g3c2ccbd064a_0_54" title="sens_analysis_windon_1.0-0.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875" y="992974"/>
            <a:ext cx="7207451" cy="433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c2ccbd064a_0_54" title="sens_analysis_windon_1.0-0.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4950" y="2961900"/>
            <a:ext cx="4173051" cy="251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c2ccbd064a_0_54"/>
          <p:cNvSpPr/>
          <p:nvPr/>
        </p:nvSpPr>
        <p:spPr>
          <a:xfrm>
            <a:off x="5694075" y="3956525"/>
            <a:ext cx="2690100" cy="18633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c2ccbd064a_0_54"/>
          <p:cNvSpPr/>
          <p:nvPr/>
        </p:nvSpPr>
        <p:spPr>
          <a:xfrm rot="-6337742">
            <a:off x="5026707" y="4991160"/>
            <a:ext cx="701539" cy="86996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F4CCCC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c2ccbd064a_0_54"/>
          <p:cNvSpPr/>
          <p:nvPr/>
        </p:nvSpPr>
        <p:spPr>
          <a:xfrm>
            <a:off x="8923775" y="2759100"/>
            <a:ext cx="1888800" cy="133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c2ccbd064a_0_54"/>
          <p:cNvSpPr txBox="1"/>
          <p:nvPr/>
        </p:nvSpPr>
        <p:spPr>
          <a:xfrm>
            <a:off x="7630456" y="358159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1E90FF"/>
                </a:highlight>
              </a:rPr>
              <a:t>2260 GW</a:t>
            </a:r>
            <a:endParaRPr sz="1200" b="1">
              <a:highlight>
                <a:srgbClr val="1E90FF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94" name="Google Shape;394;g3c2ccbd064a_0_54"/>
          <p:cNvSpPr txBox="1"/>
          <p:nvPr/>
        </p:nvSpPr>
        <p:spPr>
          <a:xfrm>
            <a:off x="4406966" y="38547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152</a:t>
            </a:r>
            <a:endParaRPr sz="1200"/>
          </a:p>
        </p:txBody>
      </p:sp>
      <p:sp>
        <p:nvSpPr>
          <p:cNvPr id="395" name="Google Shape;395;g3c2ccbd064a_0_54"/>
          <p:cNvSpPr txBox="1"/>
          <p:nvPr/>
        </p:nvSpPr>
        <p:spPr>
          <a:xfrm>
            <a:off x="3287906" y="438602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59</a:t>
            </a:r>
            <a:endParaRPr sz="1200"/>
          </a:p>
        </p:txBody>
      </p:sp>
      <p:sp>
        <p:nvSpPr>
          <p:cNvPr id="396" name="Google Shape;396;g3c2ccbd064a_0_54"/>
          <p:cNvSpPr txBox="1"/>
          <p:nvPr/>
        </p:nvSpPr>
        <p:spPr>
          <a:xfrm>
            <a:off x="1080616" y="36292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238</a:t>
            </a:r>
            <a:endParaRPr sz="1200"/>
          </a:p>
        </p:txBody>
      </p:sp>
      <p:sp>
        <p:nvSpPr>
          <p:cNvPr id="397" name="Google Shape;397;g3c2ccbd064a_0_54"/>
          <p:cNvSpPr txBox="1"/>
          <p:nvPr/>
        </p:nvSpPr>
        <p:spPr>
          <a:xfrm>
            <a:off x="2184254" y="36292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217</a:t>
            </a:r>
            <a:endParaRPr sz="1200"/>
          </a:p>
        </p:txBody>
      </p:sp>
      <p:sp>
        <p:nvSpPr>
          <p:cNvPr id="398" name="Google Shape;398;g3c2ccbd064a_0_54"/>
          <p:cNvSpPr txBox="1"/>
          <p:nvPr/>
        </p:nvSpPr>
        <p:spPr>
          <a:xfrm>
            <a:off x="3287904" y="344373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210</a:t>
            </a:r>
            <a:endParaRPr sz="1200"/>
          </a:p>
        </p:txBody>
      </p:sp>
      <p:sp>
        <p:nvSpPr>
          <p:cNvPr id="399" name="Google Shape;399;g3c2ccbd064a_0_54"/>
          <p:cNvSpPr txBox="1"/>
          <p:nvPr/>
        </p:nvSpPr>
        <p:spPr>
          <a:xfrm>
            <a:off x="4406966" y="270194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184</a:t>
            </a:r>
            <a:endParaRPr sz="1200"/>
          </a:p>
        </p:txBody>
      </p:sp>
      <p:sp>
        <p:nvSpPr>
          <p:cNvPr id="400" name="Google Shape;400;g3c2ccbd064a_0_54"/>
          <p:cNvSpPr txBox="1"/>
          <p:nvPr/>
        </p:nvSpPr>
        <p:spPr>
          <a:xfrm>
            <a:off x="1080616" y="225295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95</a:t>
            </a:r>
            <a:endParaRPr sz="1200"/>
          </a:p>
        </p:txBody>
      </p:sp>
      <p:sp>
        <p:nvSpPr>
          <p:cNvPr id="401" name="Google Shape;401;g3c2ccbd064a_0_54"/>
          <p:cNvSpPr txBox="1"/>
          <p:nvPr/>
        </p:nvSpPr>
        <p:spPr>
          <a:xfrm>
            <a:off x="2205191" y="225295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94</a:t>
            </a:r>
            <a:endParaRPr sz="1200"/>
          </a:p>
        </p:txBody>
      </p:sp>
      <p:sp>
        <p:nvSpPr>
          <p:cNvPr id="402" name="Google Shape;402;g3c2ccbd064a_0_54"/>
          <p:cNvSpPr txBox="1"/>
          <p:nvPr/>
        </p:nvSpPr>
        <p:spPr>
          <a:xfrm>
            <a:off x="3287891" y="211514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93</a:t>
            </a:r>
            <a:endParaRPr sz="1200"/>
          </a:p>
        </p:txBody>
      </p:sp>
      <p:sp>
        <p:nvSpPr>
          <p:cNvPr id="403" name="Google Shape;403;g3c2ccbd064a_0_54"/>
          <p:cNvSpPr txBox="1"/>
          <p:nvPr/>
        </p:nvSpPr>
        <p:spPr>
          <a:xfrm>
            <a:off x="4406966" y="154914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88</a:t>
            </a:r>
            <a:endParaRPr sz="1200"/>
          </a:p>
        </p:txBody>
      </p:sp>
      <p:sp>
        <p:nvSpPr>
          <p:cNvPr id="404" name="Google Shape;404;g3c2ccbd064a_0_54"/>
          <p:cNvSpPr txBox="1"/>
          <p:nvPr/>
        </p:nvSpPr>
        <p:spPr>
          <a:xfrm>
            <a:off x="1080616" y="177282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7.9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5" name="Google Shape;405;g3c2ccbd064a_0_54"/>
          <p:cNvSpPr txBox="1"/>
          <p:nvPr/>
        </p:nvSpPr>
        <p:spPr>
          <a:xfrm>
            <a:off x="2205191" y="1772837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5.7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6" name="Google Shape;406;g3c2ccbd064a_0_54"/>
          <p:cNvSpPr txBox="1"/>
          <p:nvPr/>
        </p:nvSpPr>
        <p:spPr>
          <a:xfrm>
            <a:off x="3287891" y="170006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5.1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7" name="Google Shape;407;g3c2ccbd064a_0_54"/>
          <p:cNvSpPr txBox="1"/>
          <p:nvPr/>
        </p:nvSpPr>
        <p:spPr>
          <a:xfrm>
            <a:off x="4406966" y="120130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5.0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8" name="Google Shape;408;g3c2ccbd064a_0_54"/>
          <p:cNvSpPr txBox="1"/>
          <p:nvPr/>
        </p:nvSpPr>
        <p:spPr>
          <a:xfrm>
            <a:off x="7642206" y="340082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D700"/>
                </a:highlight>
              </a:rPr>
              <a:t>64 GW</a:t>
            </a:r>
            <a:endParaRPr sz="1200">
              <a:highlight>
                <a:srgbClr val="FFD700"/>
              </a:highlight>
            </a:endParaRPr>
          </a:p>
        </p:txBody>
      </p:sp>
      <p:sp>
        <p:nvSpPr>
          <p:cNvPr id="409" name="Google Shape;409;g3c2ccbd064a_0_54"/>
          <p:cNvSpPr txBox="1"/>
          <p:nvPr/>
        </p:nvSpPr>
        <p:spPr>
          <a:xfrm>
            <a:off x="7642206" y="3050735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15 GW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10" name="Google Shape;410;g3c2ccbd064a_0_54"/>
          <p:cNvSpPr txBox="1"/>
          <p:nvPr/>
        </p:nvSpPr>
        <p:spPr>
          <a:xfrm>
            <a:off x="9101900" y="2509975"/>
            <a:ext cx="28005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Lower onwind capex </a:t>
            </a:r>
            <a:endParaRPr sz="1600"/>
          </a:p>
          <a:p>
            <a:pPr marL="450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→  onwind will replace solar &amp; the need for storages become less, because the cheaper onwind makes curtailment more cost efficient than storages</a:t>
            </a:r>
            <a:endParaRPr sz="1600"/>
          </a:p>
        </p:txBody>
      </p:sp>
      <p:sp>
        <p:nvSpPr>
          <p:cNvPr id="411" name="Google Shape;411;g3c2ccbd064a_0_54"/>
          <p:cNvSpPr txBox="1"/>
          <p:nvPr/>
        </p:nvSpPr>
        <p:spPr>
          <a:xfrm>
            <a:off x="7642215" y="323307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9ACD32"/>
                </a:highlight>
              </a:rPr>
              <a:t>44 GW</a:t>
            </a:r>
            <a:endParaRPr sz="1200">
              <a:highlight>
                <a:srgbClr val="9ACD32"/>
              </a:highlight>
            </a:endParaRPr>
          </a:p>
        </p:txBody>
      </p:sp>
      <p:sp>
        <p:nvSpPr>
          <p:cNvPr id="412" name="Google Shape;412;g3c2ccbd064a_0_54"/>
          <p:cNvSpPr txBox="1"/>
          <p:nvPr/>
        </p:nvSpPr>
        <p:spPr>
          <a:xfrm>
            <a:off x="1080616" y="4526065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1E90FF"/>
                </a:highlight>
              </a:rPr>
              <a:t>22</a:t>
            </a:r>
            <a:endParaRPr sz="1200">
              <a:highlight>
                <a:srgbClr val="1E90FF"/>
              </a:highlight>
            </a:endParaRPr>
          </a:p>
        </p:txBody>
      </p:sp>
      <p:sp>
        <p:nvSpPr>
          <p:cNvPr id="413" name="Google Shape;413;g3c2ccbd064a_0_54"/>
          <p:cNvSpPr txBox="1"/>
          <p:nvPr/>
        </p:nvSpPr>
        <p:spPr>
          <a:xfrm>
            <a:off x="2205191" y="4458318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44</a:t>
            </a:r>
            <a:endParaRPr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2b2f75b73_0_64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Limitations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c2b2f75b73_0_64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c2b2f75b73_0_64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337298d6a_0_0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Model Limitations 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27" name="Google Shape;427;g39337298d6a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8" name="Google Shape;428;g39337298d6a_0_0"/>
          <p:cNvSpPr txBox="1"/>
          <p:nvPr/>
        </p:nvSpPr>
        <p:spPr>
          <a:xfrm>
            <a:off x="555875" y="1127850"/>
            <a:ext cx="104403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Data availability:  load data (2013); Power plant data (2017); Population data (2024)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Population distributed load; industry consumption not considered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One bus per region &amp; EEZ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Energy import/export not considered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2025 costs forecasted from multiple currency years at fixed discount rate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One cost per technology (sub-type cost difference not considered)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Storage technologies limited to H2 &amp; BESS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3h time resolution 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Dispatchable technology ramping constraints not considered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Global fuel prices may overestimate costs for Iran (oil/gas producer)</a:t>
            </a:r>
            <a:endParaRPr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2ccbd064a_1_0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Improvement Potential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34" name="Google Shape;434;g3c2ccbd064a_1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5" name="Google Shape;435;g3c2ccbd064a_1_0"/>
          <p:cNvSpPr txBox="1"/>
          <p:nvPr/>
        </p:nvSpPr>
        <p:spPr>
          <a:xfrm>
            <a:off x="555875" y="1127850"/>
            <a:ext cx="104403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Update load data to 2025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Allocate regional load by GDP instead of population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Update existing power plant data (Global Energy Monitor)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Use grid-based network instead of one bus per region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Include imports and exports with neighboring countries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Further subdivide EEZ regions (beyond Caspian &amp; Persian Gulf)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Ensure consistent currency year for costs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Differentiate gas, oil, and nuclear technologies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Extend storage technologies beyond batteries and hydrogen tanks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Increase temporal resolution from 3-hourly to hourly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 b="1"/>
              <a:t>Add technology-specific ramping constraints and costs</a:t>
            </a:r>
            <a:endParaRPr sz="1600" b="1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Consider domestic extraction costs and export opportunity costs</a:t>
            </a:r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2b2f75b73_0_43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Thanks. Any Question?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c2b2f75b73_0_43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c2b2f75b73_0_43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2ccbd064a_1_19"/>
          <p:cNvSpPr txBox="1">
            <a:spLocks noGrp="1"/>
          </p:cNvSpPr>
          <p:nvPr>
            <p:ph type="body" idx="2"/>
          </p:nvPr>
        </p:nvSpPr>
        <p:spPr>
          <a:xfrm>
            <a:off x="550800" y="1371600"/>
            <a:ext cx="9721800" cy="15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>
                <a:solidFill>
                  <a:srgbClr val="000000"/>
                </a:solidFill>
              </a:rPr>
              <a:t>(Bundesamt, 2024)</a:t>
            </a:r>
            <a:endParaRPr sz="10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“Bevölkerung Im Jahr 2024 Um 100 000 Menschen Gewachsen.” </a:t>
            </a:r>
            <a:r>
              <a:rPr lang="de-DE" sz="1050" i="1">
                <a:solidFill>
                  <a:srgbClr val="000000"/>
                </a:solidFill>
              </a:rPr>
              <a:t>Statistisches Bundesamt</a:t>
            </a:r>
            <a:r>
              <a:rPr lang="de-DE" sz="1050">
                <a:solidFill>
                  <a:srgbClr val="000000"/>
                </a:solidFill>
              </a:rPr>
              <a:t>, 2025, www.destatis.de/DE/Presse/Pressemitteilungen/2025/01/PD25_030_124.html. Accessed 02 Feb. 2026.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>
                <a:solidFill>
                  <a:srgbClr val="000000"/>
                </a:solidFill>
              </a:rPr>
              <a:t>(Statistical Center of Iran, 2024)</a:t>
            </a:r>
            <a:endParaRPr sz="10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iranopendata.org/en/dataset/iod-06124-estimated-population-iran-province-2024/. Accessed 02 Feb. 2026.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>
                <a:solidFill>
                  <a:srgbClr val="000000"/>
                </a:solidFill>
              </a:rPr>
              <a:t>(Ember Energy, 2025)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“Iran.” </a:t>
            </a:r>
            <a:r>
              <a:rPr lang="de-DE" sz="1050" i="1">
                <a:solidFill>
                  <a:srgbClr val="000000"/>
                </a:solidFill>
              </a:rPr>
              <a:t>Ember</a:t>
            </a:r>
            <a:r>
              <a:rPr lang="de-DE" sz="1050">
                <a:solidFill>
                  <a:srgbClr val="000000"/>
                </a:solidFill>
              </a:rPr>
              <a:t>, 10 Apr. 2025, ember-energy.org/countries-and-regions/iran/. Accessed 02 Feb. 2026.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>
                <a:solidFill>
                  <a:srgbClr val="000000"/>
                </a:solidFill>
              </a:rPr>
              <a:t>(IR Gas Production, 2024) 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Kgi-Admin. “Iran Natural Gas Production: Data and Insights.” </a:t>
            </a:r>
            <a:r>
              <a:rPr lang="de-DE" sz="1050" i="1">
                <a:solidFill>
                  <a:srgbClr val="000000"/>
                </a:solidFill>
              </a:rPr>
              <a:t>Offshore Technology</a:t>
            </a:r>
            <a:r>
              <a:rPr lang="de-DE" sz="1050">
                <a:solidFill>
                  <a:srgbClr val="000000"/>
                </a:solidFill>
              </a:rPr>
              <a:t>, 11 July 2024, www.offshore-technology.com/data-insights/iran-natural-gas-production/. Accessed 02 Feb. 2026.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>
                <a:solidFill>
                  <a:srgbClr val="000000"/>
                </a:solidFill>
              </a:rPr>
              <a:t>(IR Oil Production, 2023)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LLC, Globalen. “Iran Percent of World Oil Production - Data, Chart.” </a:t>
            </a:r>
            <a:r>
              <a:rPr lang="de-DE" sz="1050" i="1">
                <a:solidFill>
                  <a:srgbClr val="000000"/>
                </a:solidFill>
              </a:rPr>
              <a:t>TheGlobalEconomy.Com</a:t>
            </a:r>
            <a:r>
              <a:rPr lang="de-DE" sz="1050">
                <a:solidFill>
                  <a:srgbClr val="000000"/>
                </a:solidFill>
              </a:rPr>
              <a:t>, www.theglobaleconomy.com/Iran/oil_production_share/. Accessed 02 Feb. 2026.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c2ccbd064a_1_19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External Dataset References</a:t>
            </a:r>
            <a:endParaRPr/>
          </a:p>
        </p:txBody>
      </p:sp>
      <p:sp>
        <p:nvSpPr>
          <p:cNvPr id="451" name="Google Shape;451;g3c2ccbd064a_1_19"/>
          <p:cNvSpPr txBox="1"/>
          <p:nvPr/>
        </p:nvSpPr>
        <p:spPr>
          <a:xfrm>
            <a:off x="550800" y="5456275"/>
            <a:ext cx="9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b="1">
                <a:solidFill>
                  <a:schemeClr val="dk1"/>
                </a:solidFill>
              </a:rPr>
              <a:t>The model can be found in git repository: </a:t>
            </a:r>
            <a:r>
              <a:rPr lang="de-DE" b="1" u="sng">
                <a:solidFill>
                  <a:srgbClr val="2F95E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1">
              <a:solidFill>
                <a:srgbClr val="2F95EC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2ccbd064a_0_0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sz="4300" b="1">
                <a:solidFill>
                  <a:schemeClr val="lt1"/>
                </a:solidFill>
              </a:rPr>
              <a:t>Archive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c2ccbd064a_0_0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lang="de-DE" sz="18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de-DE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c2ccbd064a_0_0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c2ccbd064a_0_0"/>
          <p:cNvSpPr txBox="1"/>
          <p:nvPr/>
        </p:nvSpPr>
        <p:spPr>
          <a:xfrm>
            <a:off x="550800" y="4221165"/>
            <a:ext cx="9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de-DE" b="1">
                <a:solidFill>
                  <a:schemeClr val="lt1"/>
                </a:solidFill>
              </a:rPr>
              <a:t>The model can be found in git repository: </a:t>
            </a:r>
            <a:r>
              <a:rPr lang="de-DE" b="1" u="sng">
                <a:solidFill>
                  <a:srgbClr val="2F95E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2b2f75b73_0_232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(PV - Monthly Average)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66" name="Google Shape;466;g3c2b2f75b73_0_23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67" name="Google Shape;467;g3c2b2f75b73_0_232" title="pv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6" y="1253100"/>
            <a:ext cx="10663651" cy="42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2b2f75b73_0_238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(Wind onshore - Monthly Average)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73" name="Google Shape;473;g3c2b2f75b73_0_23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74" name="Google Shape;474;g3c2b2f75b73_0_238" title="onwind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6" y="1113858"/>
            <a:ext cx="10970349" cy="43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c2b2f75b73_0_238"/>
          <p:cNvSpPr txBox="1"/>
          <p:nvPr/>
        </p:nvSpPr>
        <p:spPr>
          <a:xfrm>
            <a:off x="5381500" y="17484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476" name="Google Shape;476;g3c2b2f75b73_0_238"/>
          <p:cNvSpPr txBox="1"/>
          <p:nvPr/>
        </p:nvSpPr>
        <p:spPr>
          <a:xfrm>
            <a:off x="4357150" y="21728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477" name="Google Shape;477;g3c2b2f75b73_0_238"/>
          <p:cNvSpPr txBox="1"/>
          <p:nvPr/>
        </p:nvSpPr>
        <p:spPr>
          <a:xfrm>
            <a:off x="4357150" y="27818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2b2f75b73_0_218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(Wind offshore - Monthly Average)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83" name="Google Shape;483;g3c2b2f75b73_0_21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4" name="Google Shape;484;g3c2b2f75b73_0_218" title="offwind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30650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2b2f75b73_0_225"/>
          <p:cNvSpPr txBox="1">
            <a:spLocks noGrp="1"/>
          </p:cNvSpPr>
          <p:nvPr>
            <p:ph type="body" idx="3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RES Time Series (Wind offshore - Daily Average)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90" name="Google Shape;490;g3c2b2f75b73_0_22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g3c2b2f75b73_0_225" title="offwind_cf_daily_a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352100"/>
            <a:ext cx="11132276" cy="41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g3c306ade58d_0_20" title="Price Duration Curves_top 1.5 perc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1113850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c306ade58d_0_20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Prices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498" name="Google Shape;498;g3c306ade58d_0_2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9" name="Google Shape;499;g3c306ade58d_0_20"/>
          <p:cNvSpPr txBox="1"/>
          <p:nvPr/>
        </p:nvSpPr>
        <p:spPr>
          <a:xfrm>
            <a:off x="4567800" y="1228600"/>
            <a:ext cx="30564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Price Duration Curve (Top 1.5%)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g3c32c431a11_0_0" title="marginal price time seri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1120556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c32c431a11_0_0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Prices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506" name="Google Shape;506;g3c32c431a11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7" name="Google Shape;507;g3c32c431a11_0_0"/>
          <p:cNvSpPr txBox="1"/>
          <p:nvPr/>
        </p:nvSpPr>
        <p:spPr>
          <a:xfrm>
            <a:off x="3827850" y="1228625"/>
            <a:ext cx="45363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Average Marginal Price Time Series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8" name="Google Shape;508;g3c32c431a11_0_0"/>
          <p:cNvSpPr txBox="1"/>
          <p:nvPr/>
        </p:nvSpPr>
        <p:spPr>
          <a:xfrm>
            <a:off x="923925" y="5247125"/>
            <a:ext cx="8547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Note: </a:t>
            </a:r>
            <a:r>
              <a:rPr lang="de-DE" sz="1300">
                <a:solidFill>
                  <a:schemeClr val="dk1"/>
                </a:solidFill>
              </a:rPr>
              <a:t>Values greater than 500 €/MWh are clipped at 500/MWh for better visualization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2b2f75b73_0_193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Results - Curtailed Energy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514" name="Google Shape;514;g3c2b2f75b73_0_19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15" name="Google Shape;515;g3c2b2f75b73_0_193" title="Curtailed Ener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095370"/>
            <a:ext cx="75152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c2b2f75b73_0_193"/>
          <p:cNvSpPr txBox="1"/>
          <p:nvPr/>
        </p:nvSpPr>
        <p:spPr>
          <a:xfrm>
            <a:off x="3853025" y="46552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4D218"/>
                </a:highlight>
              </a:rPr>
              <a:t>4.6</a:t>
            </a:r>
            <a:endParaRPr sz="900">
              <a:highlight>
                <a:srgbClr val="F4D218"/>
              </a:highlight>
            </a:endParaRPr>
          </a:p>
        </p:txBody>
      </p:sp>
      <p:sp>
        <p:nvSpPr>
          <p:cNvPr id="517" name="Google Shape;517;g3c2b2f75b73_0_193"/>
          <p:cNvSpPr txBox="1"/>
          <p:nvPr/>
        </p:nvSpPr>
        <p:spPr>
          <a:xfrm>
            <a:off x="6873375" y="29340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4D218"/>
                </a:highlight>
              </a:rPr>
              <a:t>140.2</a:t>
            </a:r>
            <a:endParaRPr sz="900">
              <a:highlight>
                <a:srgbClr val="F4D218"/>
              </a:highlight>
            </a:endParaRPr>
          </a:p>
        </p:txBody>
      </p:sp>
      <p:sp>
        <p:nvSpPr>
          <p:cNvPr id="518" name="Google Shape;518;g3c2b2f75b73_0_193"/>
          <p:cNvSpPr txBox="1"/>
          <p:nvPr/>
        </p:nvSpPr>
        <p:spPr>
          <a:xfrm>
            <a:off x="6873375" y="453090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1E90FF"/>
                </a:highlight>
              </a:rPr>
              <a:t>24.5</a:t>
            </a:r>
            <a:endParaRPr sz="900">
              <a:highlight>
                <a:srgbClr val="1E90FF"/>
              </a:highlight>
            </a:endParaRPr>
          </a:p>
        </p:txBody>
      </p:sp>
      <p:sp>
        <p:nvSpPr>
          <p:cNvPr id="519" name="Google Shape;519;g3c2b2f75b73_0_193"/>
          <p:cNvSpPr txBox="1"/>
          <p:nvPr/>
        </p:nvSpPr>
        <p:spPr>
          <a:xfrm>
            <a:off x="4429950" y="481938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1E90FF"/>
                </a:highlight>
              </a:rPr>
              <a:t>0.3</a:t>
            </a:r>
            <a:endParaRPr sz="900">
              <a:highlight>
                <a:srgbClr val="1E90F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32c431a11_0_116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Land Eligibility Analysis - Wind Onshore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525" name="Google Shape;525;g3c32c431a11_0_11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6" name="Google Shape;526;g3c32c431a11_0_116"/>
          <p:cNvSpPr txBox="1"/>
          <p:nvPr/>
        </p:nvSpPr>
        <p:spPr>
          <a:xfrm>
            <a:off x="4716038" y="13156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527" name="Google Shape;527;g3c32c431a11_0_116"/>
          <p:cNvSpPr txBox="1"/>
          <p:nvPr/>
        </p:nvSpPr>
        <p:spPr>
          <a:xfrm>
            <a:off x="351807" y="4455793"/>
            <a:ext cx="267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airports (10 km distance)</a:t>
            </a:r>
            <a:endParaRPr sz="1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&amp; Roads (300 m distance)</a:t>
            </a:r>
            <a:endParaRPr sz="1100"/>
          </a:p>
        </p:txBody>
      </p:sp>
      <p:sp>
        <p:nvSpPr>
          <p:cNvPr id="528" name="Google Shape;528;g3c32c431a11_0_116"/>
          <p:cNvSpPr txBox="1"/>
          <p:nvPr/>
        </p:nvSpPr>
        <p:spPr>
          <a:xfrm>
            <a:off x="83725" y="530408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000"/>
              <a:t>EXCLUDE: codes 100: Moss &amp; Lichen, 90: Wetlands, 200: Open sea, 80: water bodies, 70: snow &amp; ice, 111, 112, 113, 114, 115, 116: closed forrest</a:t>
            </a: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000"/>
              <a:t>INCLUDE: codes 60: Bare / sparse vegetation, 20: Shrubs, 30: Herbaceous vegetation</a:t>
            </a:r>
            <a:endParaRPr sz="1000"/>
          </a:p>
        </p:txBody>
      </p:sp>
      <p:pic>
        <p:nvPicPr>
          <p:cNvPr id="529" name="Google Shape;529;g3c32c431a11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98" y="1587767"/>
            <a:ext cx="2979599" cy="280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c32c431a11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232" y="1580952"/>
            <a:ext cx="2979599" cy="280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c32c431a11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964" y="1580943"/>
            <a:ext cx="2979600" cy="280278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c32c431a11_0_116"/>
          <p:cNvSpPr txBox="1"/>
          <p:nvPr/>
        </p:nvSpPr>
        <p:spPr>
          <a:xfrm>
            <a:off x="3306232" y="4455793"/>
            <a:ext cx="267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World protected area</a:t>
            </a:r>
            <a:endParaRPr sz="1100"/>
          </a:p>
        </p:txBody>
      </p:sp>
      <p:sp>
        <p:nvSpPr>
          <p:cNvPr id="533" name="Google Shape;533;g3c32c431a11_0_116"/>
          <p:cNvSpPr txBox="1"/>
          <p:nvPr/>
        </p:nvSpPr>
        <p:spPr>
          <a:xfrm>
            <a:off x="6201507" y="4455793"/>
            <a:ext cx="275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more than 2000 m Elevation </a:t>
            </a:r>
            <a:endParaRPr sz="1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&amp; built up areas (1 km distance)</a:t>
            </a:r>
            <a:endParaRPr sz="1100"/>
          </a:p>
        </p:txBody>
      </p:sp>
      <p:pic>
        <p:nvPicPr>
          <p:cNvPr id="534" name="Google Shape;534;g3c32c431a11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3613" y="1577458"/>
            <a:ext cx="2979601" cy="280740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c32c431a11_0_116"/>
          <p:cNvSpPr txBox="1"/>
          <p:nvPr/>
        </p:nvSpPr>
        <p:spPr>
          <a:xfrm>
            <a:off x="9124157" y="4455793"/>
            <a:ext cx="275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Considering the land classification</a:t>
            </a:r>
            <a:endParaRPr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32c431a11_0_131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Land Eligibility Analysis - PV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541" name="Google Shape;541;g3c32c431a11_0_13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2" name="Google Shape;542;g3c32c431a11_0_131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pic>
        <p:nvPicPr>
          <p:cNvPr id="543" name="Google Shape;543;g3c32c431a11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4000" y="1164538"/>
            <a:ext cx="3968450" cy="373297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c32c431a11_0_131"/>
          <p:cNvSpPr txBox="1"/>
          <p:nvPr/>
        </p:nvSpPr>
        <p:spPr>
          <a:xfrm>
            <a:off x="1834788" y="48462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Exclusion of World Protected Areas</a:t>
            </a:r>
            <a:endParaRPr/>
          </a:p>
        </p:txBody>
      </p:sp>
      <p:pic>
        <p:nvPicPr>
          <p:cNvPr id="545" name="Google Shape;545;g3c32c431a11_0_131"/>
          <p:cNvPicPr preferRelativeResize="0"/>
          <p:nvPr/>
        </p:nvPicPr>
        <p:blipFill rotWithShape="1">
          <a:blip r:embed="rId4">
            <a:alphaModFix/>
          </a:blip>
          <a:srcRect l="1555" b="1293"/>
          <a:stretch/>
        </p:blipFill>
        <p:spPr>
          <a:xfrm>
            <a:off x="1371175" y="1167775"/>
            <a:ext cx="3906825" cy="367845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c32c431a11_0_131"/>
          <p:cNvSpPr txBox="1"/>
          <p:nvPr/>
        </p:nvSpPr>
        <p:spPr>
          <a:xfrm>
            <a:off x="7408425" y="48462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Considering the Land Classification</a:t>
            </a:r>
            <a:endParaRPr/>
          </a:p>
        </p:txBody>
      </p:sp>
      <p:sp>
        <p:nvSpPr>
          <p:cNvPr id="547" name="Google Shape;547;g3c32c431a11_0_131"/>
          <p:cNvSpPr txBox="1"/>
          <p:nvPr/>
        </p:nvSpPr>
        <p:spPr>
          <a:xfrm>
            <a:off x="83725" y="530408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000"/>
              <a:t>EXCLUDE: codes 100: Moss &amp; Lichen, 90: Wetlands, 200: Open sea, 80: water bodies, 70: snow &amp; ice, 111, 112, 113, 114, 115, 116: closed forrest</a:t>
            </a: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000"/>
              <a:t>INCLUDE: rooftop in Built up areas (50), and utility in Shrubs (20), Herbaceous vegetation (30), Bare / sparse vegetation (60)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32c431a11_0_93"/>
          <p:cNvSpPr txBox="1">
            <a:spLocks noGrp="1"/>
          </p:cNvSpPr>
          <p:nvPr>
            <p:ph type="body" idx="3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lang="de-DE" b="1"/>
              <a:t>Inputs - Land Eligibility Analysis - Wind Offshore</a:t>
            </a:r>
            <a:endParaRPr b="1"/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endParaRPr b="1"/>
          </a:p>
        </p:txBody>
      </p:sp>
      <p:sp>
        <p:nvSpPr>
          <p:cNvPr id="553" name="Google Shape;553;g3c32c431a11_0_9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g3c32c431a11_0_93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555" name="Google Shape;555;g3c32c431a11_0_93"/>
          <p:cNvSpPr txBox="1"/>
          <p:nvPr/>
        </p:nvSpPr>
        <p:spPr>
          <a:xfrm>
            <a:off x="1803975" y="4997350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Exclusion of World Protected Areas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&amp; distance to shore (10 km)</a:t>
            </a:r>
            <a:endParaRPr/>
          </a:p>
        </p:txBody>
      </p:sp>
      <p:sp>
        <p:nvSpPr>
          <p:cNvPr id="556" name="Google Shape;556;g3c32c431a11_0_93"/>
          <p:cNvSpPr txBox="1"/>
          <p:nvPr/>
        </p:nvSpPr>
        <p:spPr>
          <a:xfrm>
            <a:off x="7408425" y="4997350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Water depth (inclusion up to 50 m)</a:t>
            </a:r>
            <a:endParaRPr/>
          </a:p>
        </p:txBody>
      </p:sp>
      <p:pic>
        <p:nvPicPr>
          <p:cNvPr id="557" name="Google Shape;557;g3c32c431a11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004" y="1113850"/>
            <a:ext cx="3019533" cy="3802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3c32c431a11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8957" y="877326"/>
            <a:ext cx="4338535" cy="412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2912</Words>
  <Application>Microsoft Macintosh PowerPoint</Application>
  <PresentationFormat>Widescreen</PresentationFormat>
  <Paragraphs>443</Paragraphs>
  <Slides>48</Slides>
  <Notes>48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Noto Sans Symbols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Rülicke-Ahrens, Janine</dc:creator>
  <cp:lastModifiedBy>TU-Pseudonym 17281442811011116638102512442</cp:lastModifiedBy>
  <cp:revision>2</cp:revision>
  <dcterms:created xsi:type="dcterms:W3CDTF">2023-04-20T08:54:03Z</dcterms:created>
  <dcterms:modified xsi:type="dcterms:W3CDTF">2026-02-04T23:05:56Z</dcterms:modified>
</cp:coreProperties>
</file>